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org&amp;utm_campaign=parser&amp;utm_content=thumbnail"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1567" r:id="rId3"/>
    <p:sldId id="1440" r:id="rId4"/>
    <p:sldId id="1568" r:id="rId5"/>
    <p:sldId id="1569" r:id="rId6"/>
    <p:sldId id="1285" r:id="rId7"/>
    <p:sldId id="1570" r:id="rId8"/>
    <p:sldId id="1513" r:id="rId9"/>
    <p:sldId id="1571" r:id="rId10"/>
    <p:sldId id="1361" r:id="rId11"/>
    <p:sldId id="1607" r:id="rId12"/>
    <p:sldId id="1411" r:id="rId13"/>
    <p:sldId id="1595" r:id="rId14"/>
    <p:sldId id="1580" r:id="rId15"/>
    <p:sldId id="1608" r:id="rId16"/>
    <p:sldId id="1597" r:id="rId17"/>
    <p:sldId id="1609" r:id="rId18"/>
    <p:sldId id="1579" r:id="rId19"/>
    <p:sldId id="1584" r:id="rId20"/>
    <p:sldId id="1598" r:id="rId21"/>
    <p:sldId id="1585" r:id="rId22"/>
    <p:sldId id="1599" r:id="rId23"/>
    <p:sldId id="1600" r:id="rId24"/>
    <p:sldId id="1589" r:id="rId25"/>
    <p:sldId id="1601" r:id="rId26"/>
    <p:sldId id="1591" r:id="rId27"/>
    <p:sldId id="1611" r:id="rId28"/>
    <p:sldId id="1613" r:id="rId29"/>
    <p:sldId id="1451" r:id="rId30"/>
    <p:sldId id="1606" r:id="rId31"/>
    <p:sldId id="1625" r:id="rId32"/>
    <p:sldId id="1448" r:id="rId33"/>
    <p:sldId id="1556" r:id="rId34"/>
    <p:sldId id="1529" r:id="rId35"/>
    <p:sldId id="1558" r:id="rId36"/>
    <p:sldId id="1616" r:id="rId37"/>
    <p:sldId id="1626" r:id="rId38"/>
    <p:sldId id="1614" r:id="rId39"/>
    <p:sldId id="1618" r:id="rId40"/>
    <p:sldId id="1525" r:id="rId41"/>
    <p:sldId id="1604" r:id="rId42"/>
    <p:sldId id="1620" r:id="rId43"/>
    <p:sldId id="1621" r:id="rId44"/>
    <p:sldId id="1623" r:id="rId45"/>
    <p:sldId id="1622" r:id="rId46"/>
    <p:sldId id="1592" r:id="rId47"/>
    <p:sldId id="1624" r:id="rId48"/>
    <p:sldId id="1565" r:id="rId49"/>
    <p:sldId id="1566" r:id="rId50"/>
    <p:sldId id="1557" r:id="rId51"/>
    <p:sldId id="1546" r:id="rId52"/>
    <p:sldId id="1530" r:id="rId53"/>
    <p:sldId id="1610" r:id="rId54"/>
  </p:sldIdLst>
  <p:sldSz cx="12192000" cy="6858000"/>
  <p:notesSz cx="6858000" cy="9144000"/>
  <p:defaultText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6D7E"/>
    <a:srgbClr val="EAEAF1"/>
    <a:srgbClr val="F4E6D2"/>
    <a:srgbClr val="E6D6BC"/>
    <a:srgbClr val="9DA7DE"/>
    <a:srgbClr val="EEEEF3"/>
    <a:srgbClr val="CCD6E0"/>
    <a:srgbClr val="F9E5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0"/>
    <p:restoredTop sz="94658"/>
  </p:normalViewPr>
  <p:slideViewPr>
    <p:cSldViewPr snapToGrid="0" showGuides="1">
      <p:cViewPr varScale="1">
        <p:scale>
          <a:sx n="120" d="100"/>
          <a:sy n="120" d="100"/>
        </p:scale>
        <p:origin x="320"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7:27:48.234"/>
    </inkml:context>
    <inkml:brush xml:id="br0">
      <inkml:brushProperty name="width" value="0.2" units="cm"/>
      <inkml:brushProperty name="height" value="0.2" units="cm"/>
      <inkml:brushProperty name="color" value="#E71224"/>
    </inkml:brush>
  </inkml:definitions>
  <inkml:trace contextRef="#ctx0" brushRef="#br0">0 872 24575,'90'-7'0,"0"0"0,0 1 0,0-1 0,-2-6 0,0-2 0,2-3 0,8 0-469,-16 5 1,7-2 0,4 0 0,2 0 0,-1-1 0,-1-1 0,-5 0-79,0-3 1,-3 0 0,-2-2 0,0 1 0,0-1 0,1 1-1,2 1 1,2-1 0,1 1 0,-2 0 0,-3 0 0,-3 1 268,15-4 0,-5 1 0,-2 0 0,-1 0 88,-4 2 0,-1 0 0,-1 0 0,-2 2 190,14-3 0,-2 1 0,-1 1 69,-1-1 0,0 1 1,-3 1-70,-8 2 0,-3 1 0,-3 1-237,20-4 0,-6 1 237,-15 3 0,-7 2 0,30-5 3276,-27 9-2592,-23 4 2592,-15 4-3196,-13-3 0,-11 2 0,-4-2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7:27:49.283"/>
    </inkml:context>
    <inkml:brush xml:id="br0">
      <inkml:brushProperty name="width" value="0.2" units="cm"/>
      <inkml:brushProperty name="height" value="0.2" units="cm"/>
      <inkml:brushProperty name="color" value="#E71224"/>
    </inkml:brush>
  </inkml:definitions>
  <inkml:trace contextRef="#ctx0" brushRef="#br0">0 1 24575,'42'4'0,"25"14"0,-9-1 0,11 4 0,6 2-820,2 1 1,6 2 0,4 1 0,1 0 163,-9-2 1,2 0-1,2 0 1,1 0 0,2 1 108,-4-2 1,2 0 0,1 1 0,1-1 0,1 1 0,0 0 318,3 2 1,1 0-1,0-1 1,1 2 0,-1-1-1,1 0 228,1 1 0,-1 0 0,1-1 0,0 1 0,-1 1 0,1-1 0,-1 0 0,1 2 0,0-1 0,-2 0 0,-1 0 0,-3-1-104,1 1 0,0 1 0,-4-1 0,-3-2 0,-4 0 104,18 6 0,-6-2 0,-6-1 0,14 7 0,-9-2-202,-22-10 0,-4-2 202,-11-3 0,-3-1 3276,29 10-2833,-25-12 2609,-15-5-3052,-14-7 3276,-5-1-2994,-11-3 0,-3-1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7:29:36.807"/>
    </inkml:context>
    <inkml:brush xml:id="br0">
      <inkml:brushProperty name="width" value="0.2" units="cm"/>
      <inkml:brushProperty name="height" value="0.2" units="cm"/>
      <inkml:brushProperty name="color" value="#E71224"/>
    </inkml:brush>
  </inkml:definitions>
  <inkml:trace contextRef="#ctx0" brushRef="#br0">0 388 24575,'64'0'0,"-9"0"0,14 0-773,13-1 0,2 0 773,-2-1 0,12 0 0,-2-1 0,-22-5 0,21 1 378,-18-2-378,1-1 285,-6 2-285,-1-1 0,0 0 0,0-2 0,0-1 0,0-1 785,3 0-785,5-1 0,12 0-493,7-1 493,2 0 0,-6 3 0,-6 0 0,0 1 0,1 2 0,6-2 0,-11 4 0,1-1 0,-4 1 0,0 0 0,10 0 0,-7 0 0,1-2 0,-5 1 0,7-2 0,6 2 0,-36 5 0,3 1 0,11-1 0,3-1 0,4 0 0,3 0 0,8-2 0,-1-2 0,-15 1 0,-3-1 295,-11 2 1,-3 0-296,40-3 0,-23 6 0,-2 0 0,-13 2 0,-19 1 0,3 0 0,-2 0 0,2 0 0,0-1 0,3 1 0,0 0 0,-2 0 0,-3 0 0,-5 0 0,-5 0 0,-4 0 0,-3 0 0,-2 0 0,-2 0 0,-3 1 0,1 1 0,-1 2 0,3 1 0,1-1 0,-1 2 0,1 0 0,-1 0 0,-1-1 0,2 0 0,0 0 0,2 0 0,1 2 0,2 1 0,2 2 0,1 1 0,8 2 0,8 0 0,4 1 0,3-1 0,-8-1 0,-11-1 0,-8-2 0,-7 0 0,-3-4 0,-1 2 0,-1-2 0,-1 1 0,-1-1 0,-1 0 0,-2-2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7:29:41.196"/>
    </inkml:context>
    <inkml:brush xml:id="br0">
      <inkml:brushProperty name="width" value="0.2" units="cm"/>
      <inkml:brushProperty name="height" value="0.2" units="cm"/>
      <inkml:brushProperty name="color" value="#E71224"/>
    </inkml:brush>
  </inkml:definitions>
  <inkml:trace contextRef="#ctx0" brushRef="#br0">0 108 24575,'38'0'0,"7"0"0,5 0 0,5 0-680,-1 0 0,1 0 680,13 0 0,2 0 0,0 0 0,-2 0 0,-16 0 0,-1 0 0,17 0 0,0 0 0,-8 0 0,-2 0 0,-1 0 0,0 0 0,-5 0 0,-1 0 0,39 0 0,7 0 0,1 0 0,-3 0 0,-45 1 0,1 1 0,48 6 0,-43-2 0,2 0 63,17 2 0,5-1-63,-15-2 0,3-1 0,1 0 0,-1-1 0,1-1 0,0 1-546,0-2 0,0 0 0,-2 0 546,21-1 0,-3 0 0,-10 0 0,-1 0 0,7 0 0,1 0 0,-1 0 0,0 0 0,1 0 0,0 0 0,-1 0 0,-1 0 0,0 0 0,0 0 0,0 0 0,-1 0-480,-6 0 1,-1 0 479,2 0 0,-1 0 0,-2 0 0,0 0 0,-3 0 0,0 0 0,3 0 0,0 0 0,-6 0 0,0 0 0,-1 0 0,1 0 0,-1 0 0,1 0 0,0 0 0,1 0 0,3 0 0,1 0 0,3 0 0,1 0 0,2 0 0,1 0 0,0 0 0,-2 0 0,-5 0 0,-2 0 0,-4 0 0,-2 0 0,-4 0 0,-3 0 0,-3 0 0,-1 0 291,0 0 0,-1 0-291,40 0 0,-9 0 0,-1 0 0,2 3 0,4 1 213,3 2-213,4 1 0,-5-3 0,1 3 960,-37-5 1,1 0-961,6 0 0,1 0 557,9 1 1,0-1-558,4 0 0,0 0 0,-2 0 0,-3 0 0,-9-1 0,-3 1 0,40-2 0,-19 0 0,-16 0 0,5 0 0,2 0 0,2 0 0,2 0 0,2 0 0,-2 0 0,4 0 0,2 0 0,0 0 0,0 0 0,-5 0 0,-8 0 0,-5 0 0,-7 0 0,-7 0 0,-3 0 0,-5 0 0,-2 0 0,2 0 0,2 0 0,3 0 0,7 0 0,5 0 0,2 0 0,0 0 0,-3 0 0,-6-2 0,-2-1 0,-2-3 0,-3 0 0,-5 0 0,-3-2 0,0-1 0,3-4 0,8-7 0,19-6 0,15 3 0,16 6-347,-41 12 0,1 3 347,0 0 0,-1 1 0,-1-1 0,0 0 0,45-2 0,-1 0 0,-40 3 0,4 1 0,23 0 0,7-1 0,-18 1 0,4 0 0,2 0 0,8 0 0,3 0 0,0 0 0,2-1 0,0 0 0,0-1 0,-5 1 0,-1-1 0,-1 0 0,-1-1 0,-1 1 0,-3-1-745,24-1 1,-6 1 744,-15 1 0,-5 0 0,-14 0 0,-4 1 0,34 1 0,5-2 0,-45 0 0,0 1-284,1-1 0,0 0 284,2 1 0,0-1 0,-1 0 0,1 1 0,-3-1 0,1 0 0,1 0 0,1 0 0,-1 0 0,1 0 0,1 1 0,0 1 0,-4-1 0,-1 1 0,-2 0 0,0 0 0,50-1 0,-3 1 0,-43 0 0,0 0 0,-2 0 0,-1 0 0,5 0 0,0 0 0,0 0 0,0-1 0,-2 1 0,0 0 0,1 0 0,0 0 0,39 0 0,-5 0 0,-6 0 0,-4 0 0,1 0 584,-5 0-584,-6 0 0,6 0 0,6 0 0,8 0 902,9 0-902,-47 0 0,1 0-42,19 2 0,4 0 42,16 3 0,3 1 0,-25-1 0,0 0 0,0 1 0,-1 1 0,0 0 0,-4 1 0,12 2 0,-7 0 0,24 3 614,-43-5-614,-24-6 40,-12-2-40,3 0 605,1 0-605,2 0 90,0 0-90,1 0 0,-4 0 0,-2-1 0,4-1 0,20-1 0,21 1 0,25 1 0,9 1 0,-44 0 0,2 0 0,12 0 0,5 0 0,16 0 0,6 0 0,-19 1 0,2 0 0,2 0-756,6 1 1,1-1-1,-1 1 756,-9-1 0,-2 1 0,-3-1 0,17 1 0,-6 0-105,-17-2 1,-5 1 104,30 2 0,2 0 0,-8 0 0,-9-2 0,-5 0 0,-1 0 0,0-1 0,2 0 2240,-2 0-2240,-1 0 236,3 0-236,-3 0 0,-4 0 0,-6 0 0,-8 0 0,-4 0 0,-4 0 0,-4 0 0,-3 0 0,-1 0 0,-2 0 0,2 0 0,-2 0 0,-1 0 0,-1 0 0,-5 0 0,-2 0 0,-5 0 0,-2 0 0,-1 2 0,-1 0 0,-2 1 0,0-1 0,-1-2 0,0 0 0,1 0 0,0 0 0,-5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31A68-3BF7-1C4A-BD99-B47A8EF33F17}" type="datetimeFigureOut">
              <a:rPr lang="en-ES" smtClean="0"/>
              <a:t>27/9/26</a:t>
            </a:fld>
            <a:endParaRPr lang="en-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52FAA-0DBC-C548-937B-52BCF8326A45}" type="slidenum">
              <a:rPr lang="en-ES" smtClean="0"/>
              <a:t>‹#›</a:t>
            </a:fld>
            <a:endParaRPr lang="en-ES"/>
          </a:p>
        </p:txBody>
      </p:sp>
    </p:spTree>
    <p:extLst>
      <p:ext uri="{BB962C8B-B14F-4D97-AF65-F5344CB8AC3E}">
        <p14:creationId xmlns:p14="http://schemas.microsoft.com/office/powerpoint/2010/main" val="230769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fld id="{9D352FAA-0DBC-C548-937B-52BCF8326A45}" type="slidenum">
              <a:rPr lang="en-ES" smtClean="0"/>
              <a:t>1</a:t>
            </a:fld>
            <a:endParaRPr lang="en-ES"/>
          </a:p>
        </p:txBody>
      </p:sp>
    </p:spTree>
    <p:extLst>
      <p:ext uri="{BB962C8B-B14F-4D97-AF65-F5344CB8AC3E}">
        <p14:creationId xmlns:p14="http://schemas.microsoft.com/office/powerpoint/2010/main" val="3141341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dirty="0"/>
          </a:p>
        </p:txBody>
      </p:sp>
      <p:sp>
        <p:nvSpPr>
          <p:cNvPr id="4" name="Slide Number Placeholder 3"/>
          <p:cNvSpPr>
            <a:spLocks noGrp="1"/>
          </p:cNvSpPr>
          <p:nvPr>
            <p:ph type="sldNum" sz="quarter" idx="5"/>
          </p:nvPr>
        </p:nvSpPr>
        <p:spPr/>
        <p:txBody>
          <a:bodyPr/>
          <a:lstStyle/>
          <a:p>
            <a:fld id="{9D352FAA-0DBC-C548-937B-52BCF8326A45}" type="slidenum">
              <a:rPr lang="en-ES" smtClean="0"/>
              <a:t>3</a:t>
            </a:fld>
            <a:endParaRPr lang="en-ES"/>
          </a:p>
        </p:txBody>
      </p:sp>
    </p:spTree>
    <p:extLst>
      <p:ext uri="{BB962C8B-B14F-4D97-AF65-F5344CB8AC3E}">
        <p14:creationId xmlns:p14="http://schemas.microsoft.com/office/powerpoint/2010/main" val="375156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653BD-E1DB-DCCB-3AD7-36DFEF0D4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16B21-B9FA-36E9-76D3-D0B4832CB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4080B-1844-D482-A331-629E928B7787}"/>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6CCBB059-217F-13F6-5E54-D54947880B32}"/>
              </a:ext>
            </a:extLst>
          </p:cNvPr>
          <p:cNvSpPr>
            <a:spLocks noGrp="1"/>
          </p:cNvSpPr>
          <p:nvPr>
            <p:ph type="sldNum" sz="quarter" idx="5"/>
          </p:nvPr>
        </p:nvSpPr>
        <p:spPr/>
        <p:txBody>
          <a:bodyPr/>
          <a:lstStyle/>
          <a:p>
            <a:fld id="{9D352FAA-0DBC-C548-937B-52BCF8326A45}" type="slidenum">
              <a:rPr lang="en-ES" smtClean="0"/>
              <a:t>4</a:t>
            </a:fld>
            <a:endParaRPr lang="en-ES"/>
          </a:p>
        </p:txBody>
      </p:sp>
    </p:spTree>
    <p:extLst>
      <p:ext uri="{BB962C8B-B14F-4D97-AF65-F5344CB8AC3E}">
        <p14:creationId xmlns:p14="http://schemas.microsoft.com/office/powerpoint/2010/main" val="425544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69E80-DED9-CCEB-BE56-6CEE40D99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43EFA-5443-302F-54F0-EC5466E9C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3B21C-10EE-7AFC-CC33-006A70F86256}"/>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44785BFA-A1FF-FAE2-48F5-8876CD7844A9}"/>
              </a:ext>
            </a:extLst>
          </p:cNvPr>
          <p:cNvSpPr>
            <a:spLocks noGrp="1"/>
          </p:cNvSpPr>
          <p:nvPr>
            <p:ph type="sldNum" sz="quarter" idx="5"/>
          </p:nvPr>
        </p:nvSpPr>
        <p:spPr/>
        <p:txBody>
          <a:bodyPr/>
          <a:lstStyle/>
          <a:p>
            <a:fld id="{9D352FAA-0DBC-C548-937B-52BCF8326A45}" type="slidenum">
              <a:rPr lang="en-ES" smtClean="0"/>
              <a:t>5</a:t>
            </a:fld>
            <a:endParaRPr lang="en-ES"/>
          </a:p>
        </p:txBody>
      </p:sp>
    </p:spTree>
    <p:extLst>
      <p:ext uri="{BB962C8B-B14F-4D97-AF65-F5344CB8AC3E}">
        <p14:creationId xmlns:p14="http://schemas.microsoft.com/office/powerpoint/2010/main" val="2956896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C391-953F-61F2-137A-2642E721BB7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ES"/>
          </a:p>
        </p:txBody>
      </p:sp>
      <p:sp>
        <p:nvSpPr>
          <p:cNvPr id="3" name="Subtitle 2">
            <a:extLst>
              <a:ext uri="{FF2B5EF4-FFF2-40B4-BE49-F238E27FC236}">
                <a16:creationId xmlns:a16="http://schemas.microsoft.com/office/drawing/2014/main" id="{4D1DB43D-6F24-BBEF-A9F0-185B6C5715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ES"/>
          </a:p>
        </p:txBody>
      </p:sp>
      <p:sp>
        <p:nvSpPr>
          <p:cNvPr id="4" name="Date Placeholder 3">
            <a:extLst>
              <a:ext uri="{FF2B5EF4-FFF2-40B4-BE49-F238E27FC236}">
                <a16:creationId xmlns:a16="http://schemas.microsoft.com/office/drawing/2014/main" id="{D8DC8265-5347-D3DA-2DDD-0B201B3202C0}"/>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5" name="Footer Placeholder 4">
            <a:extLst>
              <a:ext uri="{FF2B5EF4-FFF2-40B4-BE49-F238E27FC236}">
                <a16:creationId xmlns:a16="http://schemas.microsoft.com/office/drawing/2014/main" id="{3C46A71C-0267-3BFC-6181-BE901E690940}"/>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1ED74798-F9E8-6186-8E75-0B3D5383A333}"/>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1003381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23F24-17BF-A780-243A-1D10FCC4A0FD}"/>
              </a:ext>
            </a:extLst>
          </p:cNvPr>
          <p:cNvSpPr>
            <a:spLocks noGrp="1"/>
          </p:cNvSpPr>
          <p:nvPr>
            <p:ph type="title"/>
          </p:nvPr>
        </p:nvSpPr>
        <p:spPr/>
        <p:txBody>
          <a:bodyPr/>
          <a:lstStyle/>
          <a:p>
            <a:r>
              <a:rPr lang="en-GB"/>
              <a:t>Click to edit Master title style</a:t>
            </a:r>
            <a:endParaRPr lang="en-ES"/>
          </a:p>
        </p:txBody>
      </p:sp>
      <p:sp>
        <p:nvSpPr>
          <p:cNvPr id="3" name="Content Placeholder 2">
            <a:extLst>
              <a:ext uri="{FF2B5EF4-FFF2-40B4-BE49-F238E27FC236}">
                <a16:creationId xmlns:a16="http://schemas.microsoft.com/office/drawing/2014/main" id="{2D289498-BCB2-2B88-1514-7EB3F14D388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1207D072-C35B-7696-5064-F92FC65C7428}"/>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5" name="Footer Placeholder 4">
            <a:extLst>
              <a:ext uri="{FF2B5EF4-FFF2-40B4-BE49-F238E27FC236}">
                <a16:creationId xmlns:a16="http://schemas.microsoft.com/office/drawing/2014/main" id="{9261397A-8717-F155-DDE7-2B762A09BE4B}"/>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F6F01456-4CBE-874A-91D8-3C1EFFD9E8C3}"/>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66042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2BE2-2988-69BA-6C05-11055E352F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ES"/>
          </a:p>
        </p:txBody>
      </p:sp>
      <p:sp>
        <p:nvSpPr>
          <p:cNvPr id="3" name="Text Placeholder 2">
            <a:extLst>
              <a:ext uri="{FF2B5EF4-FFF2-40B4-BE49-F238E27FC236}">
                <a16:creationId xmlns:a16="http://schemas.microsoft.com/office/drawing/2014/main" id="{2C7E81FA-FE65-B64E-ED1F-EB3F22BBDC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4C78299-6478-D645-FEBD-208CBB7A6AEE}"/>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5" name="Footer Placeholder 4">
            <a:extLst>
              <a:ext uri="{FF2B5EF4-FFF2-40B4-BE49-F238E27FC236}">
                <a16:creationId xmlns:a16="http://schemas.microsoft.com/office/drawing/2014/main" id="{0B69E115-2E4F-E0E6-57CA-4817214B9955}"/>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56449F85-2C4E-B692-2C7A-7015D2FE0285}"/>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786437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053CD-3FE1-20E5-3535-D0918F70AC2B}"/>
              </a:ext>
            </a:extLst>
          </p:cNvPr>
          <p:cNvSpPr>
            <a:spLocks noGrp="1"/>
          </p:cNvSpPr>
          <p:nvPr>
            <p:ph type="title"/>
          </p:nvPr>
        </p:nvSpPr>
        <p:spPr/>
        <p:txBody>
          <a:bodyPr/>
          <a:lstStyle/>
          <a:p>
            <a:r>
              <a:rPr lang="en-GB"/>
              <a:t>Click to edit Master title style</a:t>
            </a:r>
            <a:endParaRPr lang="en-ES"/>
          </a:p>
        </p:txBody>
      </p:sp>
      <p:sp>
        <p:nvSpPr>
          <p:cNvPr id="3" name="Content Placeholder 2">
            <a:extLst>
              <a:ext uri="{FF2B5EF4-FFF2-40B4-BE49-F238E27FC236}">
                <a16:creationId xmlns:a16="http://schemas.microsoft.com/office/drawing/2014/main" id="{ABFFDBCF-1C7A-221A-AB1A-A740B967CA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Content Placeholder 3">
            <a:extLst>
              <a:ext uri="{FF2B5EF4-FFF2-40B4-BE49-F238E27FC236}">
                <a16:creationId xmlns:a16="http://schemas.microsoft.com/office/drawing/2014/main" id="{017A1392-956D-0019-1971-D184756B8B2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5" name="Date Placeholder 4">
            <a:extLst>
              <a:ext uri="{FF2B5EF4-FFF2-40B4-BE49-F238E27FC236}">
                <a16:creationId xmlns:a16="http://schemas.microsoft.com/office/drawing/2014/main" id="{65155EA2-71AC-A3C9-9DFF-523603108436}"/>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6" name="Footer Placeholder 5">
            <a:extLst>
              <a:ext uri="{FF2B5EF4-FFF2-40B4-BE49-F238E27FC236}">
                <a16:creationId xmlns:a16="http://schemas.microsoft.com/office/drawing/2014/main" id="{B1069593-8D89-5494-A08A-885B1DFAB35A}"/>
              </a:ext>
            </a:extLst>
          </p:cNvPr>
          <p:cNvSpPr>
            <a:spLocks noGrp="1"/>
          </p:cNvSpPr>
          <p:nvPr>
            <p:ph type="ftr" sz="quarter" idx="11"/>
          </p:nvPr>
        </p:nvSpPr>
        <p:spPr/>
        <p:txBody>
          <a:bodyPr/>
          <a:lstStyle/>
          <a:p>
            <a:endParaRPr lang="en-ES"/>
          </a:p>
        </p:txBody>
      </p:sp>
      <p:sp>
        <p:nvSpPr>
          <p:cNvPr id="7" name="Slide Number Placeholder 6">
            <a:extLst>
              <a:ext uri="{FF2B5EF4-FFF2-40B4-BE49-F238E27FC236}">
                <a16:creationId xmlns:a16="http://schemas.microsoft.com/office/drawing/2014/main" id="{3868151B-DEE5-7F14-9BBF-F79EED74ACC6}"/>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835615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FD7D-15B1-CF55-96D7-5653F47FC8A5}"/>
              </a:ext>
            </a:extLst>
          </p:cNvPr>
          <p:cNvSpPr>
            <a:spLocks noGrp="1"/>
          </p:cNvSpPr>
          <p:nvPr>
            <p:ph type="title"/>
          </p:nvPr>
        </p:nvSpPr>
        <p:spPr>
          <a:xfrm>
            <a:off x="839788" y="365125"/>
            <a:ext cx="10515600" cy="1325563"/>
          </a:xfrm>
        </p:spPr>
        <p:txBody>
          <a:bodyPr/>
          <a:lstStyle/>
          <a:p>
            <a:r>
              <a:rPr lang="en-GB"/>
              <a:t>Click to edit Master title style</a:t>
            </a:r>
            <a:endParaRPr lang="en-ES"/>
          </a:p>
        </p:txBody>
      </p:sp>
      <p:sp>
        <p:nvSpPr>
          <p:cNvPr id="3" name="Text Placeholder 2">
            <a:extLst>
              <a:ext uri="{FF2B5EF4-FFF2-40B4-BE49-F238E27FC236}">
                <a16:creationId xmlns:a16="http://schemas.microsoft.com/office/drawing/2014/main" id="{CC58A625-2BF2-036E-36B2-514236FAF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3E68D67-94A8-64A0-684B-FB34ADC5BB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5" name="Text Placeholder 4">
            <a:extLst>
              <a:ext uri="{FF2B5EF4-FFF2-40B4-BE49-F238E27FC236}">
                <a16:creationId xmlns:a16="http://schemas.microsoft.com/office/drawing/2014/main" id="{E6B75267-176D-77E8-447B-80459CDB1E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10B7BA9-420D-3B10-0DDE-1A701673137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7" name="Date Placeholder 6">
            <a:extLst>
              <a:ext uri="{FF2B5EF4-FFF2-40B4-BE49-F238E27FC236}">
                <a16:creationId xmlns:a16="http://schemas.microsoft.com/office/drawing/2014/main" id="{A354E191-7E43-8187-FFE6-1F433DF0B665}"/>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8" name="Footer Placeholder 7">
            <a:extLst>
              <a:ext uri="{FF2B5EF4-FFF2-40B4-BE49-F238E27FC236}">
                <a16:creationId xmlns:a16="http://schemas.microsoft.com/office/drawing/2014/main" id="{DDC934B8-F887-6321-F52D-6FA7FE49E857}"/>
              </a:ext>
            </a:extLst>
          </p:cNvPr>
          <p:cNvSpPr>
            <a:spLocks noGrp="1"/>
          </p:cNvSpPr>
          <p:nvPr>
            <p:ph type="ftr" sz="quarter" idx="11"/>
          </p:nvPr>
        </p:nvSpPr>
        <p:spPr/>
        <p:txBody>
          <a:bodyPr/>
          <a:lstStyle/>
          <a:p>
            <a:endParaRPr lang="en-ES"/>
          </a:p>
        </p:txBody>
      </p:sp>
      <p:sp>
        <p:nvSpPr>
          <p:cNvPr id="9" name="Slide Number Placeholder 8">
            <a:extLst>
              <a:ext uri="{FF2B5EF4-FFF2-40B4-BE49-F238E27FC236}">
                <a16:creationId xmlns:a16="http://schemas.microsoft.com/office/drawing/2014/main" id="{F6DC31D0-367E-8BB3-F1C7-A71A15FD6B9A}"/>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1347517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39EFD-E3BE-7997-B2B5-1E1D54D2B87C}"/>
              </a:ext>
            </a:extLst>
          </p:cNvPr>
          <p:cNvSpPr>
            <a:spLocks noGrp="1"/>
          </p:cNvSpPr>
          <p:nvPr>
            <p:ph type="title"/>
          </p:nvPr>
        </p:nvSpPr>
        <p:spPr/>
        <p:txBody>
          <a:bodyPr/>
          <a:lstStyle/>
          <a:p>
            <a:r>
              <a:rPr lang="en-GB"/>
              <a:t>Click to edit Master title style</a:t>
            </a:r>
            <a:endParaRPr lang="en-ES"/>
          </a:p>
        </p:txBody>
      </p:sp>
      <p:sp>
        <p:nvSpPr>
          <p:cNvPr id="3" name="Date Placeholder 2">
            <a:extLst>
              <a:ext uri="{FF2B5EF4-FFF2-40B4-BE49-F238E27FC236}">
                <a16:creationId xmlns:a16="http://schemas.microsoft.com/office/drawing/2014/main" id="{E0788DC5-C82A-7619-E254-EC900BE0FF7A}"/>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4" name="Footer Placeholder 3">
            <a:extLst>
              <a:ext uri="{FF2B5EF4-FFF2-40B4-BE49-F238E27FC236}">
                <a16:creationId xmlns:a16="http://schemas.microsoft.com/office/drawing/2014/main" id="{ADAF7C5B-1307-F589-8C0A-01FDA7FC33BE}"/>
              </a:ext>
            </a:extLst>
          </p:cNvPr>
          <p:cNvSpPr>
            <a:spLocks noGrp="1"/>
          </p:cNvSpPr>
          <p:nvPr>
            <p:ph type="ftr" sz="quarter" idx="11"/>
          </p:nvPr>
        </p:nvSpPr>
        <p:spPr/>
        <p:txBody>
          <a:bodyPr/>
          <a:lstStyle/>
          <a:p>
            <a:endParaRPr lang="en-ES"/>
          </a:p>
        </p:txBody>
      </p:sp>
      <p:sp>
        <p:nvSpPr>
          <p:cNvPr id="5" name="Slide Number Placeholder 4">
            <a:extLst>
              <a:ext uri="{FF2B5EF4-FFF2-40B4-BE49-F238E27FC236}">
                <a16:creationId xmlns:a16="http://schemas.microsoft.com/office/drawing/2014/main" id="{7388FE70-073A-C845-B92B-58DDCA51D7C0}"/>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193154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940A1-0B46-2751-B151-5A878D517A4B}"/>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3" name="Footer Placeholder 2">
            <a:extLst>
              <a:ext uri="{FF2B5EF4-FFF2-40B4-BE49-F238E27FC236}">
                <a16:creationId xmlns:a16="http://schemas.microsoft.com/office/drawing/2014/main" id="{243DE5ED-D6C9-6A41-6E6E-A3E80E2DA353}"/>
              </a:ext>
            </a:extLst>
          </p:cNvPr>
          <p:cNvSpPr>
            <a:spLocks noGrp="1"/>
          </p:cNvSpPr>
          <p:nvPr>
            <p:ph type="ftr" sz="quarter" idx="11"/>
          </p:nvPr>
        </p:nvSpPr>
        <p:spPr/>
        <p:txBody>
          <a:bodyPr/>
          <a:lstStyle/>
          <a:p>
            <a:endParaRPr lang="en-ES"/>
          </a:p>
        </p:txBody>
      </p:sp>
      <p:sp>
        <p:nvSpPr>
          <p:cNvPr id="4" name="Slide Number Placeholder 3">
            <a:extLst>
              <a:ext uri="{FF2B5EF4-FFF2-40B4-BE49-F238E27FC236}">
                <a16:creationId xmlns:a16="http://schemas.microsoft.com/office/drawing/2014/main" id="{CD7EFBE6-3CFB-1FF2-DB8F-C8862816C39E}"/>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399942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AC35A-80DC-0ED3-063E-F41829948B2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ES"/>
          </a:p>
        </p:txBody>
      </p:sp>
      <p:sp>
        <p:nvSpPr>
          <p:cNvPr id="3" name="Content Placeholder 2">
            <a:extLst>
              <a:ext uri="{FF2B5EF4-FFF2-40B4-BE49-F238E27FC236}">
                <a16:creationId xmlns:a16="http://schemas.microsoft.com/office/drawing/2014/main" id="{116948FB-EFF5-97B1-274E-89A273A33B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Text Placeholder 3">
            <a:extLst>
              <a:ext uri="{FF2B5EF4-FFF2-40B4-BE49-F238E27FC236}">
                <a16:creationId xmlns:a16="http://schemas.microsoft.com/office/drawing/2014/main" id="{98DDB077-0CCF-FD1B-77FF-6EED8D29C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203E3BC-BC95-1734-0B7F-8C69B8858D9A}"/>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6" name="Footer Placeholder 5">
            <a:extLst>
              <a:ext uri="{FF2B5EF4-FFF2-40B4-BE49-F238E27FC236}">
                <a16:creationId xmlns:a16="http://schemas.microsoft.com/office/drawing/2014/main" id="{C07E4038-27BA-E708-E979-CB0172515B79}"/>
              </a:ext>
            </a:extLst>
          </p:cNvPr>
          <p:cNvSpPr>
            <a:spLocks noGrp="1"/>
          </p:cNvSpPr>
          <p:nvPr>
            <p:ph type="ftr" sz="quarter" idx="11"/>
          </p:nvPr>
        </p:nvSpPr>
        <p:spPr/>
        <p:txBody>
          <a:bodyPr/>
          <a:lstStyle/>
          <a:p>
            <a:endParaRPr lang="en-ES"/>
          </a:p>
        </p:txBody>
      </p:sp>
      <p:sp>
        <p:nvSpPr>
          <p:cNvPr id="7" name="Slide Number Placeholder 6">
            <a:extLst>
              <a:ext uri="{FF2B5EF4-FFF2-40B4-BE49-F238E27FC236}">
                <a16:creationId xmlns:a16="http://schemas.microsoft.com/office/drawing/2014/main" id="{2B7DF0E9-AF18-83D1-0C06-E2E8C3903128}"/>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422853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FD8D8-4BD9-7976-6391-05F12C600DA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ES"/>
          </a:p>
        </p:txBody>
      </p:sp>
      <p:sp>
        <p:nvSpPr>
          <p:cNvPr id="3" name="Picture Placeholder 2">
            <a:extLst>
              <a:ext uri="{FF2B5EF4-FFF2-40B4-BE49-F238E27FC236}">
                <a16:creationId xmlns:a16="http://schemas.microsoft.com/office/drawing/2014/main" id="{F7968095-992D-4E08-6781-C91206E44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S"/>
          </a:p>
        </p:txBody>
      </p:sp>
      <p:sp>
        <p:nvSpPr>
          <p:cNvPr id="4" name="Text Placeholder 3">
            <a:extLst>
              <a:ext uri="{FF2B5EF4-FFF2-40B4-BE49-F238E27FC236}">
                <a16:creationId xmlns:a16="http://schemas.microsoft.com/office/drawing/2014/main" id="{4C2CA8A4-F36A-4242-8E72-03D4FD549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99FC04B-A8AB-E1EB-13CB-1FBC61F15401}"/>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6" name="Footer Placeholder 5">
            <a:extLst>
              <a:ext uri="{FF2B5EF4-FFF2-40B4-BE49-F238E27FC236}">
                <a16:creationId xmlns:a16="http://schemas.microsoft.com/office/drawing/2014/main" id="{4746EDA1-A53B-5F24-B595-9A3FABC6D82C}"/>
              </a:ext>
            </a:extLst>
          </p:cNvPr>
          <p:cNvSpPr>
            <a:spLocks noGrp="1"/>
          </p:cNvSpPr>
          <p:nvPr>
            <p:ph type="ftr" sz="quarter" idx="11"/>
          </p:nvPr>
        </p:nvSpPr>
        <p:spPr/>
        <p:txBody>
          <a:bodyPr/>
          <a:lstStyle/>
          <a:p>
            <a:endParaRPr lang="en-ES"/>
          </a:p>
        </p:txBody>
      </p:sp>
      <p:sp>
        <p:nvSpPr>
          <p:cNvPr id="7" name="Slide Number Placeholder 6">
            <a:extLst>
              <a:ext uri="{FF2B5EF4-FFF2-40B4-BE49-F238E27FC236}">
                <a16:creationId xmlns:a16="http://schemas.microsoft.com/office/drawing/2014/main" id="{6BDDC6BD-6109-19C9-8A45-5F8E8A4DD175}"/>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69738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B24D3-0C7F-5E21-A3E8-55F132E74D5E}"/>
              </a:ext>
            </a:extLst>
          </p:cNvPr>
          <p:cNvSpPr>
            <a:spLocks noGrp="1"/>
          </p:cNvSpPr>
          <p:nvPr>
            <p:ph type="title"/>
          </p:nvPr>
        </p:nvSpPr>
        <p:spPr/>
        <p:txBody>
          <a:bodyPr/>
          <a:lstStyle/>
          <a:p>
            <a:r>
              <a:rPr lang="en-GB"/>
              <a:t>Click to edit Master title style</a:t>
            </a:r>
            <a:endParaRPr lang="en-ES"/>
          </a:p>
        </p:txBody>
      </p:sp>
      <p:sp>
        <p:nvSpPr>
          <p:cNvPr id="3" name="Vertical Text Placeholder 2">
            <a:extLst>
              <a:ext uri="{FF2B5EF4-FFF2-40B4-BE49-F238E27FC236}">
                <a16:creationId xmlns:a16="http://schemas.microsoft.com/office/drawing/2014/main" id="{72E35B4E-D6D3-7F09-F0E5-21B97F31B29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62536D94-1047-ECCE-941D-5503501E5D16}"/>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5" name="Footer Placeholder 4">
            <a:extLst>
              <a:ext uri="{FF2B5EF4-FFF2-40B4-BE49-F238E27FC236}">
                <a16:creationId xmlns:a16="http://schemas.microsoft.com/office/drawing/2014/main" id="{24AA3119-EC58-5DF6-7B0B-976732748293}"/>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2E7AC7F1-463D-97CF-B473-B895460D20E9}"/>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1606649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39230D-F1F9-0F65-8184-85AAD4F7DF2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ES"/>
          </a:p>
        </p:txBody>
      </p:sp>
      <p:sp>
        <p:nvSpPr>
          <p:cNvPr id="3" name="Vertical Text Placeholder 2">
            <a:extLst>
              <a:ext uri="{FF2B5EF4-FFF2-40B4-BE49-F238E27FC236}">
                <a16:creationId xmlns:a16="http://schemas.microsoft.com/office/drawing/2014/main" id="{7B6FD255-545E-CE16-F9CF-03900E19AF1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E21F77DB-2CC7-B3F8-71D8-CC347531DB49}"/>
              </a:ext>
            </a:extLst>
          </p:cNvPr>
          <p:cNvSpPr>
            <a:spLocks noGrp="1"/>
          </p:cNvSpPr>
          <p:nvPr>
            <p:ph type="dt" sz="half" idx="10"/>
          </p:nvPr>
        </p:nvSpPr>
        <p:spPr/>
        <p:txBody>
          <a:bodyPr/>
          <a:lstStyle/>
          <a:p>
            <a:fld id="{633498F9-230D-104D-8822-4698C37D8FDD}" type="datetimeFigureOut">
              <a:rPr lang="en-ES" smtClean="0"/>
              <a:t>27/9/26</a:t>
            </a:fld>
            <a:endParaRPr lang="en-ES"/>
          </a:p>
        </p:txBody>
      </p:sp>
      <p:sp>
        <p:nvSpPr>
          <p:cNvPr id="5" name="Footer Placeholder 4">
            <a:extLst>
              <a:ext uri="{FF2B5EF4-FFF2-40B4-BE49-F238E27FC236}">
                <a16:creationId xmlns:a16="http://schemas.microsoft.com/office/drawing/2014/main" id="{4EE1338A-A4A6-F183-61DC-AC4FAA6D3EBE}"/>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5974B585-229C-3280-7BA4-5FBC80753016}"/>
              </a:ext>
            </a:extLst>
          </p:cNvPr>
          <p:cNvSpPr>
            <a:spLocks noGrp="1"/>
          </p:cNvSpPr>
          <p:nvPr>
            <p:ph type="sldNum" sz="quarter" idx="12"/>
          </p:nvPr>
        </p:nvSpPr>
        <p:spPr/>
        <p:txBody>
          <a:bodyPr/>
          <a:lstStyle/>
          <a:p>
            <a:fld id="{FC4E38E7-265D-304E-A4DC-93FB8037BA42}" type="slidenum">
              <a:rPr lang="en-ES" smtClean="0"/>
              <a:t>‹#›</a:t>
            </a:fld>
            <a:endParaRPr lang="en-ES"/>
          </a:p>
        </p:txBody>
      </p:sp>
    </p:spTree>
    <p:extLst>
      <p:ext uri="{BB962C8B-B14F-4D97-AF65-F5344CB8AC3E}">
        <p14:creationId xmlns:p14="http://schemas.microsoft.com/office/powerpoint/2010/main" val="3674077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AFD61C-7C36-FAA8-A3A9-79510D7852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ES"/>
          </a:p>
        </p:txBody>
      </p:sp>
      <p:sp>
        <p:nvSpPr>
          <p:cNvPr id="3" name="Text Placeholder 2">
            <a:extLst>
              <a:ext uri="{FF2B5EF4-FFF2-40B4-BE49-F238E27FC236}">
                <a16:creationId xmlns:a16="http://schemas.microsoft.com/office/drawing/2014/main" id="{A574E742-A8D0-DB60-1998-3DCDD8C810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0B659A64-21EF-45F5-CB28-0439FE2C27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3498F9-230D-104D-8822-4698C37D8FDD}" type="datetimeFigureOut">
              <a:rPr lang="en-ES" smtClean="0"/>
              <a:t>27/9/26</a:t>
            </a:fld>
            <a:endParaRPr lang="en-ES"/>
          </a:p>
        </p:txBody>
      </p:sp>
      <p:sp>
        <p:nvSpPr>
          <p:cNvPr id="5" name="Footer Placeholder 4">
            <a:extLst>
              <a:ext uri="{FF2B5EF4-FFF2-40B4-BE49-F238E27FC236}">
                <a16:creationId xmlns:a16="http://schemas.microsoft.com/office/drawing/2014/main" id="{6790FD0B-0528-FBFE-C420-628BC4A7AF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S"/>
          </a:p>
        </p:txBody>
      </p:sp>
      <p:sp>
        <p:nvSpPr>
          <p:cNvPr id="6" name="Slide Number Placeholder 5">
            <a:extLst>
              <a:ext uri="{FF2B5EF4-FFF2-40B4-BE49-F238E27FC236}">
                <a16:creationId xmlns:a16="http://schemas.microsoft.com/office/drawing/2014/main" id="{262E501B-B3FC-B411-57CB-2118194744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4E38E7-265D-304E-A4DC-93FB8037BA42}" type="slidenum">
              <a:rPr lang="en-ES" smtClean="0"/>
              <a:t>‹#›</a:t>
            </a:fld>
            <a:endParaRPr lang="en-ES"/>
          </a:p>
        </p:txBody>
      </p:sp>
    </p:spTree>
    <p:extLst>
      <p:ext uri="{BB962C8B-B14F-4D97-AF65-F5344CB8AC3E}">
        <p14:creationId xmlns:p14="http://schemas.microsoft.com/office/powerpoint/2010/main" val="2724378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9.jp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1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4.jpeg"/><Relationship Id="rId7" Type="http://schemas.openxmlformats.org/officeDocument/2006/relationships/image" Target="../media/image23.svg"/><Relationship Id="rId2" Type="http://schemas.openxmlformats.org/officeDocument/2006/relationships/image" Target="../media/image3.jpeg"/><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25.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32.jpeg"/><Relationship Id="rId4" Type="http://schemas.openxmlformats.org/officeDocument/2006/relationships/image" Target="../media/image12.jpeg"/></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32.jpeg"/><Relationship Id="rId2"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image" Target="../media/image35.png"/><Relationship Id="rId5" Type="http://schemas.microsoft.com/office/2007/relationships/hdphoto" Target="../media/hdphoto8.wdp"/><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32.jpeg"/><Relationship Id="rId2"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image" Target="../media/image35.png"/><Relationship Id="rId5" Type="http://schemas.microsoft.com/office/2007/relationships/hdphoto" Target="../media/hdphoto8.wdp"/><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image" Target="../media/image35.png"/><Relationship Id="rId5" Type="http://schemas.microsoft.com/office/2007/relationships/hdphoto" Target="../media/hdphoto8.wdp"/><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microsoft.com/office/2007/relationships/hdphoto" Target="../media/hdphoto9.wdp"/></Relationships>
</file>

<file path=ppt/slides/_rels/slide3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9.org&amp;utm_campaign=parser&amp;utm_content=thumbnai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9.org&amp;utm_campaign=parser&amp;utm_content=thumbnai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49.org&amp;utm_campaign=parser&amp;utm_content=thumbnail"/><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customXml" Target="../ink/ink2.xml"/><Relationship Id="rId10" Type="http://schemas.openxmlformats.org/officeDocument/2006/relationships/image" Target="../media/image53.png"/><Relationship Id="rId4" Type="http://schemas.openxmlformats.org/officeDocument/2006/relationships/image" Target="../media/image50.png"/><Relationship Id="rId9" Type="http://schemas.openxmlformats.org/officeDocument/2006/relationships/customXml" Target="../ink/ink4.xml"/></Relationships>
</file>

<file path=ppt/slides/_rels/slide44.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6.xml"/><Relationship Id="rId4" Type="http://schemas.openxmlformats.org/officeDocument/2006/relationships/image" Target="../media/image52.svg"/></Relationships>
</file>

<file path=ppt/slides/_rels/slide46.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jpg"/></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4.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E5CB"/>
        </a:solidFill>
        <a:effectLst/>
      </p:bgPr>
    </p:bg>
    <p:spTree>
      <p:nvGrpSpPr>
        <p:cNvPr id="1" name=""/>
        <p:cNvGrpSpPr/>
        <p:nvPr/>
      </p:nvGrpSpPr>
      <p:grpSpPr>
        <a:xfrm>
          <a:off x="0" y="0"/>
          <a:ext cx="0" cy="0"/>
          <a:chOff x="0" y="0"/>
          <a:chExt cx="0" cy="0"/>
        </a:xfrm>
      </p:grpSpPr>
      <p:pic>
        <p:nvPicPr>
          <p:cNvPr id="7" name="Picture 6" descr="https://cdn.sanity.io/images/nxpteyfv/goguides/8fcc7aed7ed3b5d0ecb04916ee3adfa76e2cd9e2-1600x1066.jpg">
            <a:extLst>
              <a:ext uri="{FF2B5EF4-FFF2-40B4-BE49-F238E27FC236}">
                <a16:creationId xmlns:a16="http://schemas.microsoft.com/office/drawing/2014/main" id="{E5CA4131-B189-F29B-AC70-437821DEDE62}"/>
              </a:ext>
            </a:extLst>
          </p:cNvPr>
          <p:cNvPicPr>
            <a:picLocks noChangeAspect="1"/>
          </p:cNvPicPr>
          <p:nvPr/>
        </p:nvPicPr>
        <p:blipFill>
          <a:blip r:embed="rId3">
            <a:alphaModFix amt="68000"/>
            <a:extLst>
              <a:ext uri="{BEBA8EAE-BF5A-486C-A8C5-ECC9F3942E4B}">
                <a14:imgProps xmlns:a14="http://schemas.microsoft.com/office/drawing/2010/main">
                  <a14:imgLayer r:embed="rId4">
                    <a14:imgEffect>
                      <a14:artisticBlur radius="30"/>
                    </a14:imgEffect>
                    <a14:imgEffect>
                      <a14:colorTemperature colorTemp="4984"/>
                    </a14:imgEffect>
                    <a14:imgEffect>
                      <a14:brightnessContrast bright="-34000" contrast="1000"/>
                    </a14:imgEffect>
                  </a14:imgLayer>
                </a14:imgProps>
              </a:ext>
            </a:extLst>
          </a:blip>
          <a:stretch>
            <a:fillRect/>
          </a:stretch>
        </p:blipFill>
        <p:spPr>
          <a:xfrm>
            <a:off x="-417444" y="-1019884"/>
            <a:ext cx="13354996" cy="8897767"/>
          </a:xfrm>
          <a:prstGeom prst="rect">
            <a:avLst/>
          </a:prstGeom>
        </p:spPr>
      </p:pic>
      <p:sp>
        <p:nvSpPr>
          <p:cNvPr id="2" name="Title 1">
            <a:extLst>
              <a:ext uri="{FF2B5EF4-FFF2-40B4-BE49-F238E27FC236}">
                <a16:creationId xmlns:a16="http://schemas.microsoft.com/office/drawing/2014/main" id="{E9C598A1-EEC5-4C81-69D1-A81456463922}"/>
              </a:ext>
            </a:extLst>
          </p:cNvPr>
          <p:cNvSpPr>
            <a:spLocks noGrp="1"/>
          </p:cNvSpPr>
          <p:nvPr>
            <p:ph type="ctrTitle"/>
          </p:nvPr>
        </p:nvSpPr>
        <p:spPr/>
        <p:txBody>
          <a:bodyPr/>
          <a:lstStyle/>
          <a:p>
            <a:endParaRPr lang="en-ES" dirty="0"/>
          </a:p>
        </p:txBody>
      </p:sp>
      <p:sp>
        <p:nvSpPr>
          <p:cNvPr id="3" name="Subtitle 2">
            <a:extLst>
              <a:ext uri="{FF2B5EF4-FFF2-40B4-BE49-F238E27FC236}">
                <a16:creationId xmlns:a16="http://schemas.microsoft.com/office/drawing/2014/main" id="{7D278047-BC54-B4F3-9BDC-E30B1EFA75A0}"/>
              </a:ext>
            </a:extLst>
          </p:cNvPr>
          <p:cNvSpPr>
            <a:spLocks noGrp="1"/>
          </p:cNvSpPr>
          <p:nvPr>
            <p:ph type="subTitle" idx="1"/>
          </p:nvPr>
        </p:nvSpPr>
        <p:spPr/>
        <p:txBody>
          <a:bodyPr/>
          <a:lstStyle/>
          <a:p>
            <a:endParaRPr lang="en-ES"/>
          </a:p>
        </p:txBody>
      </p:sp>
      <p:pic>
        <p:nvPicPr>
          <p:cNvPr id="6" name="Picture 5" descr="https://cdn.sanity.io/images/nxpteyfv/goguides/8fcc7aed7ed3b5d0ecb04916ee3adfa76e2cd9e2-1600x1066.jpg">
            <a:extLst>
              <a:ext uri="{FF2B5EF4-FFF2-40B4-BE49-F238E27FC236}">
                <a16:creationId xmlns:a16="http://schemas.microsoft.com/office/drawing/2014/main" id="{A17A6420-B44D-506C-7BC6-6C6270E7F23E}"/>
              </a:ext>
            </a:extLst>
          </p:cNvPr>
          <p:cNvPicPr>
            <a:picLocks noChangeAspect="1"/>
          </p:cNvPicPr>
          <p:nvPr/>
        </p:nvPicPr>
        <p:blipFill>
          <a:blip r:embed="rId5"/>
          <a:stretch>
            <a:fillRect/>
          </a:stretch>
        </p:blipFill>
        <p:spPr>
          <a:xfrm>
            <a:off x="881269" y="-45315"/>
            <a:ext cx="10429461" cy="6948629"/>
          </a:xfrm>
          <a:prstGeom prst="rect">
            <a:avLst/>
          </a:prstGeom>
        </p:spPr>
      </p:pic>
      <p:sp>
        <p:nvSpPr>
          <p:cNvPr id="8" name="TextBox 7">
            <a:extLst>
              <a:ext uri="{FF2B5EF4-FFF2-40B4-BE49-F238E27FC236}">
                <a16:creationId xmlns:a16="http://schemas.microsoft.com/office/drawing/2014/main" id="{10D4CD0B-2FE4-9182-FCF8-FDD9D53A91B1}"/>
              </a:ext>
            </a:extLst>
          </p:cNvPr>
          <p:cNvSpPr txBox="1"/>
          <p:nvPr/>
        </p:nvSpPr>
        <p:spPr>
          <a:xfrm>
            <a:off x="881269" y="1030288"/>
            <a:ext cx="10429461" cy="2169825"/>
          </a:xfrm>
          <a:prstGeom prst="rect">
            <a:avLst/>
          </a:prstGeom>
          <a:noFill/>
        </p:spPr>
        <p:txBody>
          <a:bodyPr wrap="square" rtlCol="0">
            <a:spAutoFit/>
          </a:bodyPr>
          <a:lstStyle/>
          <a:p>
            <a:pPr algn="ctr"/>
            <a:r>
              <a:rPr lang="en-ES" sz="2500" dirty="0">
                <a:latin typeface="Bookman Old Style" panose="02050604050505020204" pitchFamily="18" charset="0"/>
                <a:ea typeface="Helvetica Neue" panose="02000503000000020004" pitchFamily="2" charset="0"/>
                <a:cs typeface="Helvetica Neue" panose="02000503000000020004" pitchFamily="2" charset="0"/>
              </a:rPr>
              <a:t>Philosophical thought experiments and conflicting intuitions</a:t>
            </a:r>
          </a:p>
          <a:p>
            <a:pPr algn="ctr"/>
            <a:endParaRPr lang="en-ES" sz="2200" dirty="0">
              <a:latin typeface="Bookman Old Style" panose="02050604050505020204" pitchFamily="18" charset="0"/>
              <a:ea typeface="Helvetica Neue" panose="02000503000000020004" pitchFamily="2" charset="0"/>
              <a:cs typeface="Helvetica Neue" panose="02000503000000020004" pitchFamily="2" charset="0"/>
            </a:endParaRPr>
          </a:p>
          <a:p>
            <a:pPr algn="ctr"/>
            <a:endParaRPr lang="en-ES" sz="2200" dirty="0">
              <a:latin typeface="Bookman Old Style" panose="02050604050505020204" pitchFamily="18" charset="0"/>
              <a:ea typeface="Helvetica Neue" panose="02000503000000020004" pitchFamily="2" charset="0"/>
              <a:cs typeface="Helvetica Neue" panose="02000503000000020004" pitchFamily="2" charset="0"/>
            </a:endParaRPr>
          </a:p>
          <a:p>
            <a:pPr algn="ctr"/>
            <a:endParaRPr lang="en-ES" sz="2200" dirty="0">
              <a:latin typeface="Bookman Old Style" panose="02050604050505020204" pitchFamily="18" charset="0"/>
              <a:ea typeface="Helvetica Neue" panose="02000503000000020004" pitchFamily="2" charset="0"/>
              <a:cs typeface="Helvetica Neue" panose="02000503000000020004" pitchFamily="2" charset="0"/>
            </a:endParaRPr>
          </a:p>
          <a:p>
            <a:pPr algn="ctr"/>
            <a:endParaRPr lang="en-ES" sz="2200" dirty="0">
              <a:latin typeface="Bookman Old Style" panose="02050604050505020204" pitchFamily="18" charset="0"/>
              <a:ea typeface="Helvetica Neue" panose="02000503000000020004" pitchFamily="2" charset="0"/>
              <a:cs typeface="Helvetica Neue" panose="02000503000000020004" pitchFamily="2" charset="0"/>
            </a:endParaRPr>
          </a:p>
          <a:p>
            <a:pPr algn="r"/>
            <a:r>
              <a:rPr lang="en-ES" sz="2200" dirty="0">
                <a:latin typeface="Bookman Old Style" panose="02050604050505020204" pitchFamily="18" charset="0"/>
                <a:ea typeface="Helvetica Neue" panose="02000503000000020004" pitchFamily="2" charset="0"/>
                <a:cs typeface="Helvetica Neue" panose="02000503000000020004" pitchFamily="2" charset="0"/>
              </a:rPr>
              <a:t>Ivar Hannikainen &amp; Joshua Knobe </a:t>
            </a:r>
          </a:p>
        </p:txBody>
      </p:sp>
      <p:sp>
        <p:nvSpPr>
          <p:cNvPr id="4" name="Rectangle 3">
            <a:extLst>
              <a:ext uri="{FF2B5EF4-FFF2-40B4-BE49-F238E27FC236}">
                <a16:creationId xmlns:a16="http://schemas.microsoft.com/office/drawing/2014/main" id="{7D1EA49E-5B95-64D1-97B3-05386142F3C7}"/>
              </a:ext>
            </a:extLst>
          </p:cNvPr>
          <p:cNvSpPr/>
          <p:nvPr/>
        </p:nvSpPr>
        <p:spPr>
          <a:xfrm>
            <a:off x="881269" y="6092455"/>
            <a:ext cx="10429461" cy="789593"/>
          </a:xfrm>
          <a:prstGeom prst="rect">
            <a:avLst/>
          </a:prstGeom>
          <a:solidFill>
            <a:srgbClr val="9DA7DE">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Bookman Old Style" panose="02050604050505020204" pitchFamily="18" charset="0"/>
              </a:rPr>
              <a:t>6th European Experimental Philosophy Conference </a:t>
            </a:r>
          </a:p>
          <a:p>
            <a:r>
              <a:rPr lang="en-ES" sz="1600" dirty="0">
                <a:solidFill>
                  <a:schemeClr val="tx1"/>
                </a:solidFill>
                <a:latin typeface="Bookman Old Style" panose="02050604050505020204" pitchFamily="18" charset="0"/>
              </a:rPr>
              <a:t>University of Cagliari, </a:t>
            </a:r>
          </a:p>
          <a:p>
            <a:r>
              <a:rPr lang="en-GB" sz="1600" dirty="0">
                <a:solidFill>
                  <a:schemeClr val="tx1"/>
                </a:solidFill>
                <a:latin typeface="Bookman Old Style" panose="02050604050505020204" pitchFamily="18" charset="0"/>
              </a:rPr>
              <a:t>September 8–11, 2026</a:t>
            </a:r>
            <a:endParaRPr lang="en-ES" sz="1600" dirty="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149919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he Trolley Problem | U-M LSA U-M College of LSA">
            <a:extLst>
              <a:ext uri="{FF2B5EF4-FFF2-40B4-BE49-F238E27FC236}">
                <a16:creationId xmlns:a16="http://schemas.microsoft.com/office/drawing/2014/main" id="{770865E5-CF3D-3769-D9B0-035C44128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326" r="1992" b="-1"/>
          <a:stretch/>
        </p:blipFill>
        <p:spPr bwMode="auto">
          <a:xfrm>
            <a:off x="1866901" y="206688"/>
            <a:ext cx="3996100" cy="29965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What is Free Will? – The Art of Storytelling">
            <a:extLst>
              <a:ext uri="{FF2B5EF4-FFF2-40B4-BE49-F238E27FC236}">
                <a16:creationId xmlns:a16="http://schemas.microsoft.com/office/drawing/2014/main" id="{F34F93E5-8DCD-21BB-51DF-1DAF66675E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8"/>
          <a:stretch/>
        </p:blipFill>
        <p:spPr bwMode="auto">
          <a:xfrm>
            <a:off x="6329001" y="206672"/>
            <a:ext cx="3996098" cy="29965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 Was a Brain in a Vat | Think | Cambridge Core">
            <a:extLst>
              <a:ext uri="{FF2B5EF4-FFF2-40B4-BE49-F238E27FC236}">
                <a16:creationId xmlns:a16="http://schemas.microsoft.com/office/drawing/2014/main" id="{EC78E8D2-2F2D-AE50-44B7-2A3BDBDC96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82" r="2" b="2"/>
          <a:stretch>
            <a:fillRect/>
          </a:stretch>
        </p:blipFill>
        <p:spPr bwMode="auto">
          <a:xfrm>
            <a:off x="1866900" y="3654792"/>
            <a:ext cx="3996101" cy="29965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The Ethical Spectrum: Consequences of Moral Absolutism and Relativism for  Global Society">
            <a:extLst>
              <a:ext uri="{FF2B5EF4-FFF2-40B4-BE49-F238E27FC236}">
                <a16:creationId xmlns:a16="http://schemas.microsoft.com/office/drawing/2014/main" id="{3B8C3BAC-6C46-A663-D026-B5A9CC2A2F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19"/>
          <a:stretch/>
        </p:blipFill>
        <p:spPr bwMode="auto">
          <a:xfrm>
            <a:off x="6329000" y="3654792"/>
            <a:ext cx="3996097" cy="299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474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CD6E0"/>
        </a:solidFill>
        <a:effectLst/>
      </p:bgPr>
    </p:bg>
    <p:spTree>
      <p:nvGrpSpPr>
        <p:cNvPr id="1" name="">
          <a:extLst>
            <a:ext uri="{FF2B5EF4-FFF2-40B4-BE49-F238E27FC236}">
              <a16:creationId xmlns:a16="http://schemas.microsoft.com/office/drawing/2014/main" id="{CF6DEC10-AC83-3F1C-6DBC-1FBCBC481D57}"/>
            </a:ext>
          </a:extLst>
        </p:cNvPr>
        <p:cNvGrpSpPr/>
        <p:nvPr/>
      </p:nvGrpSpPr>
      <p:grpSpPr>
        <a:xfrm>
          <a:off x="0" y="0"/>
          <a:ext cx="0" cy="0"/>
          <a:chOff x="0" y="0"/>
          <a:chExt cx="0" cy="0"/>
        </a:xfrm>
      </p:grpSpPr>
      <p:pic>
        <p:nvPicPr>
          <p:cNvPr id="7" name="Picture 6" descr="What is Free Will? – The Art of Storytelling">
            <a:extLst>
              <a:ext uri="{FF2B5EF4-FFF2-40B4-BE49-F238E27FC236}">
                <a16:creationId xmlns:a16="http://schemas.microsoft.com/office/drawing/2014/main" id="{E791E425-1019-9F72-069B-802D378A64B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l="7444" t="17398" r="18280" b="28012"/>
          <a:stretch>
            <a:fillRect/>
          </a:stretch>
        </p:blipFill>
        <p:spPr bwMode="auto">
          <a:xfrm>
            <a:off x="-367210" y="-103238"/>
            <a:ext cx="12667249" cy="69825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hat is Free Will? – The Art of Storytelling">
            <a:extLst>
              <a:ext uri="{FF2B5EF4-FFF2-40B4-BE49-F238E27FC236}">
                <a16:creationId xmlns:a16="http://schemas.microsoft.com/office/drawing/2014/main" id="{BD408A1B-C872-BB43-0A24-13798FB624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8"/>
          <a:stretch/>
        </p:blipFill>
        <p:spPr bwMode="auto">
          <a:xfrm>
            <a:off x="8491520" y="299659"/>
            <a:ext cx="3517120" cy="26373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D16A00-EE13-8628-8408-C11CC16C940B}"/>
              </a:ext>
            </a:extLst>
          </p:cNvPr>
          <p:cNvSpPr txBox="1"/>
          <p:nvPr/>
        </p:nvSpPr>
        <p:spPr>
          <a:xfrm>
            <a:off x="318977" y="3925542"/>
            <a:ext cx="11689663" cy="2677656"/>
          </a:xfrm>
          <a:prstGeom prst="rect">
            <a:avLst/>
          </a:prstGeom>
          <a:solidFill>
            <a:srgbClr val="EEEEF3">
              <a:alpha val="92036"/>
            </a:srgbClr>
          </a:solidFill>
        </p:spPr>
        <p:txBody>
          <a:bodyPr wrap="square" anchor="ctr">
            <a:spAutoFit/>
          </a:bodyPr>
          <a:lstStyle/>
          <a:p>
            <a:endParaRPr lang="en-US" sz="2400" dirty="0">
              <a:latin typeface="Bookman Old Style" panose="02050604050505020204" pitchFamily="18" charset="0"/>
            </a:endParaRPr>
          </a:p>
          <a:p>
            <a:r>
              <a:rPr lang="en-US" sz="2400" dirty="0">
                <a:latin typeface="Bookman Old Style" panose="02050604050505020204" pitchFamily="18" charset="0"/>
              </a:rPr>
              <a:t>Imagine a universe in which everything that happens is completely brought about by whatever happened before it. […]For example, one day John decided to have vegetable soup at lunch. Like everything else, this decision was completely brought about by what happened before it. […] it had to happen that John would decide to have vegetable soup at lunch. </a:t>
            </a:r>
          </a:p>
          <a:p>
            <a:endParaRPr lang="en-US" sz="2400" dirty="0">
              <a:latin typeface="Bookman Old Style" panose="02050604050505020204" pitchFamily="18" charset="0"/>
            </a:endParaRPr>
          </a:p>
        </p:txBody>
      </p:sp>
      <p:sp>
        <p:nvSpPr>
          <p:cNvPr id="5" name="TextBox 4">
            <a:extLst>
              <a:ext uri="{FF2B5EF4-FFF2-40B4-BE49-F238E27FC236}">
                <a16:creationId xmlns:a16="http://schemas.microsoft.com/office/drawing/2014/main" id="{90E3BFF3-4FE0-ED60-FE91-D14FDFEFEA48}"/>
              </a:ext>
            </a:extLst>
          </p:cNvPr>
          <p:cNvSpPr txBox="1"/>
          <p:nvPr/>
        </p:nvSpPr>
        <p:spPr>
          <a:xfrm>
            <a:off x="244546" y="225228"/>
            <a:ext cx="6422064" cy="461665"/>
          </a:xfrm>
          <a:prstGeom prst="rect">
            <a:avLst/>
          </a:prstGeom>
          <a:noFill/>
        </p:spPr>
        <p:txBody>
          <a:bodyPr wrap="square">
            <a:spAutoFit/>
          </a:bodyPr>
          <a:lstStyle/>
          <a:p>
            <a:r>
              <a:rPr lang="en-US" sz="2400" dirty="0">
                <a:solidFill>
                  <a:schemeClr val="bg1"/>
                </a:solidFill>
                <a:latin typeface="Bookman Old Style" panose="02050604050505020204" pitchFamily="18" charset="0"/>
              </a:rPr>
              <a:t>Nichols &amp; Knobe, 2007</a:t>
            </a:r>
            <a:endParaRPr lang="en-ES" dirty="0">
              <a:solidFill>
                <a:schemeClr val="bg1"/>
              </a:solidFill>
            </a:endParaRPr>
          </a:p>
        </p:txBody>
      </p:sp>
    </p:spTree>
    <p:extLst>
      <p:ext uri="{BB962C8B-B14F-4D97-AF65-F5344CB8AC3E}">
        <p14:creationId xmlns:p14="http://schemas.microsoft.com/office/powerpoint/2010/main" val="1811334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CD6E0"/>
        </a:solidFill>
        <a:effectLst/>
      </p:bgPr>
    </p:bg>
    <p:spTree>
      <p:nvGrpSpPr>
        <p:cNvPr id="1" name="">
          <a:extLst>
            <a:ext uri="{FF2B5EF4-FFF2-40B4-BE49-F238E27FC236}">
              <a16:creationId xmlns:a16="http://schemas.microsoft.com/office/drawing/2014/main" id="{1CDC6733-8EE9-EF19-556A-29C3EC5313BF}"/>
            </a:ext>
          </a:extLst>
        </p:cNvPr>
        <p:cNvGrpSpPr/>
        <p:nvPr/>
      </p:nvGrpSpPr>
      <p:grpSpPr>
        <a:xfrm>
          <a:off x="0" y="0"/>
          <a:ext cx="0" cy="0"/>
          <a:chOff x="0" y="0"/>
          <a:chExt cx="0" cy="0"/>
        </a:xfrm>
      </p:grpSpPr>
      <p:pic>
        <p:nvPicPr>
          <p:cNvPr id="7" name="Picture 6" descr="What is Free Will? – The Art of Storytelling">
            <a:extLst>
              <a:ext uri="{FF2B5EF4-FFF2-40B4-BE49-F238E27FC236}">
                <a16:creationId xmlns:a16="http://schemas.microsoft.com/office/drawing/2014/main" id="{D3B5A774-FEC7-572A-EE9F-31C765A69A4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l="7444" t="17398" r="18280" b="28012"/>
          <a:stretch>
            <a:fillRect/>
          </a:stretch>
        </p:blipFill>
        <p:spPr bwMode="auto">
          <a:xfrm>
            <a:off x="-367210" y="-103238"/>
            <a:ext cx="12667249" cy="69825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hat is Free Will? – The Art of Storytelling">
            <a:extLst>
              <a:ext uri="{FF2B5EF4-FFF2-40B4-BE49-F238E27FC236}">
                <a16:creationId xmlns:a16="http://schemas.microsoft.com/office/drawing/2014/main" id="{E8433A48-4FDE-6005-EE78-6EC97B483B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8"/>
          <a:stretch/>
        </p:blipFill>
        <p:spPr bwMode="auto">
          <a:xfrm>
            <a:off x="8491520" y="299659"/>
            <a:ext cx="3517120" cy="26373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72E37D9-1476-C92B-FFB1-CCB60D7C99E8}"/>
              </a:ext>
            </a:extLst>
          </p:cNvPr>
          <p:cNvSpPr txBox="1"/>
          <p:nvPr/>
        </p:nvSpPr>
        <p:spPr>
          <a:xfrm>
            <a:off x="318977" y="3920976"/>
            <a:ext cx="11689663" cy="2677656"/>
          </a:xfrm>
          <a:prstGeom prst="rect">
            <a:avLst/>
          </a:prstGeom>
          <a:solidFill>
            <a:srgbClr val="EEEEF3">
              <a:alpha val="92036"/>
            </a:srgbClr>
          </a:solidFill>
        </p:spPr>
        <p:txBody>
          <a:bodyPr wrap="square">
            <a:spAutoFit/>
          </a:bodyPr>
          <a:lstStyle/>
          <a:p>
            <a:endParaRPr lang="en-US" sz="2400" dirty="0">
              <a:latin typeface="Bookman Old Style" panose="02050604050505020204" pitchFamily="18" charset="0"/>
            </a:endParaRPr>
          </a:p>
          <a:p>
            <a:r>
              <a:rPr lang="en-US" sz="2400" dirty="0">
                <a:latin typeface="Bookman Old Style" panose="02050604050505020204" pitchFamily="18" charset="0"/>
              </a:rPr>
              <a:t>In this universe, a man named Bill has become attracted to his secretary, and he decides that the only way to be with her is to kill his wife and three children. Before he leaves on a business trip, he sets up a bomb that destroys his house and kills his family while he is away.</a:t>
            </a:r>
          </a:p>
          <a:p>
            <a:endParaRPr lang="en-US" sz="2400" dirty="0">
              <a:latin typeface="Bookman Old Style" panose="02050604050505020204" pitchFamily="18" charset="0"/>
            </a:endParaRPr>
          </a:p>
          <a:p>
            <a:endParaRPr lang="en-US" sz="2400" dirty="0">
              <a:latin typeface="Bookman Old Style" panose="02050604050505020204" pitchFamily="18" charset="0"/>
            </a:endParaRPr>
          </a:p>
        </p:txBody>
      </p:sp>
      <p:sp>
        <p:nvSpPr>
          <p:cNvPr id="4" name="TextBox 3">
            <a:extLst>
              <a:ext uri="{FF2B5EF4-FFF2-40B4-BE49-F238E27FC236}">
                <a16:creationId xmlns:a16="http://schemas.microsoft.com/office/drawing/2014/main" id="{0B0C04D6-23F0-31BA-C7B4-DCA828BDD224}"/>
              </a:ext>
            </a:extLst>
          </p:cNvPr>
          <p:cNvSpPr txBox="1"/>
          <p:nvPr/>
        </p:nvSpPr>
        <p:spPr>
          <a:xfrm>
            <a:off x="244546" y="225228"/>
            <a:ext cx="6422064" cy="461665"/>
          </a:xfrm>
          <a:prstGeom prst="rect">
            <a:avLst/>
          </a:prstGeom>
          <a:noFill/>
        </p:spPr>
        <p:txBody>
          <a:bodyPr wrap="square">
            <a:spAutoFit/>
          </a:bodyPr>
          <a:lstStyle/>
          <a:p>
            <a:r>
              <a:rPr lang="en-US" sz="2400" dirty="0">
                <a:solidFill>
                  <a:schemeClr val="bg1"/>
                </a:solidFill>
                <a:latin typeface="Bookman Old Style" panose="02050604050505020204" pitchFamily="18" charset="0"/>
              </a:rPr>
              <a:t>Nichols &amp; Knobe, 2007</a:t>
            </a:r>
            <a:endParaRPr lang="en-ES" dirty="0">
              <a:solidFill>
                <a:schemeClr val="bg1"/>
              </a:solidFill>
            </a:endParaRPr>
          </a:p>
        </p:txBody>
      </p:sp>
    </p:spTree>
    <p:extLst>
      <p:ext uri="{BB962C8B-B14F-4D97-AF65-F5344CB8AC3E}">
        <p14:creationId xmlns:p14="http://schemas.microsoft.com/office/powerpoint/2010/main" val="3981177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CD6E0"/>
        </a:solidFill>
        <a:effectLst/>
      </p:bgPr>
    </p:bg>
    <p:spTree>
      <p:nvGrpSpPr>
        <p:cNvPr id="1" name="">
          <a:extLst>
            <a:ext uri="{FF2B5EF4-FFF2-40B4-BE49-F238E27FC236}">
              <a16:creationId xmlns:a16="http://schemas.microsoft.com/office/drawing/2014/main" id="{E1A8FF71-4894-50C1-5E89-F4C702893B4E}"/>
            </a:ext>
          </a:extLst>
        </p:cNvPr>
        <p:cNvGrpSpPr/>
        <p:nvPr/>
      </p:nvGrpSpPr>
      <p:grpSpPr>
        <a:xfrm>
          <a:off x="0" y="0"/>
          <a:ext cx="0" cy="0"/>
          <a:chOff x="0" y="0"/>
          <a:chExt cx="0" cy="0"/>
        </a:xfrm>
      </p:grpSpPr>
      <p:pic>
        <p:nvPicPr>
          <p:cNvPr id="7" name="Picture 6" descr="What is Free Will? – The Art of Storytelling">
            <a:extLst>
              <a:ext uri="{FF2B5EF4-FFF2-40B4-BE49-F238E27FC236}">
                <a16:creationId xmlns:a16="http://schemas.microsoft.com/office/drawing/2014/main" id="{D8C28465-7C33-5C96-B160-0AA57BCB3FE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l="7444" t="17398" r="18280" b="28012"/>
          <a:stretch>
            <a:fillRect/>
          </a:stretch>
        </p:blipFill>
        <p:spPr bwMode="auto">
          <a:xfrm>
            <a:off x="-367210" y="-103238"/>
            <a:ext cx="12667249" cy="69825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hat is Free Will? – The Art of Storytelling">
            <a:extLst>
              <a:ext uri="{FF2B5EF4-FFF2-40B4-BE49-F238E27FC236}">
                <a16:creationId xmlns:a16="http://schemas.microsoft.com/office/drawing/2014/main" id="{E5097764-FF24-8F6E-F209-815EDE2CEC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8"/>
          <a:stretch/>
        </p:blipFill>
        <p:spPr bwMode="auto">
          <a:xfrm>
            <a:off x="8491520" y="299659"/>
            <a:ext cx="3517120" cy="26373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1B4BA5-550A-6ABE-E7D9-69BF8D59BB98}"/>
              </a:ext>
            </a:extLst>
          </p:cNvPr>
          <p:cNvSpPr txBox="1"/>
          <p:nvPr/>
        </p:nvSpPr>
        <p:spPr>
          <a:xfrm>
            <a:off x="894939" y="1618342"/>
            <a:ext cx="6334432" cy="954107"/>
          </a:xfrm>
          <a:prstGeom prst="rect">
            <a:avLst/>
          </a:prstGeom>
          <a:noFill/>
        </p:spPr>
        <p:txBody>
          <a:bodyPr wrap="square">
            <a:spAutoFit/>
          </a:bodyPr>
          <a:lstStyle/>
          <a:p>
            <a:r>
              <a:rPr lang="en-US" sz="2800" dirty="0">
                <a:solidFill>
                  <a:schemeClr val="accent5">
                    <a:lumMod val="50000"/>
                  </a:schemeClr>
                </a:solidFill>
                <a:latin typeface="Bookman Old Style" panose="02050604050505020204" pitchFamily="18" charset="0"/>
              </a:rPr>
              <a:t>Did Bill act freely when he decided to kill his wife and children?</a:t>
            </a:r>
            <a:endParaRPr lang="en-ES" dirty="0">
              <a:solidFill>
                <a:schemeClr val="accent5">
                  <a:lumMod val="50000"/>
                </a:schemeClr>
              </a:solidFill>
              <a:latin typeface="Bookman Old Style" panose="02050604050505020204" pitchFamily="18" charset="0"/>
            </a:endParaRPr>
          </a:p>
        </p:txBody>
      </p:sp>
      <p:sp>
        <p:nvSpPr>
          <p:cNvPr id="2" name="TextBox 1">
            <a:extLst>
              <a:ext uri="{FF2B5EF4-FFF2-40B4-BE49-F238E27FC236}">
                <a16:creationId xmlns:a16="http://schemas.microsoft.com/office/drawing/2014/main" id="{B0A8FCA0-A181-BAFA-3137-AD279F8F8C13}"/>
              </a:ext>
            </a:extLst>
          </p:cNvPr>
          <p:cNvSpPr txBox="1"/>
          <p:nvPr/>
        </p:nvSpPr>
        <p:spPr>
          <a:xfrm>
            <a:off x="318977" y="3920976"/>
            <a:ext cx="11689663" cy="2677656"/>
          </a:xfrm>
          <a:prstGeom prst="rect">
            <a:avLst/>
          </a:prstGeom>
          <a:solidFill>
            <a:srgbClr val="EEEEF3">
              <a:alpha val="92036"/>
            </a:srgbClr>
          </a:solidFill>
        </p:spPr>
        <p:txBody>
          <a:bodyPr wrap="square">
            <a:spAutoFit/>
          </a:bodyPr>
          <a:lstStyle/>
          <a:p>
            <a:endParaRPr lang="en-US" sz="2400" dirty="0">
              <a:latin typeface="Bookman Old Style" panose="02050604050505020204" pitchFamily="18" charset="0"/>
            </a:endParaRPr>
          </a:p>
          <a:p>
            <a:r>
              <a:rPr lang="en-US" sz="2400" dirty="0">
                <a:latin typeface="Bookman Old Style" panose="02050604050505020204" pitchFamily="18" charset="0"/>
              </a:rPr>
              <a:t>In this universe, a man named Bill has become attracted to his secretary, and he decides that the only way to be with her is to kill his wife and three children. Before he leaves on a business trip, he sets up a bomb that destroys his house and kills his family while he is away.</a:t>
            </a:r>
          </a:p>
          <a:p>
            <a:endParaRPr lang="en-US" sz="2400" dirty="0">
              <a:latin typeface="Bookman Old Style" panose="02050604050505020204" pitchFamily="18" charset="0"/>
            </a:endParaRPr>
          </a:p>
          <a:p>
            <a:endParaRPr lang="en-US" sz="2400" dirty="0">
              <a:latin typeface="Bookman Old Style" panose="02050604050505020204" pitchFamily="18" charset="0"/>
            </a:endParaRPr>
          </a:p>
        </p:txBody>
      </p:sp>
      <p:sp>
        <p:nvSpPr>
          <p:cNvPr id="5" name="TextBox 4">
            <a:extLst>
              <a:ext uri="{FF2B5EF4-FFF2-40B4-BE49-F238E27FC236}">
                <a16:creationId xmlns:a16="http://schemas.microsoft.com/office/drawing/2014/main" id="{0743232D-6119-CD98-8562-803B36A2FB9D}"/>
              </a:ext>
            </a:extLst>
          </p:cNvPr>
          <p:cNvSpPr txBox="1"/>
          <p:nvPr/>
        </p:nvSpPr>
        <p:spPr>
          <a:xfrm>
            <a:off x="244546" y="225228"/>
            <a:ext cx="6422064" cy="461665"/>
          </a:xfrm>
          <a:prstGeom prst="rect">
            <a:avLst/>
          </a:prstGeom>
          <a:noFill/>
        </p:spPr>
        <p:txBody>
          <a:bodyPr wrap="square">
            <a:spAutoFit/>
          </a:bodyPr>
          <a:lstStyle/>
          <a:p>
            <a:r>
              <a:rPr lang="en-US" sz="2400" dirty="0">
                <a:solidFill>
                  <a:schemeClr val="bg1"/>
                </a:solidFill>
                <a:latin typeface="Bookman Old Style" panose="02050604050505020204" pitchFamily="18" charset="0"/>
              </a:rPr>
              <a:t>Nichols &amp; Knobe, 2007</a:t>
            </a:r>
            <a:endParaRPr lang="en-ES" dirty="0">
              <a:solidFill>
                <a:schemeClr val="bg1"/>
              </a:solidFill>
            </a:endParaRPr>
          </a:p>
        </p:txBody>
      </p:sp>
    </p:spTree>
    <p:extLst>
      <p:ext uri="{BB962C8B-B14F-4D97-AF65-F5344CB8AC3E}">
        <p14:creationId xmlns:p14="http://schemas.microsoft.com/office/powerpoint/2010/main" val="345392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 is Free Will? – The Art of Storytelling">
            <a:extLst>
              <a:ext uri="{FF2B5EF4-FFF2-40B4-BE49-F238E27FC236}">
                <a16:creationId xmlns:a16="http://schemas.microsoft.com/office/drawing/2014/main" id="{9E2D2A20-BD8D-CAF3-3BBB-D78CC8E231B7}"/>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l="7444" t="17398" r="18280" b="28012"/>
          <a:stretch>
            <a:fillRect/>
          </a:stretch>
        </p:blipFill>
        <p:spPr bwMode="auto">
          <a:xfrm>
            <a:off x="-367210" y="-103238"/>
            <a:ext cx="12667249" cy="6982504"/>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C718691B-06BF-EAEA-4C1D-318C1FDE7779}"/>
              </a:ext>
            </a:extLst>
          </p:cNvPr>
          <p:cNvSpPr>
            <a:spLocks noGrp="1"/>
          </p:cNvSpPr>
          <p:nvPr>
            <p:ph type="title"/>
          </p:nvPr>
        </p:nvSpPr>
        <p:spPr>
          <a:xfrm>
            <a:off x="838200" y="497879"/>
            <a:ext cx="10515600" cy="1325563"/>
          </a:xfrm>
        </p:spPr>
        <p:txBody>
          <a:bodyPr>
            <a:normAutofit/>
          </a:bodyPr>
          <a:lstStyle/>
          <a:p>
            <a:pPr algn="ctr"/>
            <a:r>
              <a:rPr lang="en-ES" sz="3000" dirty="0">
                <a:latin typeface="Bookman Old Style" panose="02050604050505020204" pitchFamily="18" charset="0"/>
                <a:ea typeface="Helvetica Neue" panose="02000503000000020004" pitchFamily="2" charset="0"/>
                <a:cs typeface="Helvetica Neue" panose="02000503000000020004" pitchFamily="2" charset="0"/>
              </a:rPr>
              <a:t>Split responses among philosophers</a:t>
            </a:r>
            <a:endParaRPr lang="en-ES" sz="3000" dirty="0">
              <a:latin typeface="Bookman Old Style" panose="02050604050505020204" pitchFamily="18" charset="0"/>
            </a:endParaRPr>
          </a:p>
        </p:txBody>
      </p:sp>
      <p:pic>
        <p:nvPicPr>
          <p:cNvPr id="14" name="Picture 13" descr="https://m.media-amazon.com/images/I/61u7fUXmn-L._AC_UF1000,1000_QL80_.jpg">
            <a:extLst>
              <a:ext uri="{FF2B5EF4-FFF2-40B4-BE49-F238E27FC236}">
                <a16:creationId xmlns:a16="http://schemas.microsoft.com/office/drawing/2014/main" id="{7AD3C0D4-9024-EBA9-100F-1DDBA94FDB23}"/>
              </a:ext>
            </a:extLst>
          </p:cNvPr>
          <p:cNvPicPr>
            <a:picLocks noChangeAspect="1"/>
          </p:cNvPicPr>
          <p:nvPr/>
        </p:nvPicPr>
        <p:blipFill>
          <a:blip r:embed="rId4"/>
          <a:stretch>
            <a:fillRect/>
          </a:stretch>
        </p:blipFill>
        <p:spPr>
          <a:xfrm>
            <a:off x="7372178" y="1577806"/>
            <a:ext cx="2992790" cy="4720489"/>
          </a:xfrm>
          <a:prstGeom prst="rect">
            <a:avLst/>
          </a:prstGeom>
        </p:spPr>
      </p:pic>
      <p:pic>
        <p:nvPicPr>
          <p:cNvPr id="15" name="Picture 14" descr="https://m.media-amazon.com/images/I/61dxd3jOZIL._AC_UF1000,1000_QL80_.jpg">
            <a:extLst>
              <a:ext uri="{FF2B5EF4-FFF2-40B4-BE49-F238E27FC236}">
                <a16:creationId xmlns:a16="http://schemas.microsoft.com/office/drawing/2014/main" id="{964BD566-6C2A-DCBD-84E3-A777060659E5}"/>
              </a:ext>
            </a:extLst>
          </p:cNvPr>
          <p:cNvPicPr>
            <a:picLocks noChangeAspect="1"/>
          </p:cNvPicPr>
          <p:nvPr/>
        </p:nvPicPr>
        <p:blipFill>
          <a:blip r:embed="rId5"/>
          <a:stretch>
            <a:fillRect/>
          </a:stretch>
        </p:blipFill>
        <p:spPr>
          <a:xfrm>
            <a:off x="1827032" y="1542520"/>
            <a:ext cx="3083649" cy="4803191"/>
          </a:xfrm>
          <a:prstGeom prst="rect">
            <a:avLst/>
          </a:prstGeom>
        </p:spPr>
      </p:pic>
    </p:spTree>
    <p:extLst>
      <p:ext uri="{BB962C8B-B14F-4D97-AF65-F5344CB8AC3E}">
        <p14:creationId xmlns:p14="http://schemas.microsoft.com/office/powerpoint/2010/main" val="89711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D86B-A717-5F67-F5E4-9664F6D4D756}"/>
            </a:ext>
          </a:extLst>
        </p:cNvPr>
        <p:cNvGrpSpPr/>
        <p:nvPr/>
      </p:nvGrpSpPr>
      <p:grpSpPr>
        <a:xfrm>
          <a:off x="0" y="0"/>
          <a:ext cx="0" cy="0"/>
          <a:chOff x="0" y="0"/>
          <a:chExt cx="0" cy="0"/>
        </a:xfrm>
      </p:grpSpPr>
      <p:pic>
        <p:nvPicPr>
          <p:cNvPr id="8" name="Picture 7" descr="A close-up of a letter&#10;&#10;AI-generated content may be incorrect.">
            <a:extLst>
              <a:ext uri="{FF2B5EF4-FFF2-40B4-BE49-F238E27FC236}">
                <a16:creationId xmlns:a16="http://schemas.microsoft.com/office/drawing/2014/main" id="{1F419B0C-72E4-C34E-9810-D0EC919293C3}"/>
              </a:ext>
            </a:extLst>
          </p:cNvPr>
          <p:cNvPicPr>
            <a:picLocks noChangeAspect="1"/>
          </p:cNvPicPr>
          <p:nvPr/>
        </p:nvPicPr>
        <p:blipFill>
          <a:blip r:embed="rId2"/>
          <a:srcRect r="6042"/>
          <a:stretch>
            <a:fillRect/>
          </a:stretch>
        </p:blipFill>
        <p:spPr>
          <a:xfrm>
            <a:off x="3492246" y="3849415"/>
            <a:ext cx="3482819" cy="2359725"/>
          </a:xfrm>
          <a:prstGeom prst="rect">
            <a:avLst/>
          </a:prstGeom>
        </p:spPr>
      </p:pic>
      <p:pic>
        <p:nvPicPr>
          <p:cNvPr id="6" name="Picture 4" descr="Dr Pascale Willemsen – Philosopher">
            <a:extLst>
              <a:ext uri="{FF2B5EF4-FFF2-40B4-BE49-F238E27FC236}">
                <a16:creationId xmlns:a16="http://schemas.microsoft.com/office/drawing/2014/main" id="{D47FBFF7-D6DF-18DD-7F4B-B4336ECAAD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0" t="-561" r="12737" b="21066"/>
          <a:stretch>
            <a:fillRect/>
          </a:stretch>
        </p:blipFill>
        <p:spPr bwMode="auto">
          <a:xfrm>
            <a:off x="9496008" y="3418453"/>
            <a:ext cx="1993777" cy="2748064"/>
          </a:xfrm>
          <a:prstGeom prst="rect">
            <a:avLst/>
          </a:prstGeom>
          <a:noFill/>
          <a:ln>
            <a:solidFill>
              <a:schemeClr val="accent1">
                <a:shade val="95000"/>
                <a:satMod val="105000"/>
              </a:schemeClr>
            </a:solidFill>
          </a:ln>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02CC19BA-C941-9A6A-97B4-C9BC4071EC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0211"/>
          <a:stretch>
            <a:fillRect/>
          </a:stretch>
        </p:blipFill>
        <p:spPr bwMode="auto">
          <a:xfrm>
            <a:off x="838199" y="3352485"/>
            <a:ext cx="2150876" cy="2880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7590CC7D-B7CB-F2C9-E2FC-D2E87F691A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211"/>
          <a:stretch>
            <a:fillRect/>
          </a:stretch>
        </p:blipFill>
        <p:spPr bwMode="auto">
          <a:xfrm>
            <a:off x="9417458" y="3352485"/>
            <a:ext cx="2150876" cy="288000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Speech outline">
            <a:extLst>
              <a:ext uri="{FF2B5EF4-FFF2-40B4-BE49-F238E27FC236}">
                <a16:creationId xmlns:a16="http://schemas.microsoft.com/office/drawing/2014/main" id="{B98F836F-ADB3-5380-E68B-4D9B4D213B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1369856" y="1745734"/>
            <a:ext cx="1757818" cy="1757818"/>
          </a:xfrm>
          <a:prstGeom prst="rect">
            <a:avLst/>
          </a:prstGeom>
        </p:spPr>
      </p:pic>
      <p:sp>
        <p:nvSpPr>
          <p:cNvPr id="12" name="TextBox 11">
            <a:extLst>
              <a:ext uri="{FF2B5EF4-FFF2-40B4-BE49-F238E27FC236}">
                <a16:creationId xmlns:a16="http://schemas.microsoft.com/office/drawing/2014/main" id="{601D2F9D-662B-28E6-C1E3-1F45653092CD}"/>
              </a:ext>
            </a:extLst>
          </p:cNvPr>
          <p:cNvSpPr txBox="1"/>
          <p:nvPr/>
        </p:nvSpPr>
        <p:spPr>
          <a:xfrm>
            <a:off x="1652542" y="2226004"/>
            <a:ext cx="1197934" cy="553998"/>
          </a:xfrm>
          <a:prstGeom prst="rect">
            <a:avLst/>
          </a:prstGeom>
          <a:noFill/>
        </p:spPr>
        <p:txBody>
          <a:bodyPr wrap="square">
            <a:spAutoFit/>
          </a:bodyPr>
          <a:lstStyle/>
          <a:p>
            <a:pPr algn="ctr"/>
            <a:r>
              <a:rPr lang="en-ES" sz="3000" b="1" dirty="0">
                <a:latin typeface="Bookman Old Style" panose="02050604050505020204" pitchFamily="18" charset="0"/>
                <a:ea typeface="Helvetica Neue" panose="02000503000000020004" pitchFamily="2" charset="0"/>
                <a:cs typeface="Helvetica Neue" panose="02000503000000020004" pitchFamily="2" charset="0"/>
              </a:rPr>
              <a:t>Yes</a:t>
            </a:r>
            <a:endParaRPr lang="en-ES" b="1" dirty="0"/>
          </a:p>
        </p:txBody>
      </p:sp>
      <p:pic>
        <p:nvPicPr>
          <p:cNvPr id="15" name="Graphic 14" descr="Speech outline">
            <a:extLst>
              <a:ext uri="{FF2B5EF4-FFF2-40B4-BE49-F238E27FC236}">
                <a16:creationId xmlns:a16="http://schemas.microsoft.com/office/drawing/2014/main" id="{AE915585-037C-9356-4B4D-34C608B36D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0423" y="1745734"/>
            <a:ext cx="1757818" cy="1757818"/>
          </a:xfrm>
          <a:prstGeom prst="rect">
            <a:avLst/>
          </a:prstGeom>
        </p:spPr>
      </p:pic>
      <p:sp>
        <p:nvSpPr>
          <p:cNvPr id="16" name="TextBox 15">
            <a:extLst>
              <a:ext uri="{FF2B5EF4-FFF2-40B4-BE49-F238E27FC236}">
                <a16:creationId xmlns:a16="http://schemas.microsoft.com/office/drawing/2014/main" id="{341253D8-C292-40AA-43CF-AA46DD96E3C0}"/>
              </a:ext>
            </a:extLst>
          </p:cNvPr>
          <p:cNvSpPr txBox="1"/>
          <p:nvPr/>
        </p:nvSpPr>
        <p:spPr>
          <a:xfrm>
            <a:off x="9533109" y="2226004"/>
            <a:ext cx="1197934" cy="553998"/>
          </a:xfrm>
          <a:prstGeom prst="rect">
            <a:avLst/>
          </a:prstGeom>
          <a:noFill/>
        </p:spPr>
        <p:txBody>
          <a:bodyPr wrap="square">
            <a:spAutoFit/>
          </a:bodyPr>
          <a:lstStyle/>
          <a:p>
            <a:pPr algn="ctr"/>
            <a:r>
              <a:rPr lang="en-ES" sz="3000" b="1" dirty="0">
                <a:latin typeface="Bookman Old Style" panose="02050604050505020204" pitchFamily="18" charset="0"/>
                <a:ea typeface="Helvetica Neue" panose="02000503000000020004" pitchFamily="2" charset="0"/>
                <a:cs typeface="Helvetica Neue" panose="02000503000000020004" pitchFamily="2" charset="0"/>
              </a:rPr>
              <a:t>No</a:t>
            </a:r>
            <a:endParaRPr lang="en-ES" b="1" dirty="0"/>
          </a:p>
        </p:txBody>
      </p:sp>
      <p:sp>
        <p:nvSpPr>
          <p:cNvPr id="20" name="Title 9">
            <a:extLst>
              <a:ext uri="{FF2B5EF4-FFF2-40B4-BE49-F238E27FC236}">
                <a16:creationId xmlns:a16="http://schemas.microsoft.com/office/drawing/2014/main" id="{DFFB65B1-0E13-45CC-6D4D-49408EF1BD3B}"/>
              </a:ext>
            </a:extLst>
          </p:cNvPr>
          <p:cNvSpPr>
            <a:spLocks noGrp="1"/>
          </p:cNvSpPr>
          <p:nvPr>
            <p:ph type="title"/>
          </p:nvPr>
        </p:nvSpPr>
        <p:spPr>
          <a:xfrm>
            <a:off x="838200" y="-75331"/>
            <a:ext cx="10515600" cy="1325563"/>
          </a:xfrm>
        </p:spPr>
        <p:txBody>
          <a:bodyPr>
            <a:normAutofit/>
          </a:bodyPr>
          <a:lstStyle/>
          <a:p>
            <a:pPr algn="ctr"/>
            <a:r>
              <a:rPr lang="en-ES" sz="3000" dirty="0">
                <a:latin typeface="Bookman Old Style" panose="02050604050505020204" pitchFamily="18" charset="0"/>
                <a:ea typeface="Helvetica Neue" panose="02000503000000020004" pitchFamily="2" charset="0"/>
                <a:cs typeface="Helvetica Neue" panose="02000503000000020004" pitchFamily="2" charset="0"/>
              </a:rPr>
              <a:t>Split responses among non-philosophers</a:t>
            </a:r>
            <a:endParaRPr lang="en-ES" sz="3000" dirty="0">
              <a:latin typeface="Bookman Old Style" panose="02050604050505020204" pitchFamily="18" charset="0"/>
            </a:endParaRPr>
          </a:p>
        </p:txBody>
      </p:sp>
      <p:pic>
        <p:nvPicPr>
          <p:cNvPr id="21" name="Picture 20">
            <a:extLst>
              <a:ext uri="{FF2B5EF4-FFF2-40B4-BE49-F238E27FC236}">
                <a16:creationId xmlns:a16="http://schemas.microsoft.com/office/drawing/2014/main" id="{C86CC70E-2305-0265-CEF1-C1E09186D041}"/>
              </a:ext>
            </a:extLst>
          </p:cNvPr>
          <p:cNvPicPr>
            <a:picLocks noChangeAspect="1"/>
          </p:cNvPicPr>
          <p:nvPr/>
        </p:nvPicPr>
        <p:blipFill>
          <a:blip r:embed="rId6"/>
          <a:stretch>
            <a:fillRect/>
          </a:stretch>
        </p:blipFill>
        <p:spPr>
          <a:xfrm>
            <a:off x="3410360" y="1042510"/>
            <a:ext cx="4518989" cy="1689064"/>
          </a:xfrm>
          <a:prstGeom prst="rect">
            <a:avLst/>
          </a:prstGeom>
        </p:spPr>
      </p:pic>
      <p:pic>
        <p:nvPicPr>
          <p:cNvPr id="3" name="Picture 2" descr="A graph of different sizes and colors&#10;&#10;Description automatically generated with medium confidence">
            <a:extLst>
              <a:ext uri="{FF2B5EF4-FFF2-40B4-BE49-F238E27FC236}">
                <a16:creationId xmlns:a16="http://schemas.microsoft.com/office/drawing/2014/main" id="{F04F9FF8-1714-D24A-3993-D6EBEB9B2C08}"/>
              </a:ext>
            </a:extLst>
          </p:cNvPr>
          <p:cNvPicPr>
            <a:picLocks noChangeAspect="1"/>
          </p:cNvPicPr>
          <p:nvPr/>
        </p:nvPicPr>
        <p:blipFill rotWithShape="1">
          <a:blip r:embed="rId7"/>
          <a:srcRect t="4831" b="3043"/>
          <a:stretch/>
        </p:blipFill>
        <p:spPr>
          <a:xfrm>
            <a:off x="5741499" y="2503365"/>
            <a:ext cx="3567968" cy="2239615"/>
          </a:xfrm>
          <a:prstGeom prst="rect">
            <a:avLst/>
          </a:prstGeom>
        </p:spPr>
      </p:pic>
    </p:spTree>
    <p:extLst>
      <p:ext uri="{BB962C8B-B14F-4D97-AF65-F5344CB8AC3E}">
        <p14:creationId xmlns:p14="http://schemas.microsoft.com/office/powerpoint/2010/main" val="3688567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42955-D089-B2E7-178F-4287538E15D8}"/>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1EFBCC0C-6AD2-C97F-B0D9-FC9B408BF78D}"/>
              </a:ext>
            </a:extLst>
          </p:cNvPr>
          <p:cNvSpPr txBox="1"/>
          <p:nvPr/>
        </p:nvSpPr>
        <p:spPr>
          <a:xfrm>
            <a:off x="198134" y="912027"/>
            <a:ext cx="11701422" cy="553998"/>
          </a:xfrm>
          <a:prstGeom prst="rect">
            <a:avLst/>
          </a:prstGeom>
          <a:noFill/>
        </p:spPr>
        <p:txBody>
          <a:bodyPr wrap="square">
            <a:spAutoFit/>
          </a:bodyPr>
          <a:lstStyle/>
          <a:p>
            <a:pPr algn="ctr"/>
            <a:r>
              <a:rPr lang="en-ES" sz="3000" b="1" dirty="0">
                <a:latin typeface="Bookman Old Style" panose="02050604050505020204" pitchFamily="18" charset="0"/>
                <a:ea typeface="Helvetica Neue" panose="02000503000000020004" pitchFamily="2" charset="0"/>
                <a:cs typeface="Helvetica Neue" panose="02000503000000020004" pitchFamily="2" charset="0"/>
              </a:rPr>
              <a:t>Fifteen</a:t>
            </a:r>
            <a:r>
              <a:rPr lang="en-ES" sz="3000" dirty="0">
                <a:latin typeface="Bookman Old Style" panose="02050604050505020204" pitchFamily="18" charset="0"/>
                <a:ea typeface="Helvetica Neue" panose="02000503000000020004" pitchFamily="2" charset="0"/>
                <a:cs typeface="Helvetica Neue" panose="02000503000000020004" pitchFamily="2" charset="0"/>
              </a:rPr>
              <a:t> philosophical thought experiments </a:t>
            </a:r>
            <a:endParaRPr lang="en-ES" sz="3000" dirty="0"/>
          </a:p>
        </p:txBody>
      </p:sp>
      <p:pic>
        <p:nvPicPr>
          <p:cNvPr id="2" name="Picture 2" descr="The Trolley Problem | U-M LSA U-M College of LSA">
            <a:extLst>
              <a:ext uri="{FF2B5EF4-FFF2-40B4-BE49-F238E27FC236}">
                <a16:creationId xmlns:a16="http://schemas.microsoft.com/office/drawing/2014/main" id="{A4763BD8-3CDE-B1B5-9332-BF4B6112D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326" r="1992" b="-1"/>
          <a:stretch/>
        </p:blipFill>
        <p:spPr bwMode="auto">
          <a:xfrm>
            <a:off x="198134" y="2368831"/>
            <a:ext cx="2832070" cy="21236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hat is Free Will? – The Art of Storytelling">
            <a:extLst>
              <a:ext uri="{FF2B5EF4-FFF2-40B4-BE49-F238E27FC236}">
                <a16:creationId xmlns:a16="http://schemas.microsoft.com/office/drawing/2014/main" id="{D73F31BA-02C2-04B1-38CB-AB3B083FE3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8"/>
          <a:stretch/>
        </p:blipFill>
        <p:spPr bwMode="auto">
          <a:xfrm>
            <a:off x="3178939" y="2368828"/>
            <a:ext cx="2832069" cy="21236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 Was a Brain in a Vat | Think | Cambridge Core">
            <a:extLst>
              <a:ext uri="{FF2B5EF4-FFF2-40B4-BE49-F238E27FC236}">
                <a16:creationId xmlns:a16="http://schemas.microsoft.com/office/drawing/2014/main" id="{A1F3AF36-129D-C06C-0D3C-1CEC58C251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82" r="2" b="2"/>
          <a:stretch>
            <a:fillRect/>
          </a:stretch>
        </p:blipFill>
        <p:spPr bwMode="auto">
          <a:xfrm>
            <a:off x="6180993" y="2368834"/>
            <a:ext cx="2832069" cy="212365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he Ethical Spectrum: Consequences of Moral Absolutism and Relativism for  Global Society">
            <a:extLst>
              <a:ext uri="{FF2B5EF4-FFF2-40B4-BE49-F238E27FC236}">
                <a16:creationId xmlns:a16="http://schemas.microsoft.com/office/drawing/2014/main" id="{EE7BB745-5ED0-92CC-791F-4D8C50CC73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19"/>
          <a:stretch/>
        </p:blipFill>
        <p:spPr bwMode="auto">
          <a:xfrm>
            <a:off x="9161797" y="2368838"/>
            <a:ext cx="2832069" cy="21236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4310B1-5D18-1DB5-4C9B-0A07ED801D6B}"/>
              </a:ext>
            </a:extLst>
          </p:cNvPr>
          <p:cNvSpPr txBox="1"/>
          <p:nvPr/>
        </p:nvSpPr>
        <p:spPr>
          <a:xfrm>
            <a:off x="1084014" y="5048345"/>
            <a:ext cx="10023971" cy="1107996"/>
          </a:xfrm>
          <a:prstGeom prst="rect">
            <a:avLst/>
          </a:prstGeom>
          <a:noFill/>
        </p:spPr>
        <p:txBody>
          <a:bodyPr wrap="square">
            <a:spAutoFit/>
          </a:bodyPr>
          <a:lstStyle/>
          <a:p>
            <a:pPr algn="just"/>
            <a:r>
              <a:rPr lang="en-GB" sz="2200" dirty="0">
                <a:latin typeface="Bookman Old Style" panose="02050604050505020204" pitchFamily="18" charset="0"/>
              </a:rPr>
              <a:t>Ship of Theseus, </a:t>
            </a:r>
            <a:r>
              <a:rPr lang="en-GB" sz="2200" dirty="0" err="1">
                <a:latin typeface="Bookman Old Style" panose="02050604050505020204" pitchFamily="18" charset="0"/>
              </a:rPr>
              <a:t>Truetemp</a:t>
            </a:r>
            <a:r>
              <a:rPr lang="en-GB" sz="2200" dirty="0">
                <a:latin typeface="Bookman Old Style" panose="02050604050505020204" pitchFamily="18" charset="0"/>
              </a:rPr>
              <a:t>, Individuation, Phineas Gage, Lying, Robot Consciousness, Happiness, Death, Twin Earth, Double Prevention, Knowledge without Belief.</a:t>
            </a:r>
          </a:p>
        </p:txBody>
      </p:sp>
    </p:spTree>
    <p:extLst>
      <p:ext uri="{BB962C8B-B14F-4D97-AF65-F5344CB8AC3E}">
        <p14:creationId xmlns:p14="http://schemas.microsoft.com/office/powerpoint/2010/main" val="16303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D6DAC4-C80D-63B5-A47E-4E127A516358}"/>
              </a:ext>
            </a:extLst>
          </p:cNvPr>
          <p:cNvSpPr>
            <a:spLocks noGrp="1"/>
          </p:cNvSpPr>
          <p:nvPr>
            <p:ph type="title"/>
          </p:nvPr>
        </p:nvSpPr>
        <p:spPr>
          <a:xfrm>
            <a:off x="838200" y="54533"/>
            <a:ext cx="10515600" cy="1325563"/>
          </a:xfrm>
        </p:spPr>
        <p:txBody>
          <a:bodyPr>
            <a:normAutofit/>
          </a:bodyPr>
          <a:lstStyle/>
          <a:p>
            <a:pPr algn="ctr"/>
            <a:r>
              <a:rPr lang="en-ES" sz="3000" dirty="0">
                <a:latin typeface="Bookman Old Style" panose="02050604050505020204" pitchFamily="18" charset="0"/>
                <a:ea typeface="Helvetica Neue" panose="02000503000000020004" pitchFamily="2" charset="0"/>
                <a:cs typeface="Helvetica Neue" panose="02000503000000020004" pitchFamily="2" charset="0"/>
              </a:rPr>
              <a:t>Split responses among non-philosophers</a:t>
            </a:r>
            <a:endParaRPr lang="en-ES" sz="3000" dirty="0">
              <a:latin typeface="Bookman Old Style" panose="02050604050505020204" pitchFamily="18" charset="0"/>
            </a:endParaRPr>
          </a:p>
        </p:txBody>
      </p:sp>
      <p:sp>
        <p:nvSpPr>
          <p:cNvPr id="5" name="Content Placeholder 2">
            <a:extLst>
              <a:ext uri="{FF2B5EF4-FFF2-40B4-BE49-F238E27FC236}">
                <a16:creationId xmlns:a16="http://schemas.microsoft.com/office/drawing/2014/main" id="{323B154D-0BCD-607D-F941-D89EB686EB98}"/>
              </a:ext>
            </a:extLst>
          </p:cNvPr>
          <p:cNvSpPr>
            <a:spLocks noGrp="1"/>
          </p:cNvSpPr>
          <p:nvPr>
            <p:ph idx="1"/>
          </p:nvPr>
        </p:nvSpPr>
        <p:spPr>
          <a:xfrm>
            <a:off x="10287358" y="185777"/>
            <a:ext cx="1704345" cy="531537"/>
          </a:xfrm>
        </p:spPr>
        <p:txBody>
          <a:bodyPr>
            <a:normAutofit/>
          </a:bodyPr>
          <a:lstStyle/>
          <a:p>
            <a:pPr marL="0" indent="0">
              <a:buNone/>
            </a:pPr>
            <a:r>
              <a:rPr lang="en-ES" sz="2500" i="1" dirty="0">
                <a:latin typeface="Bookman Old Style" panose="02050604050505020204" pitchFamily="18" charset="0"/>
              </a:rPr>
              <a:t>N</a:t>
            </a:r>
            <a:r>
              <a:rPr lang="en-ES" sz="2500" dirty="0">
                <a:latin typeface="Bookman Old Style" panose="02050604050505020204" pitchFamily="18" charset="0"/>
              </a:rPr>
              <a:t> = 1617</a:t>
            </a:r>
          </a:p>
        </p:txBody>
      </p:sp>
      <p:pic>
        <p:nvPicPr>
          <p:cNvPr id="6" name="Picture 5" descr="https://thumb.wikimedia.org/wikipedia/commons/thumb/a/a4/Flag_of_the_United_States.svg/1280px-Flag_of_the_United_States.svg.png?utm_source=es.wikipedia.org&amp;utm_campaign=index&amp;utm_content=thumbnail">
            <a:extLst>
              <a:ext uri="{FF2B5EF4-FFF2-40B4-BE49-F238E27FC236}">
                <a16:creationId xmlns:a16="http://schemas.microsoft.com/office/drawing/2014/main" id="{1292AF55-379F-C61D-BA06-7C1E7AC5759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10916194" y="717314"/>
            <a:ext cx="875212" cy="460854"/>
          </a:xfrm>
          <a:prstGeom prst="rect">
            <a:avLst/>
          </a:prstGeom>
        </p:spPr>
      </p:pic>
      <p:pic>
        <p:nvPicPr>
          <p:cNvPr id="7" name="Picture 6">
            <a:extLst>
              <a:ext uri="{FF2B5EF4-FFF2-40B4-BE49-F238E27FC236}">
                <a16:creationId xmlns:a16="http://schemas.microsoft.com/office/drawing/2014/main" id="{8AF34EB6-EFD3-6C27-B653-9125CE276496}"/>
              </a:ext>
            </a:extLst>
          </p:cNvPr>
          <p:cNvPicPr>
            <a:picLocks noChangeAspect="1"/>
          </p:cNvPicPr>
          <p:nvPr/>
        </p:nvPicPr>
        <p:blipFill>
          <a:blip r:embed="rId4"/>
          <a:stretch>
            <a:fillRect/>
          </a:stretch>
        </p:blipFill>
        <p:spPr>
          <a:xfrm>
            <a:off x="1990997" y="1061399"/>
            <a:ext cx="7772400" cy="5824364"/>
          </a:xfrm>
          <a:prstGeom prst="rect">
            <a:avLst/>
          </a:prstGeom>
        </p:spPr>
      </p:pic>
    </p:spTree>
    <p:extLst>
      <p:ext uri="{BB962C8B-B14F-4D97-AF65-F5344CB8AC3E}">
        <p14:creationId xmlns:p14="http://schemas.microsoft.com/office/powerpoint/2010/main" val="1832320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00C3DBBB-9590-57E1-7B88-FD080624785F}"/>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1415322" y="165106"/>
            <a:ext cx="10507757" cy="6520505"/>
          </a:xfrm>
          <a:prstGeom prst="rect">
            <a:avLst/>
          </a:prstGeom>
        </p:spPr>
      </p:pic>
      <p:sp>
        <p:nvSpPr>
          <p:cNvPr id="12" name="Title 9">
            <a:extLst>
              <a:ext uri="{FF2B5EF4-FFF2-40B4-BE49-F238E27FC236}">
                <a16:creationId xmlns:a16="http://schemas.microsoft.com/office/drawing/2014/main" id="{99C70E7C-B251-E3AB-47F4-FADDEF35FBD6}"/>
              </a:ext>
            </a:extLst>
          </p:cNvPr>
          <p:cNvSpPr>
            <a:spLocks noGrp="1"/>
          </p:cNvSpPr>
          <p:nvPr>
            <p:ph type="title"/>
          </p:nvPr>
        </p:nvSpPr>
        <p:spPr>
          <a:xfrm>
            <a:off x="838200" y="2633440"/>
            <a:ext cx="10515600" cy="987167"/>
          </a:xfrm>
        </p:spPr>
        <p:txBody>
          <a:bodyPr>
            <a:normAutofit/>
          </a:bodyPr>
          <a:lstStyle/>
          <a:p>
            <a:pPr algn="ctr"/>
            <a:r>
              <a:rPr lang="en-ES" sz="3800" dirty="0">
                <a:latin typeface="Bookman Old Style" panose="02050604050505020204" pitchFamily="18" charset="0"/>
                <a:ea typeface="Helvetica Neue" panose="02000503000000020004" pitchFamily="2" charset="0"/>
                <a:cs typeface="Helvetica Neue" panose="02000503000000020004" pitchFamily="2" charset="0"/>
              </a:rPr>
              <a:t>Why?</a:t>
            </a:r>
            <a:endParaRPr lang="en-ES" sz="3800" dirty="0">
              <a:latin typeface="Bookman Old Style" panose="02050604050505020204" pitchFamily="18" charset="0"/>
            </a:endParaRPr>
          </a:p>
        </p:txBody>
      </p:sp>
    </p:spTree>
    <p:extLst>
      <p:ext uri="{BB962C8B-B14F-4D97-AF65-F5344CB8AC3E}">
        <p14:creationId xmlns:p14="http://schemas.microsoft.com/office/powerpoint/2010/main" val="3074896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9DC5A-A503-314F-B5E1-173625613FBC}"/>
            </a:ext>
          </a:extLst>
        </p:cNvPr>
        <p:cNvGrpSpPr/>
        <p:nvPr/>
      </p:nvGrpSpPr>
      <p:grpSpPr>
        <a:xfrm>
          <a:off x="0" y="0"/>
          <a:ext cx="0" cy="0"/>
          <a:chOff x="0" y="0"/>
          <a:chExt cx="0" cy="0"/>
        </a:xfrm>
      </p:grpSpPr>
      <p:sp>
        <p:nvSpPr>
          <p:cNvPr id="29" name="Rounded Rectangle 28">
            <a:extLst>
              <a:ext uri="{FF2B5EF4-FFF2-40B4-BE49-F238E27FC236}">
                <a16:creationId xmlns:a16="http://schemas.microsoft.com/office/drawing/2014/main" id="{1FA2C336-9DCA-FF92-51C0-6598DF02D207}"/>
              </a:ext>
            </a:extLst>
          </p:cNvPr>
          <p:cNvSpPr/>
          <p:nvPr/>
        </p:nvSpPr>
        <p:spPr>
          <a:xfrm>
            <a:off x="6622891" y="1066810"/>
            <a:ext cx="5225143" cy="5508631"/>
          </a:xfrm>
          <a:prstGeom prst="roundRect">
            <a:avLst>
              <a:gd name="adj" fmla="val 9667"/>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28" name="Rounded Rectangle 27">
            <a:extLst>
              <a:ext uri="{FF2B5EF4-FFF2-40B4-BE49-F238E27FC236}">
                <a16:creationId xmlns:a16="http://schemas.microsoft.com/office/drawing/2014/main" id="{D0A6EAC7-15D2-257A-A947-5BDE32F4EA3C}"/>
              </a:ext>
            </a:extLst>
          </p:cNvPr>
          <p:cNvSpPr/>
          <p:nvPr/>
        </p:nvSpPr>
        <p:spPr>
          <a:xfrm>
            <a:off x="343967" y="1066810"/>
            <a:ext cx="5225143" cy="5508631"/>
          </a:xfrm>
          <a:prstGeom prst="roundRect">
            <a:avLst>
              <a:gd name="adj" fmla="val 9667"/>
            </a:avLst>
          </a:prstGeom>
          <a:solidFill>
            <a:schemeClr val="accent1">
              <a:lumMod val="20000"/>
              <a:lumOff val="8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dirty="0"/>
          </a:p>
        </p:txBody>
      </p:sp>
      <p:sp>
        <p:nvSpPr>
          <p:cNvPr id="9" name="TextBox 8">
            <a:extLst>
              <a:ext uri="{FF2B5EF4-FFF2-40B4-BE49-F238E27FC236}">
                <a16:creationId xmlns:a16="http://schemas.microsoft.com/office/drawing/2014/main" id="{A9E58D94-58E1-492B-08CF-9755C2C4A25D}"/>
              </a:ext>
            </a:extLst>
          </p:cNvPr>
          <p:cNvSpPr txBox="1"/>
          <p:nvPr/>
        </p:nvSpPr>
        <p:spPr>
          <a:xfrm>
            <a:off x="0" y="4955130"/>
            <a:ext cx="6095999" cy="1446550"/>
          </a:xfrm>
          <a:prstGeom prst="rect">
            <a:avLst/>
          </a:prstGeom>
          <a:noFill/>
        </p:spPr>
        <p:txBody>
          <a:bodyPr wrap="square">
            <a:spAutoFit/>
          </a:bodyPr>
          <a:lstStyle/>
          <a:p>
            <a:pPr algn="ctr"/>
            <a:r>
              <a:rPr lang="en-US" sz="4400" dirty="0">
                <a:latin typeface="Bookman Old Style" panose="02050604050505020204" pitchFamily="18" charset="0"/>
              </a:rPr>
              <a:t>Different </a:t>
            </a:r>
          </a:p>
          <a:p>
            <a:pPr algn="ctr"/>
            <a:r>
              <a:rPr lang="en-US" sz="4400" dirty="0">
                <a:latin typeface="Bookman Old Style" panose="02050604050505020204" pitchFamily="18" charset="0"/>
              </a:rPr>
              <a:t>intuitions</a:t>
            </a:r>
            <a:endParaRPr lang="en-ES" dirty="0"/>
          </a:p>
        </p:txBody>
      </p:sp>
      <p:sp>
        <p:nvSpPr>
          <p:cNvPr id="15" name="TextBox 14">
            <a:extLst>
              <a:ext uri="{FF2B5EF4-FFF2-40B4-BE49-F238E27FC236}">
                <a16:creationId xmlns:a16="http://schemas.microsoft.com/office/drawing/2014/main" id="{B2791C05-B8E6-008B-BBB5-B6EA573D04BD}"/>
              </a:ext>
            </a:extLst>
          </p:cNvPr>
          <p:cNvSpPr txBox="1"/>
          <p:nvPr/>
        </p:nvSpPr>
        <p:spPr>
          <a:xfrm>
            <a:off x="6096001" y="4970628"/>
            <a:ext cx="6095998" cy="1446550"/>
          </a:xfrm>
          <a:prstGeom prst="rect">
            <a:avLst/>
          </a:prstGeom>
          <a:noFill/>
        </p:spPr>
        <p:txBody>
          <a:bodyPr wrap="square">
            <a:spAutoFit/>
          </a:bodyPr>
          <a:lstStyle/>
          <a:p>
            <a:pPr algn="ctr"/>
            <a:r>
              <a:rPr lang="en-US" sz="4400" dirty="0">
                <a:latin typeface="Bookman Old Style" panose="02050604050505020204" pitchFamily="18" charset="0"/>
              </a:rPr>
              <a:t>Conflicting </a:t>
            </a:r>
          </a:p>
          <a:p>
            <a:pPr algn="ctr"/>
            <a:r>
              <a:rPr lang="en-US" sz="4400" dirty="0">
                <a:latin typeface="Bookman Old Style" panose="02050604050505020204" pitchFamily="18" charset="0"/>
              </a:rPr>
              <a:t>intuitions</a:t>
            </a:r>
            <a:endParaRPr lang="en-ES" dirty="0"/>
          </a:p>
        </p:txBody>
      </p:sp>
      <p:pic>
        <p:nvPicPr>
          <p:cNvPr id="3" name="Picture 2">
            <a:extLst>
              <a:ext uri="{FF2B5EF4-FFF2-40B4-BE49-F238E27FC236}">
                <a16:creationId xmlns:a16="http://schemas.microsoft.com/office/drawing/2014/main" id="{E3B11336-1D6A-093F-9AA9-71D0A5941D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211"/>
          <a:stretch>
            <a:fillRect/>
          </a:stretch>
        </p:blipFill>
        <p:spPr bwMode="auto">
          <a:xfrm>
            <a:off x="1248487" y="3223006"/>
            <a:ext cx="1053465" cy="141057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9BA43926-E044-2A4A-E9BF-A482BE24D5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211"/>
          <a:stretch>
            <a:fillRect/>
          </a:stretch>
        </p:blipFill>
        <p:spPr bwMode="auto">
          <a:xfrm>
            <a:off x="3409910" y="3223006"/>
            <a:ext cx="1051241" cy="1407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CEFA9EE-ED54-E499-9B7E-384837A344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211"/>
          <a:stretch>
            <a:fillRect/>
          </a:stretch>
        </p:blipFill>
        <p:spPr bwMode="auto">
          <a:xfrm>
            <a:off x="7777141" y="3223006"/>
            <a:ext cx="1053465" cy="141057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A0756226-1327-C881-F3A0-882ED80A7E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211"/>
          <a:stretch>
            <a:fillRect/>
          </a:stretch>
        </p:blipFill>
        <p:spPr bwMode="auto">
          <a:xfrm>
            <a:off x="9891159" y="3223006"/>
            <a:ext cx="1051241" cy="140760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9">
            <a:extLst>
              <a:ext uri="{FF2B5EF4-FFF2-40B4-BE49-F238E27FC236}">
                <a16:creationId xmlns:a16="http://schemas.microsoft.com/office/drawing/2014/main" id="{F272246E-64CB-A969-C6E2-C8EFF512F901}"/>
              </a:ext>
            </a:extLst>
          </p:cNvPr>
          <p:cNvSpPr>
            <a:spLocks noGrp="1"/>
          </p:cNvSpPr>
          <p:nvPr>
            <p:ph type="title"/>
          </p:nvPr>
        </p:nvSpPr>
        <p:spPr>
          <a:xfrm>
            <a:off x="838200" y="54533"/>
            <a:ext cx="10515600" cy="987167"/>
          </a:xfrm>
        </p:spPr>
        <p:txBody>
          <a:bodyPr>
            <a:normAutofit/>
          </a:bodyPr>
          <a:lstStyle/>
          <a:p>
            <a:pPr algn="ctr"/>
            <a:r>
              <a:rPr lang="en-ES" sz="3000" dirty="0">
                <a:latin typeface="Bookman Old Style" panose="02050604050505020204" pitchFamily="18" charset="0"/>
                <a:ea typeface="Helvetica Neue" panose="02000503000000020004" pitchFamily="2" charset="0"/>
                <a:cs typeface="Helvetica Neue" panose="02000503000000020004" pitchFamily="2" charset="0"/>
              </a:rPr>
              <a:t>Why?</a:t>
            </a:r>
            <a:endParaRPr lang="en-ES" sz="3000" dirty="0">
              <a:latin typeface="Bookman Old Style" panose="02050604050505020204" pitchFamily="18" charset="0"/>
            </a:endParaRPr>
          </a:p>
        </p:txBody>
      </p:sp>
      <p:pic>
        <p:nvPicPr>
          <p:cNvPr id="31" name="Graphic 30" descr="Thought bubble outline">
            <a:extLst>
              <a:ext uri="{FF2B5EF4-FFF2-40B4-BE49-F238E27FC236}">
                <a16:creationId xmlns:a16="http://schemas.microsoft.com/office/drawing/2014/main" id="{D59E4849-7E6F-C0E9-68CF-AFEDCCD3FD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6928" y="1959390"/>
            <a:ext cx="1238506" cy="1238506"/>
          </a:xfrm>
          <a:prstGeom prst="rect">
            <a:avLst/>
          </a:prstGeom>
        </p:spPr>
      </p:pic>
      <p:pic>
        <p:nvPicPr>
          <p:cNvPr id="33" name="Graphic 32" descr="Thought bubble outline">
            <a:extLst>
              <a:ext uri="{FF2B5EF4-FFF2-40B4-BE49-F238E27FC236}">
                <a16:creationId xmlns:a16="http://schemas.microsoft.com/office/drawing/2014/main" id="{5BF4D2D6-43D7-DEFC-0052-8C5815DC33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838200" y="1959390"/>
            <a:ext cx="1238506" cy="1238506"/>
          </a:xfrm>
          <a:prstGeom prst="rect">
            <a:avLst/>
          </a:prstGeom>
        </p:spPr>
      </p:pic>
      <p:pic>
        <p:nvPicPr>
          <p:cNvPr id="40" name="Graphic 39" descr="Thought bubble outline">
            <a:extLst>
              <a:ext uri="{FF2B5EF4-FFF2-40B4-BE49-F238E27FC236}">
                <a16:creationId xmlns:a16="http://schemas.microsoft.com/office/drawing/2014/main" id="{931ED525-9648-E52F-8C57-0B5089CB9D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4335" y="2186511"/>
            <a:ext cx="914400" cy="914400"/>
          </a:xfrm>
          <a:prstGeom prst="rect">
            <a:avLst/>
          </a:prstGeom>
        </p:spPr>
      </p:pic>
      <p:pic>
        <p:nvPicPr>
          <p:cNvPr id="41" name="Graphic 40" descr="Thought bubble outline">
            <a:extLst>
              <a:ext uri="{FF2B5EF4-FFF2-40B4-BE49-F238E27FC236}">
                <a16:creationId xmlns:a16="http://schemas.microsoft.com/office/drawing/2014/main" id="{B1D2CA97-A922-6026-64E3-2669F9E71D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83974" y="2243616"/>
            <a:ext cx="914400" cy="914400"/>
          </a:xfrm>
          <a:prstGeom prst="rect">
            <a:avLst/>
          </a:prstGeom>
        </p:spPr>
      </p:pic>
      <p:sp>
        <p:nvSpPr>
          <p:cNvPr id="43" name="TextBox 42">
            <a:extLst>
              <a:ext uri="{FF2B5EF4-FFF2-40B4-BE49-F238E27FC236}">
                <a16:creationId xmlns:a16="http://schemas.microsoft.com/office/drawing/2014/main" id="{D2E7D49E-AEEC-CA6B-51F1-CC4730D47DC2}"/>
              </a:ext>
            </a:extLst>
          </p:cNvPr>
          <p:cNvSpPr txBox="1"/>
          <p:nvPr/>
        </p:nvSpPr>
        <p:spPr>
          <a:xfrm>
            <a:off x="1134413" y="2228076"/>
            <a:ext cx="662581" cy="400110"/>
          </a:xfrm>
          <a:prstGeom prst="rect">
            <a:avLst/>
          </a:prstGeom>
          <a:noFill/>
        </p:spPr>
        <p:txBody>
          <a:bodyPr wrap="square">
            <a:spAutoFit/>
          </a:bodyPr>
          <a:lstStyle/>
          <a:p>
            <a:pPr algn="ctr"/>
            <a:r>
              <a:rPr lang="en-ES" sz="2000" dirty="0">
                <a:latin typeface="Bookman Old Style" panose="02050604050505020204" pitchFamily="18" charset="0"/>
                <a:ea typeface="Helvetica Neue" panose="02000503000000020004" pitchFamily="2" charset="0"/>
                <a:cs typeface="Helvetica Neue" panose="02000503000000020004" pitchFamily="2" charset="0"/>
              </a:rPr>
              <a:t>Yes</a:t>
            </a:r>
            <a:endParaRPr lang="en-ES" sz="2000" dirty="0"/>
          </a:p>
        </p:txBody>
      </p:sp>
      <p:sp>
        <p:nvSpPr>
          <p:cNvPr id="44" name="TextBox 43">
            <a:extLst>
              <a:ext uri="{FF2B5EF4-FFF2-40B4-BE49-F238E27FC236}">
                <a16:creationId xmlns:a16="http://schemas.microsoft.com/office/drawing/2014/main" id="{B1159A38-AA74-A569-6C8E-CBB94DCEF594}"/>
              </a:ext>
            </a:extLst>
          </p:cNvPr>
          <p:cNvSpPr txBox="1"/>
          <p:nvPr/>
        </p:nvSpPr>
        <p:spPr>
          <a:xfrm>
            <a:off x="4000431" y="2228076"/>
            <a:ext cx="662581" cy="400110"/>
          </a:xfrm>
          <a:prstGeom prst="rect">
            <a:avLst/>
          </a:prstGeom>
          <a:noFill/>
        </p:spPr>
        <p:txBody>
          <a:bodyPr wrap="square">
            <a:spAutoFit/>
          </a:bodyPr>
          <a:lstStyle/>
          <a:p>
            <a:pPr algn="ctr"/>
            <a:r>
              <a:rPr lang="en-ES" sz="2000" dirty="0">
                <a:latin typeface="Bookman Old Style" panose="02050604050505020204" pitchFamily="18" charset="0"/>
                <a:ea typeface="Helvetica Neue" panose="02000503000000020004" pitchFamily="2" charset="0"/>
                <a:cs typeface="Helvetica Neue" panose="02000503000000020004" pitchFamily="2" charset="0"/>
              </a:rPr>
              <a:t>No</a:t>
            </a:r>
            <a:endParaRPr lang="en-ES" sz="2000" dirty="0"/>
          </a:p>
        </p:txBody>
      </p:sp>
      <p:pic>
        <p:nvPicPr>
          <p:cNvPr id="45" name="Graphic 44" descr="Thought bubble outline">
            <a:extLst>
              <a:ext uri="{FF2B5EF4-FFF2-40B4-BE49-F238E27FC236}">
                <a16:creationId xmlns:a16="http://schemas.microsoft.com/office/drawing/2014/main" id="{96DC4FBB-B85F-E207-3364-2E121A7F36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6961705" y="2338911"/>
            <a:ext cx="914400" cy="914400"/>
          </a:xfrm>
          <a:prstGeom prst="rect">
            <a:avLst/>
          </a:prstGeom>
        </p:spPr>
      </p:pic>
      <p:pic>
        <p:nvPicPr>
          <p:cNvPr id="46" name="Graphic 45" descr="Thought bubble outline">
            <a:extLst>
              <a:ext uri="{FF2B5EF4-FFF2-40B4-BE49-F238E27FC236}">
                <a16:creationId xmlns:a16="http://schemas.microsoft.com/office/drawing/2014/main" id="{92C0D5A0-46C0-DB82-4F2E-68D6A018B8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9601344" y="2396016"/>
            <a:ext cx="914400" cy="914400"/>
          </a:xfrm>
          <a:prstGeom prst="rect">
            <a:avLst/>
          </a:prstGeom>
        </p:spPr>
      </p:pic>
      <p:sp>
        <p:nvSpPr>
          <p:cNvPr id="47" name="TextBox 46">
            <a:extLst>
              <a:ext uri="{FF2B5EF4-FFF2-40B4-BE49-F238E27FC236}">
                <a16:creationId xmlns:a16="http://schemas.microsoft.com/office/drawing/2014/main" id="{C743683A-8E2B-7264-BE9C-F57CCE563FF3}"/>
              </a:ext>
            </a:extLst>
          </p:cNvPr>
          <p:cNvSpPr txBox="1"/>
          <p:nvPr/>
        </p:nvSpPr>
        <p:spPr>
          <a:xfrm>
            <a:off x="8168025" y="2338911"/>
            <a:ext cx="662581" cy="400110"/>
          </a:xfrm>
          <a:prstGeom prst="rect">
            <a:avLst/>
          </a:prstGeom>
          <a:noFill/>
        </p:spPr>
        <p:txBody>
          <a:bodyPr wrap="square">
            <a:spAutoFit/>
          </a:bodyPr>
          <a:lstStyle/>
          <a:p>
            <a:pPr algn="ctr"/>
            <a:r>
              <a:rPr lang="en-ES" sz="2000" dirty="0">
                <a:latin typeface="Bookman Old Style" panose="02050604050505020204" pitchFamily="18" charset="0"/>
                <a:ea typeface="Helvetica Neue" panose="02000503000000020004" pitchFamily="2" charset="0"/>
                <a:cs typeface="Helvetica Neue" panose="02000503000000020004" pitchFamily="2" charset="0"/>
              </a:rPr>
              <a:t>No</a:t>
            </a:r>
            <a:endParaRPr lang="en-ES" sz="2000" dirty="0"/>
          </a:p>
        </p:txBody>
      </p:sp>
      <p:sp>
        <p:nvSpPr>
          <p:cNvPr id="48" name="TextBox 47">
            <a:extLst>
              <a:ext uri="{FF2B5EF4-FFF2-40B4-BE49-F238E27FC236}">
                <a16:creationId xmlns:a16="http://schemas.microsoft.com/office/drawing/2014/main" id="{BBA24B5A-BFED-CD2F-CCCC-D8C65AC69177}"/>
              </a:ext>
            </a:extLst>
          </p:cNvPr>
          <p:cNvSpPr txBox="1"/>
          <p:nvPr/>
        </p:nvSpPr>
        <p:spPr>
          <a:xfrm>
            <a:off x="10809883" y="2378588"/>
            <a:ext cx="662581" cy="400110"/>
          </a:xfrm>
          <a:prstGeom prst="rect">
            <a:avLst/>
          </a:prstGeom>
          <a:noFill/>
        </p:spPr>
        <p:txBody>
          <a:bodyPr wrap="square">
            <a:spAutoFit/>
          </a:bodyPr>
          <a:lstStyle/>
          <a:p>
            <a:pPr algn="ctr"/>
            <a:r>
              <a:rPr lang="en-ES" sz="2000" dirty="0">
                <a:latin typeface="Bookman Old Style" panose="02050604050505020204" pitchFamily="18" charset="0"/>
                <a:ea typeface="Helvetica Neue" panose="02000503000000020004" pitchFamily="2" charset="0"/>
                <a:cs typeface="Helvetica Neue" panose="02000503000000020004" pitchFamily="2" charset="0"/>
              </a:rPr>
              <a:t>No</a:t>
            </a:r>
            <a:endParaRPr lang="en-ES" sz="2000" dirty="0"/>
          </a:p>
        </p:txBody>
      </p:sp>
      <p:sp>
        <p:nvSpPr>
          <p:cNvPr id="49" name="TextBox 48">
            <a:extLst>
              <a:ext uri="{FF2B5EF4-FFF2-40B4-BE49-F238E27FC236}">
                <a16:creationId xmlns:a16="http://schemas.microsoft.com/office/drawing/2014/main" id="{7927B4F7-F943-2ADE-B68E-ADF7A012E267}"/>
              </a:ext>
            </a:extLst>
          </p:cNvPr>
          <p:cNvSpPr txBox="1"/>
          <p:nvPr/>
        </p:nvSpPr>
        <p:spPr>
          <a:xfrm>
            <a:off x="7096537" y="2497050"/>
            <a:ext cx="662581" cy="400110"/>
          </a:xfrm>
          <a:prstGeom prst="rect">
            <a:avLst/>
          </a:prstGeom>
          <a:noFill/>
        </p:spPr>
        <p:txBody>
          <a:bodyPr wrap="square">
            <a:spAutoFit/>
          </a:bodyPr>
          <a:lstStyle/>
          <a:p>
            <a:pPr algn="ctr"/>
            <a:r>
              <a:rPr lang="en-ES" sz="2000" dirty="0">
                <a:latin typeface="Bookman Old Style" panose="02050604050505020204" pitchFamily="18" charset="0"/>
                <a:ea typeface="Helvetica Neue" panose="02000503000000020004" pitchFamily="2" charset="0"/>
                <a:cs typeface="Helvetica Neue" panose="02000503000000020004" pitchFamily="2" charset="0"/>
              </a:rPr>
              <a:t>Yes</a:t>
            </a:r>
            <a:endParaRPr lang="en-ES" sz="2000" dirty="0"/>
          </a:p>
        </p:txBody>
      </p:sp>
      <p:sp>
        <p:nvSpPr>
          <p:cNvPr id="50" name="TextBox 49">
            <a:extLst>
              <a:ext uri="{FF2B5EF4-FFF2-40B4-BE49-F238E27FC236}">
                <a16:creationId xmlns:a16="http://schemas.microsoft.com/office/drawing/2014/main" id="{106FB769-8456-DF03-C84C-3C9EC9DAA823}"/>
              </a:ext>
            </a:extLst>
          </p:cNvPr>
          <p:cNvSpPr txBox="1"/>
          <p:nvPr/>
        </p:nvSpPr>
        <p:spPr>
          <a:xfrm>
            <a:off x="9727253" y="2546979"/>
            <a:ext cx="662581" cy="400110"/>
          </a:xfrm>
          <a:prstGeom prst="rect">
            <a:avLst/>
          </a:prstGeom>
          <a:noFill/>
        </p:spPr>
        <p:txBody>
          <a:bodyPr wrap="square">
            <a:spAutoFit/>
          </a:bodyPr>
          <a:lstStyle/>
          <a:p>
            <a:pPr algn="ctr"/>
            <a:r>
              <a:rPr lang="en-ES" sz="2000" dirty="0">
                <a:latin typeface="Bookman Old Style" panose="02050604050505020204" pitchFamily="18" charset="0"/>
                <a:ea typeface="Helvetica Neue" panose="02000503000000020004" pitchFamily="2" charset="0"/>
                <a:cs typeface="Helvetica Neue" panose="02000503000000020004" pitchFamily="2" charset="0"/>
              </a:rPr>
              <a:t>Yes</a:t>
            </a:r>
            <a:endParaRPr lang="en-ES" sz="2000" dirty="0"/>
          </a:p>
        </p:txBody>
      </p:sp>
    </p:spTree>
    <p:extLst>
      <p:ext uri="{BB962C8B-B14F-4D97-AF65-F5344CB8AC3E}">
        <p14:creationId xmlns:p14="http://schemas.microsoft.com/office/powerpoint/2010/main" val="2327321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FD37FFD-43C8-A914-74C1-27EEBF415F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5" b="9140"/>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A6251617-25AD-9B88-B485-AADCFB45AE3A}"/>
              </a:ext>
            </a:extLst>
          </p:cNvPr>
          <p:cNvSpPr>
            <a:spLocks noGrp="1"/>
          </p:cNvSpPr>
          <p:nvPr>
            <p:ph type="title"/>
          </p:nvPr>
        </p:nvSpPr>
        <p:spPr>
          <a:xfrm>
            <a:off x="7072907" y="1490168"/>
            <a:ext cx="4442992" cy="818633"/>
          </a:xfrm>
          <a:solidFill>
            <a:schemeClr val="bg1">
              <a:alpha val="40122"/>
            </a:schemeClr>
          </a:solidFill>
          <a:ln>
            <a:noFill/>
          </a:ln>
        </p:spPr>
        <p:txBody>
          <a:bodyPr>
            <a:normAutofit/>
          </a:bodyPr>
          <a:lstStyle/>
          <a:p>
            <a:pPr algn="ctr"/>
            <a:r>
              <a:rPr lang="en-US" sz="3000" dirty="0">
                <a:latin typeface="Bookman Old Style" panose="02050604050505020204" pitchFamily="18" charset="0"/>
              </a:rPr>
              <a:t>The ‘both’ question</a:t>
            </a:r>
          </a:p>
        </p:txBody>
      </p:sp>
      <p:sp>
        <p:nvSpPr>
          <p:cNvPr id="4" name="Content Placeholder 3">
            <a:extLst>
              <a:ext uri="{FF2B5EF4-FFF2-40B4-BE49-F238E27FC236}">
                <a16:creationId xmlns:a16="http://schemas.microsoft.com/office/drawing/2014/main" id="{3DF51BF8-5E4D-9141-F476-DE29CCAA891F}"/>
              </a:ext>
            </a:extLst>
          </p:cNvPr>
          <p:cNvSpPr>
            <a:spLocks noGrp="1"/>
          </p:cNvSpPr>
          <p:nvPr>
            <p:ph idx="1"/>
          </p:nvPr>
        </p:nvSpPr>
        <p:spPr>
          <a:xfrm>
            <a:off x="0" y="4759890"/>
            <a:ext cx="12192000" cy="2152522"/>
          </a:xfrm>
          <a:solidFill>
            <a:schemeClr val="bg2">
              <a:lumMod val="90000"/>
              <a:alpha val="80000"/>
            </a:schemeClr>
          </a:solidFill>
          <a:ln w="15875">
            <a:noFill/>
          </a:ln>
        </p:spPr>
        <p:txBody>
          <a:bodyPr anchor="ctr">
            <a:normAutofit/>
          </a:bodyPr>
          <a:lstStyle/>
          <a:p>
            <a:pPr marL="0" indent="0" algn="just">
              <a:buNone/>
            </a:pPr>
            <a:r>
              <a:rPr lang="en-US" sz="2500" dirty="0">
                <a:latin typeface="Bookman Old Style" panose="02050604050505020204" pitchFamily="18" charset="0"/>
              </a:rPr>
              <a:t>On the previous page, you answered that </a:t>
            </a:r>
            <a:r>
              <a:rPr lang="en-US" sz="2500" dirty="0">
                <a:solidFill>
                  <a:schemeClr val="accent5">
                    <a:lumMod val="50000"/>
                  </a:schemeClr>
                </a:solidFill>
                <a:latin typeface="Bookman Old Style" panose="02050604050505020204" pitchFamily="18" charset="0"/>
              </a:rPr>
              <a:t>the person after the accident is still Phineas</a:t>
            </a:r>
            <a:r>
              <a:rPr lang="en-US" sz="2500" dirty="0">
                <a:latin typeface="Bookman Old Style" panose="02050604050505020204" pitchFamily="18" charset="0"/>
              </a:rPr>
              <a:t>. Even though you concluded in the end that this was the right answer, we want to know whether you initially felt pulled in both directions. </a:t>
            </a:r>
          </a:p>
        </p:txBody>
      </p:sp>
    </p:spTree>
    <p:extLst>
      <p:ext uri="{BB962C8B-B14F-4D97-AF65-F5344CB8AC3E}">
        <p14:creationId xmlns:p14="http://schemas.microsoft.com/office/powerpoint/2010/main" val="325727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8893-37D1-5E5C-DBDC-A1318FEB2B64}"/>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02940EAE-4E46-3D0D-D919-84307A9F70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5" b="9140"/>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FF0C894-9407-D253-E816-619CAEFD2377}"/>
              </a:ext>
            </a:extLst>
          </p:cNvPr>
          <p:cNvSpPr>
            <a:spLocks noGrp="1"/>
          </p:cNvSpPr>
          <p:nvPr>
            <p:ph type="title"/>
          </p:nvPr>
        </p:nvSpPr>
        <p:spPr>
          <a:xfrm>
            <a:off x="7072907" y="1490168"/>
            <a:ext cx="4442992" cy="818633"/>
          </a:xfrm>
          <a:solidFill>
            <a:schemeClr val="bg1">
              <a:alpha val="40122"/>
            </a:schemeClr>
          </a:solidFill>
          <a:ln>
            <a:noFill/>
          </a:ln>
        </p:spPr>
        <p:txBody>
          <a:bodyPr>
            <a:normAutofit/>
          </a:bodyPr>
          <a:lstStyle/>
          <a:p>
            <a:pPr algn="ctr"/>
            <a:r>
              <a:rPr lang="en-US" sz="3000" dirty="0">
                <a:latin typeface="Bookman Old Style" panose="02050604050505020204" pitchFamily="18" charset="0"/>
              </a:rPr>
              <a:t>The ‘both’ question</a:t>
            </a:r>
          </a:p>
        </p:txBody>
      </p:sp>
      <p:sp>
        <p:nvSpPr>
          <p:cNvPr id="4" name="Content Placeholder 3">
            <a:extLst>
              <a:ext uri="{FF2B5EF4-FFF2-40B4-BE49-F238E27FC236}">
                <a16:creationId xmlns:a16="http://schemas.microsoft.com/office/drawing/2014/main" id="{3FEAE28D-1E7A-FD42-6698-9534FD01B39D}"/>
              </a:ext>
            </a:extLst>
          </p:cNvPr>
          <p:cNvSpPr>
            <a:spLocks noGrp="1"/>
          </p:cNvSpPr>
          <p:nvPr>
            <p:ph idx="1"/>
          </p:nvPr>
        </p:nvSpPr>
        <p:spPr>
          <a:xfrm>
            <a:off x="0" y="4759890"/>
            <a:ext cx="12192000" cy="2152522"/>
          </a:xfrm>
          <a:solidFill>
            <a:schemeClr val="bg2">
              <a:lumMod val="90000"/>
              <a:alpha val="80000"/>
            </a:schemeClr>
          </a:solidFill>
          <a:ln w="15875">
            <a:noFill/>
          </a:ln>
        </p:spPr>
        <p:txBody>
          <a:bodyPr anchor="ctr">
            <a:normAutofit/>
          </a:bodyPr>
          <a:lstStyle/>
          <a:p>
            <a:pPr marL="0" indent="0" algn="just">
              <a:buNone/>
            </a:pPr>
            <a:r>
              <a:rPr lang="en-US" sz="2500" dirty="0">
                <a:latin typeface="Bookman Old Style" panose="02050604050505020204" pitchFamily="18" charset="0"/>
              </a:rPr>
              <a:t>When answering did you also have the feeling that </a:t>
            </a:r>
            <a:r>
              <a:rPr lang="en-US" sz="2500" dirty="0">
                <a:solidFill>
                  <a:schemeClr val="accent5">
                    <a:lumMod val="50000"/>
                  </a:schemeClr>
                </a:solidFill>
                <a:latin typeface="Bookman Old Style" panose="02050604050505020204" pitchFamily="18" charset="0"/>
              </a:rPr>
              <a:t>the person after the accident is not Phineas anymore</a:t>
            </a:r>
            <a:r>
              <a:rPr lang="en-US" sz="2500" dirty="0">
                <a:latin typeface="Bookman Old Style" panose="02050604050505020204" pitchFamily="18" charset="0"/>
              </a:rPr>
              <a:t>, or did you not have that feeling?</a:t>
            </a:r>
          </a:p>
          <a:p>
            <a:pPr marL="0" indent="0" algn="just">
              <a:buNone/>
            </a:pPr>
            <a:endParaRPr lang="en-US" sz="2500" dirty="0">
              <a:latin typeface="Bookman Old Style" panose="02050604050505020204" pitchFamily="18" charset="0"/>
            </a:endParaRPr>
          </a:p>
          <a:p>
            <a:pPr marL="0" indent="0" algn="just">
              <a:buNone/>
            </a:pPr>
            <a:endParaRPr lang="en-US" sz="2500" dirty="0">
              <a:latin typeface="Bookman Old Style" panose="02050604050505020204" pitchFamily="18" charset="0"/>
            </a:endParaRPr>
          </a:p>
        </p:txBody>
      </p:sp>
      <p:sp>
        <p:nvSpPr>
          <p:cNvPr id="2" name="Rounded Rectangle 1">
            <a:extLst>
              <a:ext uri="{FF2B5EF4-FFF2-40B4-BE49-F238E27FC236}">
                <a16:creationId xmlns:a16="http://schemas.microsoft.com/office/drawing/2014/main" id="{97D22D37-7298-DBAD-4C17-A8736DF2F24C}"/>
              </a:ext>
            </a:extLst>
          </p:cNvPr>
          <p:cNvSpPr/>
          <p:nvPr/>
        </p:nvSpPr>
        <p:spPr>
          <a:xfrm>
            <a:off x="1743276" y="6030739"/>
            <a:ext cx="2520000" cy="540000"/>
          </a:xfrm>
          <a:prstGeom prst="roundRect">
            <a:avLst>
              <a:gd name="adj" fmla="val 9667"/>
            </a:avLst>
          </a:prstGeom>
          <a:solidFill>
            <a:schemeClr val="accent1">
              <a:lumMod val="20000"/>
              <a:lumOff val="8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sz="2300" dirty="0">
                <a:solidFill>
                  <a:schemeClr val="tx1"/>
                </a:solidFill>
                <a:latin typeface="Bookman Old Style" panose="02050604050505020204" pitchFamily="18" charset="0"/>
              </a:rPr>
              <a:t>No, I did not.</a:t>
            </a:r>
          </a:p>
        </p:txBody>
      </p:sp>
      <p:sp>
        <p:nvSpPr>
          <p:cNvPr id="5" name="Rounded Rectangle 4">
            <a:extLst>
              <a:ext uri="{FF2B5EF4-FFF2-40B4-BE49-F238E27FC236}">
                <a16:creationId xmlns:a16="http://schemas.microsoft.com/office/drawing/2014/main" id="{9CD78D13-65A5-8EF9-1E54-2D1F6133A094}"/>
              </a:ext>
            </a:extLst>
          </p:cNvPr>
          <p:cNvSpPr/>
          <p:nvPr/>
        </p:nvSpPr>
        <p:spPr>
          <a:xfrm>
            <a:off x="8214403" y="6030739"/>
            <a:ext cx="2520000" cy="540000"/>
          </a:xfrm>
          <a:prstGeom prst="roundRect">
            <a:avLst>
              <a:gd name="adj" fmla="val 9667"/>
            </a:avLst>
          </a:prstGeom>
          <a:solidFill>
            <a:schemeClr val="accent2">
              <a:lumMod val="20000"/>
              <a:lumOff val="8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sz="2300" dirty="0">
                <a:solidFill>
                  <a:schemeClr val="tx1"/>
                </a:solidFill>
                <a:latin typeface="Bookman Old Style" panose="02050604050505020204" pitchFamily="18" charset="0"/>
              </a:rPr>
              <a:t>Yes, I did.</a:t>
            </a:r>
          </a:p>
        </p:txBody>
      </p:sp>
    </p:spTree>
    <p:extLst>
      <p:ext uri="{BB962C8B-B14F-4D97-AF65-F5344CB8AC3E}">
        <p14:creationId xmlns:p14="http://schemas.microsoft.com/office/powerpoint/2010/main" val="3564220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9A10E-48F6-4C88-1CD4-BFE2C7FFD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FDFFF-862B-37B0-1B09-0A74C1F23963}"/>
              </a:ext>
            </a:extLst>
          </p:cNvPr>
          <p:cNvSpPr>
            <a:spLocks noGrp="1"/>
          </p:cNvSpPr>
          <p:nvPr>
            <p:ph type="title"/>
          </p:nvPr>
        </p:nvSpPr>
        <p:spPr>
          <a:xfrm>
            <a:off x="0" y="9601"/>
            <a:ext cx="12192000" cy="1325563"/>
          </a:xfrm>
        </p:spPr>
        <p:txBody>
          <a:bodyPr>
            <a:normAutofit/>
          </a:bodyPr>
          <a:lstStyle/>
          <a:p>
            <a:pPr algn="ctr"/>
            <a:r>
              <a:rPr lang="en-GB" sz="3800" dirty="0">
                <a:latin typeface="Bookman Old Style" panose="02050604050505020204" pitchFamily="18" charset="0"/>
              </a:rPr>
              <a:t>H</a:t>
            </a:r>
            <a:r>
              <a:rPr lang="en-ES" sz="3800" dirty="0">
                <a:latin typeface="Bookman Old Style" panose="02050604050505020204" pitchFamily="18" charset="0"/>
              </a:rPr>
              <a:t>ow prevalent are conflicting intuitions?</a:t>
            </a:r>
          </a:p>
        </p:txBody>
      </p:sp>
      <p:pic>
        <p:nvPicPr>
          <p:cNvPr id="4" name="Content Placeholder 4">
            <a:extLst>
              <a:ext uri="{FF2B5EF4-FFF2-40B4-BE49-F238E27FC236}">
                <a16:creationId xmlns:a16="http://schemas.microsoft.com/office/drawing/2014/main" id="{0B2C5C1B-44F0-CF31-A0F0-92A2BB5B34C9}"/>
              </a:ext>
            </a:extLst>
          </p:cNvPr>
          <p:cNvPicPr>
            <a:picLocks noChangeAspect="1"/>
          </p:cNvPicPr>
          <p:nvPr/>
        </p:nvPicPr>
        <p:blipFill>
          <a:blip r:embed="rId2"/>
          <a:srcRect l="1" r="37325" b="-1220"/>
          <a:stretch>
            <a:fillRect/>
          </a:stretch>
        </p:blipFill>
        <p:spPr bwMode="auto">
          <a:xfrm>
            <a:off x="1521767" y="1630580"/>
            <a:ext cx="5741233" cy="4277484"/>
          </a:xfrm>
          <a:prstGeom prst="rect">
            <a:avLst/>
          </a:prstGeom>
          <a:noFill/>
          <a:ln w="9525">
            <a:noFill/>
            <a:miter lim="800000"/>
            <a:headEnd/>
            <a:tailEnd/>
          </a:ln>
        </p:spPr>
      </p:pic>
      <p:sp>
        <p:nvSpPr>
          <p:cNvPr id="5" name="Rectangle 4">
            <a:extLst>
              <a:ext uri="{FF2B5EF4-FFF2-40B4-BE49-F238E27FC236}">
                <a16:creationId xmlns:a16="http://schemas.microsoft.com/office/drawing/2014/main" id="{A28A0691-0002-2328-EF3E-AEDF87ED8B61}"/>
              </a:ext>
            </a:extLst>
          </p:cNvPr>
          <p:cNvSpPr/>
          <p:nvPr/>
        </p:nvSpPr>
        <p:spPr>
          <a:xfrm>
            <a:off x="3872740" y="1630580"/>
            <a:ext cx="3276809" cy="70511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pic>
        <p:nvPicPr>
          <p:cNvPr id="6" name="Content Placeholder 4">
            <a:extLst>
              <a:ext uri="{FF2B5EF4-FFF2-40B4-BE49-F238E27FC236}">
                <a16:creationId xmlns:a16="http://schemas.microsoft.com/office/drawing/2014/main" id="{853FEDED-D033-BA57-9FCD-16BE7E88935F}"/>
              </a:ext>
            </a:extLst>
          </p:cNvPr>
          <p:cNvPicPr>
            <a:picLocks noChangeAspect="1"/>
          </p:cNvPicPr>
          <p:nvPr/>
        </p:nvPicPr>
        <p:blipFill>
          <a:blip r:embed="rId2"/>
          <a:srcRect l="62881" b="3819"/>
          <a:stretch>
            <a:fillRect/>
          </a:stretch>
        </p:blipFill>
        <p:spPr bwMode="auto">
          <a:xfrm>
            <a:off x="3862780" y="1630580"/>
            <a:ext cx="3400220" cy="4064542"/>
          </a:xfrm>
          <a:prstGeom prst="rect">
            <a:avLst/>
          </a:prstGeom>
          <a:noFill/>
          <a:ln w="9525">
            <a:noFill/>
            <a:miter lim="800000"/>
            <a:headEnd/>
            <a:tailEnd/>
          </a:ln>
        </p:spPr>
      </p:pic>
      <p:sp>
        <p:nvSpPr>
          <p:cNvPr id="7" name="Rectangle 6">
            <a:extLst>
              <a:ext uri="{FF2B5EF4-FFF2-40B4-BE49-F238E27FC236}">
                <a16:creationId xmlns:a16="http://schemas.microsoft.com/office/drawing/2014/main" id="{32DA4A1B-BBB2-40F2-F667-8760E804F43A}"/>
              </a:ext>
            </a:extLst>
          </p:cNvPr>
          <p:cNvSpPr/>
          <p:nvPr/>
        </p:nvSpPr>
        <p:spPr>
          <a:xfrm>
            <a:off x="3876779" y="1874904"/>
            <a:ext cx="3328987" cy="4607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9" name="Rectangle 8">
            <a:extLst>
              <a:ext uri="{FF2B5EF4-FFF2-40B4-BE49-F238E27FC236}">
                <a16:creationId xmlns:a16="http://schemas.microsoft.com/office/drawing/2014/main" id="{94058F6D-1ADD-4630-56F6-5B6EA5F8C0ED}"/>
              </a:ext>
            </a:extLst>
          </p:cNvPr>
          <p:cNvSpPr/>
          <p:nvPr/>
        </p:nvSpPr>
        <p:spPr>
          <a:xfrm>
            <a:off x="3872740" y="1644507"/>
            <a:ext cx="3760069" cy="5838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1" name="TextBox 10">
            <a:extLst>
              <a:ext uri="{FF2B5EF4-FFF2-40B4-BE49-F238E27FC236}">
                <a16:creationId xmlns:a16="http://schemas.microsoft.com/office/drawing/2014/main" id="{6B7F70E1-F4C1-C4A0-3BC7-5E06F81BD340}"/>
              </a:ext>
            </a:extLst>
          </p:cNvPr>
          <p:cNvSpPr txBox="1"/>
          <p:nvPr/>
        </p:nvSpPr>
        <p:spPr>
          <a:xfrm>
            <a:off x="8265826" y="2941476"/>
            <a:ext cx="3240000" cy="1440000"/>
          </a:xfrm>
          <a:prstGeom prst="rect">
            <a:avLst/>
          </a:prstGeom>
          <a:solidFill>
            <a:schemeClr val="accent2">
              <a:lumMod val="20000"/>
              <a:lumOff val="80000"/>
            </a:schemeClr>
          </a:solidFill>
        </p:spPr>
        <p:txBody>
          <a:bodyPr wrap="square" anchor="ctr">
            <a:spAutoFit/>
          </a:bodyPr>
          <a:lstStyle/>
          <a:p>
            <a:pPr algn="ctr"/>
            <a:r>
              <a:rPr lang="en-GB" sz="2400" b="1" dirty="0">
                <a:latin typeface="Bookman Old Style" panose="02050604050505020204" pitchFamily="18" charset="0"/>
              </a:rPr>
              <a:t>58%</a:t>
            </a:r>
          </a:p>
          <a:p>
            <a:pPr algn="ctr"/>
            <a:r>
              <a:rPr lang="en-GB" sz="2400" dirty="0">
                <a:latin typeface="Bookman Old Style" panose="02050604050505020204" pitchFamily="18" charset="0"/>
              </a:rPr>
              <a:t>95% </a:t>
            </a:r>
            <a:r>
              <a:rPr lang="en-GB" sz="2400" i="1" dirty="0">
                <a:latin typeface="Bookman Old Style" panose="02050604050505020204" pitchFamily="18" charset="0"/>
              </a:rPr>
              <a:t>CI </a:t>
            </a:r>
            <a:r>
              <a:rPr lang="en-GB" sz="2400" dirty="0">
                <a:latin typeface="Bookman Old Style" panose="02050604050505020204" pitchFamily="18" charset="0"/>
              </a:rPr>
              <a:t>[54%, 63%]</a:t>
            </a:r>
            <a:endParaRPr lang="en-ES" sz="2400" dirty="0">
              <a:latin typeface="Bookman Old Style" panose="02050604050505020204" pitchFamily="18" charset="0"/>
            </a:endParaRPr>
          </a:p>
        </p:txBody>
      </p:sp>
      <p:sp>
        <p:nvSpPr>
          <p:cNvPr id="10" name="Title 1">
            <a:extLst>
              <a:ext uri="{FF2B5EF4-FFF2-40B4-BE49-F238E27FC236}">
                <a16:creationId xmlns:a16="http://schemas.microsoft.com/office/drawing/2014/main" id="{32DFCB06-11D7-E4A9-959F-93312F590E33}"/>
              </a:ext>
            </a:extLst>
          </p:cNvPr>
          <p:cNvSpPr txBox="1">
            <a:spLocks/>
          </p:cNvSpPr>
          <p:nvPr/>
        </p:nvSpPr>
        <p:spPr>
          <a:xfrm>
            <a:off x="755374" y="569237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ES" sz="3800" dirty="0">
              <a:latin typeface="Bookman Old Style" panose="02050604050505020204" pitchFamily="18" charset="0"/>
            </a:endParaRPr>
          </a:p>
        </p:txBody>
      </p:sp>
      <p:pic>
        <p:nvPicPr>
          <p:cNvPr id="3" name="Picture 2">
            <a:extLst>
              <a:ext uri="{FF2B5EF4-FFF2-40B4-BE49-F238E27FC236}">
                <a16:creationId xmlns:a16="http://schemas.microsoft.com/office/drawing/2014/main" id="{DBE3B418-09B9-5654-0007-2DF19A579435}"/>
              </a:ext>
            </a:extLst>
          </p:cNvPr>
          <p:cNvPicPr>
            <a:picLocks noChangeAspect="1"/>
          </p:cNvPicPr>
          <p:nvPr/>
        </p:nvPicPr>
        <p:blipFill>
          <a:blip r:embed="rId3"/>
          <a:stretch>
            <a:fillRect/>
          </a:stretch>
        </p:blipFill>
        <p:spPr>
          <a:xfrm>
            <a:off x="341293" y="1003219"/>
            <a:ext cx="7772400" cy="5824364"/>
          </a:xfrm>
          <a:prstGeom prst="rect">
            <a:avLst/>
          </a:prstGeom>
        </p:spPr>
      </p:pic>
    </p:spTree>
    <p:extLst>
      <p:ext uri="{BB962C8B-B14F-4D97-AF65-F5344CB8AC3E}">
        <p14:creationId xmlns:p14="http://schemas.microsoft.com/office/powerpoint/2010/main" val="3032306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C5F69-8EF9-74CD-5A60-055DBC716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93705-8D26-A164-9C72-0475FB39B0F4}"/>
              </a:ext>
            </a:extLst>
          </p:cNvPr>
          <p:cNvSpPr>
            <a:spLocks noGrp="1"/>
          </p:cNvSpPr>
          <p:nvPr>
            <p:ph type="title"/>
          </p:nvPr>
        </p:nvSpPr>
        <p:spPr>
          <a:xfrm>
            <a:off x="0" y="9601"/>
            <a:ext cx="12192000" cy="1325563"/>
          </a:xfrm>
        </p:spPr>
        <p:txBody>
          <a:bodyPr>
            <a:normAutofit/>
          </a:bodyPr>
          <a:lstStyle/>
          <a:p>
            <a:pPr algn="ctr"/>
            <a:r>
              <a:rPr lang="en-GB" sz="3800" dirty="0">
                <a:latin typeface="Bookman Old Style" panose="02050604050505020204" pitchFamily="18" charset="0"/>
              </a:rPr>
              <a:t>H</a:t>
            </a:r>
            <a:r>
              <a:rPr lang="en-ES" sz="3800" dirty="0">
                <a:latin typeface="Bookman Old Style" panose="02050604050505020204" pitchFamily="18" charset="0"/>
              </a:rPr>
              <a:t>ow prevalent are conflicting intuitions?</a:t>
            </a:r>
          </a:p>
        </p:txBody>
      </p:sp>
      <p:pic>
        <p:nvPicPr>
          <p:cNvPr id="4" name="Content Placeholder 4">
            <a:extLst>
              <a:ext uri="{FF2B5EF4-FFF2-40B4-BE49-F238E27FC236}">
                <a16:creationId xmlns:a16="http://schemas.microsoft.com/office/drawing/2014/main" id="{68C0004A-1EE4-E140-AEE9-388DA6BF3CF7}"/>
              </a:ext>
            </a:extLst>
          </p:cNvPr>
          <p:cNvPicPr>
            <a:picLocks noChangeAspect="1"/>
          </p:cNvPicPr>
          <p:nvPr/>
        </p:nvPicPr>
        <p:blipFill>
          <a:blip r:embed="rId2"/>
          <a:srcRect l="1" r="37325" b="-1220"/>
          <a:stretch>
            <a:fillRect/>
          </a:stretch>
        </p:blipFill>
        <p:spPr bwMode="auto">
          <a:xfrm>
            <a:off x="1521767" y="1630580"/>
            <a:ext cx="5741233" cy="4277484"/>
          </a:xfrm>
          <a:prstGeom prst="rect">
            <a:avLst/>
          </a:prstGeom>
          <a:noFill/>
          <a:ln w="9525">
            <a:noFill/>
            <a:miter lim="800000"/>
            <a:headEnd/>
            <a:tailEnd/>
          </a:ln>
        </p:spPr>
      </p:pic>
      <p:sp>
        <p:nvSpPr>
          <p:cNvPr id="5" name="Rectangle 4">
            <a:extLst>
              <a:ext uri="{FF2B5EF4-FFF2-40B4-BE49-F238E27FC236}">
                <a16:creationId xmlns:a16="http://schemas.microsoft.com/office/drawing/2014/main" id="{CF5E107A-1DA7-6A46-F232-751A62A2FE9B}"/>
              </a:ext>
            </a:extLst>
          </p:cNvPr>
          <p:cNvSpPr/>
          <p:nvPr/>
        </p:nvSpPr>
        <p:spPr>
          <a:xfrm>
            <a:off x="3872740" y="1630580"/>
            <a:ext cx="3276809" cy="70511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pic>
        <p:nvPicPr>
          <p:cNvPr id="6" name="Content Placeholder 4">
            <a:extLst>
              <a:ext uri="{FF2B5EF4-FFF2-40B4-BE49-F238E27FC236}">
                <a16:creationId xmlns:a16="http://schemas.microsoft.com/office/drawing/2014/main" id="{CB2C9A16-82A9-E632-1A75-BF4C021B9CE0}"/>
              </a:ext>
            </a:extLst>
          </p:cNvPr>
          <p:cNvPicPr>
            <a:picLocks noChangeAspect="1"/>
          </p:cNvPicPr>
          <p:nvPr/>
        </p:nvPicPr>
        <p:blipFill>
          <a:blip r:embed="rId2"/>
          <a:srcRect l="62881" b="3819"/>
          <a:stretch>
            <a:fillRect/>
          </a:stretch>
        </p:blipFill>
        <p:spPr bwMode="auto">
          <a:xfrm>
            <a:off x="3862780" y="1630580"/>
            <a:ext cx="3400220" cy="4064542"/>
          </a:xfrm>
          <a:prstGeom prst="rect">
            <a:avLst/>
          </a:prstGeom>
          <a:noFill/>
          <a:ln w="9525">
            <a:noFill/>
            <a:miter lim="800000"/>
            <a:headEnd/>
            <a:tailEnd/>
          </a:ln>
        </p:spPr>
      </p:pic>
      <p:sp>
        <p:nvSpPr>
          <p:cNvPr id="7" name="Rectangle 6">
            <a:extLst>
              <a:ext uri="{FF2B5EF4-FFF2-40B4-BE49-F238E27FC236}">
                <a16:creationId xmlns:a16="http://schemas.microsoft.com/office/drawing/2014/main" id="{D1934A7D-BE34-B92B-5971-E9981DC68B8B}"/>
              </a:ext>
            </a:extLst>
          </p:cNvPr>
          <p:cNvSpPr/>
          <p:nvPr/>
        </p:nvSpPr>
        <p:spPr>
          <a:xfrm>
            <a:off x="3876779" y="1874904"/>
            <a:ext cx="3328987" cy="4607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9" name="Rectangle 8">
            <a:extLst>
              <a:ext uri="{FF2B5EF4-FFF2-40B4-BE49-F238E27FC236}">
                <a16:creationId xmlns:a16="http://schemas.microsoft.com/office/drawing/2014/main" id="{4AC3DA74-5D73-8DFA-6DA7-2229754FDF89}"/>
              </a:ext>
            </a:extLst>
          </p:cNvPr>
          <p:cNvSpPr/>
          <p:nvPr/>
        </p:nvSpPr>
        <p:spPr>
          <a:xfrm>
            <a:off x="3872740" y="1644507"/>
            <a:ext cx="3760069" cy="5838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1" name="TextBox 10">
            <a:extLst>
              <a:ext uri="{FF2B5EF4-FFF2-40B4-BE49-F238E27FC236}">
                <a16:creationId xmlns:a16="http://schemas.microsoft.com/office/drawing/2014/main" id="{99BCA4CD-A335-D067-440F-918490446FDF}"/>
              </a:ext>
            </a:extLst>
          </p:cNvPr>
          <p:cNvSpPr txBox="1"/>
          <p:nvPr/>
        </p:nvSpPr>
        <p:spPr>
          <a:xfrm>
            <a:off x="8265826" y="2941476"/>
            <a:ext cx="3240000" cy="1440000"/>
          </a:xfrm>
          <a:prstGeom prst="rect">
            <a:avLst/>
          </a:prstGeom>
          <a:solidFill>
            <a:schemeClr val="accent2">
              <a:lumMod val="20000"/>
              <a:lumOff val="80000"/>
            </a:schemeClr>
          </a:solidFill>
        </p:spPr>
        <p:txBody>
          <a:bodyPr wrap="square" anchor="ctr">
            <a:spAutoFit/>
          </a:bodyPr>
          <a:lstStyle/>
          <a:p>
            <a:pPr algn="ctr"/>
            <a:r>
              <a:rPr lang="en-GB" sz="2400" b="1" dirty="0">
                <a:latin typeface="Bookman Old Style" panose="02050604050505020204" pitchFamily="18" charset="0"/>
              </a:rPr>
              <a:t>58%</a:t>
            </a:r>
          </a:p>
          <a:p>
            <a:pPr algn="ctr"/>
            <a:r>
              <a:rPr lang="en-GB" sz="2400" dirty="0">
                <a:latin typeface="Bookman Old Style" panose="02050604050505020204" pitchFamily="18" charset="0"/>
              </a:rPr>
              <a:t>95% </a:t>
            </a:r>
            <a:r>
              <a:rPr lang="en-GB" sz="2400" i="1" dirty="0">
                <a:latin typeface="Bookman Old Style" panose="02050604050505020204" pitchFamily="18" charset="0"/>
              </a:rPr>
              <a:t>CI </a:t>
            </a:r>
            <a:r>
              <a:rPr lang="en-GB" sz="2400" dirty="0">
                <a:latin typeface="Bookman Old Style" panose="02050604050505020204" pitchFamily="18" charset="0"/>
              </a:rPr>
              <a:t>[54%, 63%]</a:t>
            </a:r>
            <a:endParaRPr lang="en-ES" sz="2400" dirty="0">
              <a:latin typeface="Bookman Old Style" panose="02050604050505020204" pitchFamily="18" charset="0"/>
            </a:endParaRPr>
          </a:p>
        </p:txBody>
      </p:sp>
      <p:sp>
        <p:nvSpPr>
          <p:cNvPr id="10" name="Title 1">
            <a:extLst>
              <a:ext uri="{FF2B5EF4-FFF2-40B4-BE49-F238E27FC236}">
                <a16:creationId xmlns:a16="http://schemas.microsoft.com/office/drawing/2014/main" id="{B4BC1246-E6A9-037E-99ED-04D7881341EE}"/>
              </a:ext>
            </a:extLst>
          </p:cNvPr>
          <p:cNvSpPr txBox="1">
            <a:spLocks/>
          </p:cNvSpPr>
          <p:nvPr/>
        </p:nvSpPr>
        <p:spPr>
          <a:xfrm>
            <a:off x="755374" y="569237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ES" sz="3800" dirty="0">
              <a:latin typeface="Bookman Old Style" panose="02050604050505020204" pitchFamily="18" charset="0"/>
            </a:endParaRPr>
          </a:p>
        </p:txBody>
      </p:sp>
      <p:pic>
        <p:nvPicPr>
          <p:cNvPr id="3" name="Picture 2">
            <a:extLst>
              <a:ext uri="{FF2B5EF4-FFF2-40B4-BE49-F238E27FC236}">
                <a16:creationId xmlns:a16="http://schemas.microsoft.com/office/drawing/2014/main" id="{C11769F1-53FF-764C-8076-E4CFBE030CBD}"/>
              </a:ext>
            </a:extLst>
          </p:cNvPr>
          <p:cNvPicPr>
            <a:picLocks noChangeAspect="1"/>
          </p:cNvPicPr>
          <p:nvPr/>
        </p:nvPicPr>
        <p:blipFill>
          <a:blip r:embed="rId3"/>
          <a:stretch>
            <a:fillRect/>
          </a:stretch>
        </p:blipFill>
        <p:spPr>
          <a:xfrm>
            <a:off x="341293" y="1003219"/>
            <a:ext cx="7772400" cy="5824364"/>
          </a:xfrm>
          <a:prstGeom prst="rect">
            <a:avLst/>
          </a:prstGeom>
        </p:spPr>
      </p:pic>
      <p:sp>
        <p:nvSpPr>
          <p:cNvPr id="8" name="Title 1">
            <a:extLst>
              <a:ext uri="{FF2B5EF4-FFF2-40B4-BE49-F238E27FC236}">
                <a16:creationId xmlns:a16="http://schemas.microsoft.com/office/drawing/2014/main" id="{D4EA7A96-9931-C892-2FAF-1487B0FCDFF7}"/>
              </a:ext>
            </a:extLst>
          </p:cNvPr>
          <p:cNvSpPr txBox="1">
            <a:spLocks/>
          </p:cNvSpPr>
          <p:nvPr/>
        </p:nvSpPr>
        <p:spPr>
          <a:xfrm>
            <a:off x="0" y="0"/>
            <a:ext cx="12192000" cy="6858000"/>
          </a:xfrm>
          <a:prstGeom prst="rect">
            <a:avLst/>
          </a:prstGeom>
          <a:solidFill>
            <a:schemeClr val="bg1">
              <a:alpha val="8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800" dirty="0" err="1">
                <a:latin typeface="Bookman Old Style" panose="02050604050505020204" pitchFamily="18" charset="0"/>
              </a:rPr>
              <a:t>When</a:t>
            </a:r>
            <a:r>
              <a:rPr lang="es-ES" sz="3800" dirty="0">
                <a:latin typeface="Bookman Old Style" panose="02050604050505020204" pitchFamily="18" charset="0"/>
              </a:rPr>
              <a:t> do </a:t>
            </a:r>
            <a:r>
              <a:rPr lang="es-ES" sz="3800" dirty="0" err="1">
                <a:latin typeface="Bookman Old Style" panose="02050604050505020204" pitchFamily="18" charset="0"/>
              </a:rPr>
              <a:t>people</a:t>
            </a:r>
            <a:r>
              <a:rPr lang="es-ES" sz="3800" dirty="0">
                <a:latin typeface="Bookman Old Style" panose="02050604050505020204" pitchFamily="18" charset="0"/>
              </a:rPr>
              <a:t> </a:t>
            </a:r>
            <a:r>
              <a:rPr lang="es-ES" sz="3800" dirty="0" err="1">
                <a:latin typeface="Bookman Old Style" panose="02050604050505020204" pitchFamily="18" charset="0"/>
              </a:rPr>
              <a:t>have</a:t>
            </a:r>
            <a:r>
              <a:rPr lang="en-ES" sz="3800" dirty="0">
                <a:latin typeface="Bookman Old Style" panose="02050604050505020204" pitchFamily="18" charset="0"/>
              </a:rPr>
              <a:t> conflicting intuitions?</a:t>
            </a:r>
          </a:p>
        </p:txBody>
      </p:sp>
    </p:spTree>
    <p:extLst>
      <p:ext uri="{BB962C8B-B14F-4D97-AF65-F5344CB8AC3E}">
        <p14:creationId xmlns:p14="http://schemas.microsoft.com/office/powerpoint/2010/main" val="1605055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D5E52-D0FC-E4B5-5526-D383251AA72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B5C386C-1E5B-E8EE-D2CA-3F18E26FA3FC}"/>
              </a:ext>
            </a:extLst>
          </p:cNvPr>
          <p:cNvSpPr/>
          <p:nvPr/>
        </p:nvSpPr>
        <p:spPr>
          <a:xfrm>
            <a:off x="7281862" y="1642826"/>
            <a:ext cx="3328987" cy="113768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9" name="Rectangle 8">
            <a:extLst>
              <a:ext uri="{FF2B5EF4-FFF2-40B4-BE49-F238E27FC236}">
                <a16:creationId xmlns:a16="http://schemas.microsoft.com/office/drawing/2014/main" id="{672BB69B-35FD-E814-7F59-EEFF256A64E6}"/>
              </a:ext>
            </a:extLst>
          </p:cNvPr>
          <p:cNvSpPr/>
          <p:nvPr/>
        </p:nvSpPr>
        <p:spPr>
          <a:xfrm>
            <a:off x="7281862" y="2994877"/>
            <a:ext cx="3328987" cy="19489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0" name="Rectangle 9">
            <a:extLst>
              <a:ext uri="{FF2B5EF4-FFF2-40B4-BE49-F238E27FC236}">
                <a16:creationId xmlns:a16="http://schemas.microsoft.com/office/drawing/2014/main" id="{33F0EE71-3B0B-DD3D-E98B-E071CDD0BB5A}"/>
              </a:ext>
            </a:extLst>
          </p:cNvPr>
          <p:cNvSpPr/>
          <p:nvPr/>
        </p:nvSpPr>
        <p:spPr>
          <a:xfrm>
            <a:off x="7317748" y="3807106"/>
            <a:ext cx="3328987" cy="19489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5" name="Title 1">
            <a:extLst>
              <a:ext uri="{FF2B5EF4-FFF2-40B4-BE49-F238E27FC236}">
                <a16:creationId xmlns:a16="http://schemas.microsoft.com/office/drawing/2014/main" id="{AD02AEC6-C1DD-4362-0388-309BFF031389}"/>
              </a:ext>
            </a:extLst>
          </p:cNvPr>
          <p:cNvSpPr>
            <a:spLocks noGrp="1"/>
          </p:cNvSpPr>
          <p:nvPr>
            <p:ph type="title"/>
          </p:nvPr>
        </p:nvSpPr>
        <p:spPr>
          <a:xfrm>
            <a:off x="1981200" y="91216"/>
            <a:ext cx="8229600" cy="1143000"/>
          </a:xfrm>
        </p:spPr>
        <p:txBody>
          <a:bodyPr/>
          <a:lstStyle/>
          <a:p>
            <a:pPr algn="ctr"/>
            <a:r>
              <a:rPr lang="en-ES" sz="4200" dirty="0">
                <a:latin typeface="Bookman Old Style" panose="02050604050505020204" pitchFamily="18" charset="0"/>
              </a:rPr>
              <a:t>Per-issue analyses</a:t>
            </a:r>
          </a:p>
        </p:txBody>
      </p:sp>
      <p:pic>
        <p:nvPicPr>
          <p:cNvPr id="2" name="Picture 2" descr="The Trolley Problem | U-M LSA U-M College of LSA">
            <a:extLst>
              <a:ext uri="{FF2B5EF4-FFF2-40B4-BE49-F238E27FC236}">
                <a16:creationId xmlns:a16="http://schemas.microsoft.com/office/drawing/2014/main" id="{26CA57CA-48E5-F508-F0D8-F8F3825D52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326" r="1992" b="-1"/>
          <a:stretch/>
        </p:blipFill>
        <p:spPr bwMode="auto">
          <a:xfrm>
            <a:off x="198134" y="2050271"/>
            <a:ext cx="2832070" cy="2123664"/>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E4E9ABA0-E000-62B9-7723-A143CE91C8F2}"/>
              </a:ext>
            </a:extLst>
          </p:cNvPr>
          <p:cNvSpPr>
            <a:spLocks noGrp="1"/>
          </p:cNvSpPr>
          <p:nvPr>
            <p:ph idx="1"/>
          </p:nvPr>
        </p:nvSpPr>
        <p:spPr>
          <a:xfrm>
            <a:off x="198134" y="4425362"/>
            <a:ext cx="2832070" cy="1505392"/>
          </a:xfrm>
        </p:spPr>
        <p:txBody>
          <a:bodyPr/>
          <a:lstStyle/>
          <a:p>
            <a:pPr marL="0" indent="0">
              <a:buNone/>
            </a:pPr>
            <a:r>
              <a:rPr lang="en-ES" b="1" dirty="0">
                <a:solidFill>
                  <a:schemeClr val="accent1"/>
                </a:solidFill>
                <a:latin typeface="Bookman Old Style" panose="02050604050505020204" pitchFamily="18" charset="0"/>
              </a:rPr>
              <a:t>Don’t push.</a:t>
            </a:r>
          </a:p>
          <a:p>
            <a:pPr marL="0" indent="0">
              <a:buNone/>
            </a:pPr>
            <a:r>
              <a:rPr lang="en-ES" i="1" dirty="0">
                <a:solidFill>
                  <a:schemeClr val="accent2"/>
                </a:solidFill>
                <a:latin typeface="Bookman Old Style" panose="02050604050505020204" pitchFamily="18" charset="0"/>
              </a:rPr>
              <a:t>Push.</a:t>
            </a:r>
          </a:p>
        </p:txBody>
      </p:sp>
      <p:pic>
        <p:nvPicPr>
          <p:cNvPr id="7" name="Graphic 6" descr="Users with solid fill">
            <a:extLst>
              <a:ext uri="{FF2B5EF4-FFF2-40B4-BE49-F238E27FC236}">
                <a16:creationId xmlns:a16="http://schemas.microsoft.com/office/drawing/2014/main" id="{2C4FE4AF-067E-E040-E03F-8A38F9E785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4321" y="4263382"/>
            <a:ext cx="684000" cy="684000"/>
          </a:xfrm>
          <a:prstGeom prst="rect">
            <a:avLst/>
          </a:prstGeom>
        </p:spPr>
      </p:pic>
      <p:pic>
        <p:nvPicPr>
          <p:cNvPr id="18" name="Graphic 17" descr="Fork In Road with solid fill">
            <a:extLst>
              <a:ext uri="{FF2B5EF4-FFF2-40B4-BE49-F238E27FC236}">
                <a16:creationId xmlns:a16="http://schemas.microsoft.com/office/drawing/2014/main" id="{8F833E49-DD07-786C-D44D-489C553C18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06539" y="4833072"/>
            <a:ext cx="612000" cy="612000"/>
          </a:xfrm>
          <a:prstGeom prst="rect">
            <a:avLst/>
          </a:prstGeom>
        </p:spPr>
      </p:pic>
    </p:spTree>
    <p:extLst>
      <p:ext uri="{BB962C8B-B14F-4D97-AF65-F5344CB8AC3E}">
        <p14:creationId xmlns:p14="http://schemas.microsoft.com/office/powerpoint/2010/main" val="3786857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9BC1F-F8E2-EC0F-7859-63F67D4692B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C2A03B1-03A3-1E34-F11A-5F4B5E40F3C4}"/>
              </a:ext>
            </a:extLst>
          </p:cNvPr>
          <p:cNvSpPr/>
          <p:nvPr/>
        </p:nvSpPr>
        <p:spPr>
          <a:xfrm>
            <a:off x="7281862" y="1642826"/>
            <a:ext cx="3328987" cy="113768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9" name="Rectangle 8">
            <a:extLst>
              <a:ext uri="{FF2B5EF4-FFF2-40B4-BE49-F238E27FC236}">
                <a16:creationId xmlns:a16="http://schemas.microsoft.com/office/drawing/2014/main" id="{A6AC923A-F94A-51F2-87E3-789508B1FA16}"/>
              </a:ext>
            </a:extLst>
          </p:cNvPr>
          <p:cNvSpPr/>
          <p:nvPr/>
        </p:nvSpPr>
        <p:spPr>
          <a:xfrm>
            <a:off x="7281862" y="2994877"/>
            <a:ext cx="3328987" cy="19489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0" name="Rectangle 9">
            <a:extLst>
              <a:ext uri="{FF2B5EF4-FFF2-40B4-BE49-F238E27FC236}">
                <a16:creationId xmlns:a16="http://schemas.microsoft.com/office/drawing/2014/main" id="{77948FE6-8C2A-69B5-7486-EF54DA7C83FD}"/>
              </a:ext>
            </a:extLst>
          </p:cNvPr>
          <p:cNvSpPr/>
          <p:nvPr/>
        </p:nvSpPr>
        <p:spPr>
          <a:xfrm>
            <a:off x="7317748" y="3807106"/>
            <a:ext cx="3328987" cy="19489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1" name="Rectangle 10">
            <a:extLst>
              <a:ext uri="{FF2B5EF4-FFF2-40B4-BE49-F238E27FC236}">
                <a16:creationId xmlns:a16="http://schemas.microsoft.com/office/drawing/2014/main" id="{A561125A-7B7C-25E9-1556-1A8CC28B8B9E}"/>
              </a:ext>
            </a:extLst>
          </p:cNvPr>
          <p:cNvSpPr/>
          <p:nvPr/>
        </p:nvSpPr>
        <p:spPr>
          <a:xfrm>
            <a:off x="7308122" y="4220576"/>
            <a:ext cx="3328987" cy="6003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latin typeface="Bookman Old Style" panose="02050604050505020204" pitchFamily="18" charset="0"/>
            </a:endParaRPr>
          </a:p>
        </p:txBody>
      </p:sp>
      <p:sp>
        <p:nvSpPr>
          <p:cNvPr id="14" name="TextBox 13">
            <a:extLst>
              <a:ext uri="{FF2B5EF4-FFF2-40B4-BE49-F238E27FC236}">
                <a16:creationId xmlns:a16="http://schemas.microsoft.com/office/drawing/2014/main" id="{5AD0B8C6-3703-E1F5-4352-9DDFC0050813}"/>
              </a:ext>
            </a:extLst>
          </p:cNvPr>
          <p:cNvSpPr txBox="1"/>
          <p:nvPr/>
        </p:nvSpPr>
        <p:spPr>
          <a:xfrm>
            <a:off x="198134" y="5960360"/>
            <a:ext cx="11795732" cy="369332"/>
          </a:xfrm>
          <a:prstGeom prst="rect">
            <a:avLst/>
          </a:prstGeom>
          <a:noFill/>
        </p:spPr>
        <p:txBody>
          <a:bodyPr wrap="square">
            <a:spAutoFit/>
          </a:bodyPr>
          <a:lstStyle/>
          <a:p>
            <a:pPr algn="ctr"/>
            <a:r>
              <a:rPr lang="es-ES" dirty="0">
                <a:latin typeface="Bookman Old Style" panose="02050604050505020204" pitchFamily="18" charset="0"/>
              </a:rPr>
              <a:t>For 6 </a:t>
            </a:r>
            <a:r>
              <a:rPr lang="es-ES" dirty="0" err="1">
                <a:latin typeface="Bookman Old Style" panose="02050604050505020204" pitchFamily="18" charset="0"/>
              </a:rPr>
              <a:t>out</a:t>
            </a:r>
            <a:r>
              <a:rPr lang="es-ES" dirty="0">
                <a:latin typeface="Bookman Old Style" panose="02050604050505020204" pitchFamily="18" charset="0"/>
              </a:rPr>
              <a:t> </a:t>
            </a:r>
            <a:r>
              <a:rPr lang="es-ES" dirty="0" err="1">
                <a:latin typeface="Bookman Old Style" panose="02050604050505020204" pitchFamily="18" charset="0"/>
              </a:rPr>
              <a:t>of</a:t>
            </a:r>
            <a:r>
              <a:rPr lang="es-ES" dirty="0">
                <a:latin typeface="Bookman Old Style" panose="02050604050505020204" pitchFamily="18" charset="0"/>
              </a:rPr>
              <a:t> 7 </a:t>
            </a:r>
            <a:r>
              <a:rPr lang="es-ES" dirty="0" err="1">
                <a:latin typeface="Bookman Old Style" panose="02050604050505020204" pitchFamily="18" charset="0"/>
              </a:rPr>
              <a:t>issues</a:t>
            </a:r>
            <a:r>
              <a:rPr lang="es-ES" dirty="0">
                <a:latin typeface="Bookman Old Style" panose="02050604050505020204" pitchFamily="18" charset="0"/>
              </a:rPr>
              <a:t> in </a:t>
            </a:r>
            <a:r>
              <a:rPr lang="es-ES" dirty="0" err="1">
                <a:latin typeface="Bookman Old Style" panose="02050604050505020204" pitchFamily="18" charset="0"/>
              </a:rPr>
              <a:t>which</a:t>
            </a:r>
            <a:r>
              <a:rPr lang="es-ES" dirty="0">
                <a:latin typeface="Bookman Old Style" panose="02050604050505020204" pitchFamily="18" charset="0"/>
              </a:rPr>
              <a:t> </a:t>
            </a:r>
            <a:r>
              <a:rPr lang="es-ES" i="1" dirty="0">
                <a:latin typeface="Bookman Old Style" panose="02050604050505020204" pitchFamily="18" charset="0"/>
              </a:rPr>
              <a:t>p</a:t>
            </a:r>
            <a:r>
              <a:rPr lang="es-ES" dirty="0">
                <a:latin typeface="Bookman Old Style" panose="02050604050505020204" pitchFamily="18" charset="0"/>
              </a:rPr>
              <a:t> &lt; .05,   </a:t>
            </a:r>
            <a:r>
              <a:rPr lang="es-ES" dirty="0">
                <a:solidFill>
                  <a:srgbClr val="EFBCAF"/>
                </a:solidFill>
                <a:latin typeface="Bookman Old Style" panose="02050604050505020204" pitchFamily="18" charset="0"/>
              </a:rPr>
              <a:t>p(Both | </a:t>
            </a:r>
            <a:r>
              <a:rPr lang="es-ES" dirty="0" err="1">
                <a:solidFill>
                  <a:srgbClr val="EFBCAF"/>
                </a:solidFill>
                <a:latin typeface="Bookman Old Style" panose="02050604050505020204" pitchFamily="18" charset="0"/>
              </a:rPr>
              <a:t>Minority</a:t>
            </a:r>
            <a:r>
              <a:rPr lang="es-ES" dirty="0">
                <a:solidFill>
                  <a:srgbClr val="EFBCAF"/>
                </a:solidFill>
                <a:latin typeface="Bookman Old Style" panose="02050604050505020204" pitchFamily="18" charset="0"/>
              </a:rPr>
              <a:t>)</a:t>
            </a:r>
            <a:r>
              <a:rPr lang="es-ES" dirty="0">
                <a:latin typeface="Bookman Old Style" panose="02050604050505020204" pitchFamily="18" charset="0"/>
              </a:rPr>
              <a:t> &gt; </a:t>
            </a:r>
            <a:r>
              <a:rPr lang="es-ES" dirty="0">
                <a:solidFill>
                  <a:srgbClr val="9DB7DB"/>
                </a:solidFill>
                <a:latin typeface="Bookman Old Style" panose="02050604050505020204" pitchFamily="18" charset="0"/>
              </a:rPr>
              <a:t>p(Both | </a:t>
            </a:r>
            <a:r>
              <a:rPr lang="es-ES" dirty="0" err="1">
                <a:solidFill>
                  <a:srgbClr val="9DB7DB"/>
                </a:solidFill>
                <a:latin typeface="Bookman Old Style" panose="02050604050505020204" pitchFamily="18" charset="0"/>
              </a:rPr>
              <a:t>Majority</a:t>
            </a:r>
            <a:r>
              <a:rPr lang="es-ES" dirty="0">
                <a:solidFill>
                  <a:srgbClr val="9DB7DB"/>
                </a:solidFill>
                <a:latin typeface="Bookman Old Style" panose="02050604050505020204" pitchFamily="18" charset="0"/>
              </a:rPr>
              <a:t>).</a:t>
            </a:r>
            <a:endParaRPr lang="en-ES" dirty="0">
              <a:solidFill>
                <a:srgbClr val="9DB7DB"/>
              </a:solidFill>
              <a:latin typeface="Bookman Old Style" panose="02050604050505020204" pitchFamily="18" charset="0"/>
            </a:endParaRPr>
          </a:p>
        </p:txBody>
      </p:sp>
      <p:sp>
        <p:nvSpPr>
          <p:cNvPr id="15" name="Title 1">
            <a:extLst>
              <a:ext uri="{FF2B5EF4-FFF2-40B4-BE49-F238E27FC236}">
                <a16:creationId xmlns:a16="http://schemas.microsoft.com/office/drawing/2014/main" id="{472C1CC6-48DC-3C15-ADCC-304D0B9F69A3}"/>
              </a:ext>
            </a:extLst>
          </p:cNvPr>
          <p:cNvSpPr>
            <a:spLocks noGrp="1"/>
          </p:cNvSpPr>
          <p:nvPr>
            <p:ph type="title"/>
          </p:nvPr>
        </p:nvSpPr>
        <p:spPr>
          <a:xfrm>
            <a:off x="1981200" y="91216"/>
            <a:ext cx="8229600" cy="1143000"/>
          </a:xfrm>
        </p:spPr>
        <p:txBody>
          <a:bodyPr/>
          <a:lstStyle/>
          <a:p>
            <a:pPr algn="ctr"/>
            <a:r>
              <a:rPr lang="en-ES" sz="4200" dirty="0">
                <a:latin typeface="Bookman Old Style" panose="02050604050505020204" pitchFamily="18" charset="0"/>
              </a:rPr>
              <a:t>Per-issue analyses</a:t>
            </a:r>
          </a:p>
        </p:txBody>
      </p:sp>
      <p:pic>
        <p:nvPicPr>
          <p:cNvPr id="2" name="Picture 2" descr="The Trolley Problem | U-M LSA U-M College of LSA">
            <a:extLst>
              <a:ext uri="{FF2B5EF4-FFF2-40B4-BE49-F238E27FC236}">
                <a16:creationId xmlns:a16="http://schemas.microsoft.com/office/drawing/2014/main" id="{06C204ED-951A-206E-447B-14A49C4F0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326" r="1992" b="-1"/>
          <a:stretch/>
        </p:blipFill>
        <p:spPr bwMode="auto">
          <a:xfrm>
            <a:off x="198134" y="2050271"/>
            <a:ext cx="2832070" cy="21236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hat is Free Will? – The Art of Storytelling">
            <a:extLst>
              <a:ext uri="{FF2B5EF4-FFF2-40B4-BE49-F238E27FC236}">
                <a16:creationId xmlns:a16="http://schemas.microsoft.com/office/drawing/2014/main" id="{784F2B99-23F5-507F-1C53-8F5C04656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8"/>
          <a:stretch/>
        </p:blipFill>
        <p:spPr bwMode="auto">
          <a:xfrm>
            <a:off x="3178939" y="2050268"/>
            <a:ext cx="2832069" cy="21236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 Was a Brain in a Vat | Think | Cambridge Core">
            <a:extLst>
              <a:ext uri="{FF2B5EF4-FFF2-40B4-BE49-F238E27FC236}">
                <a16:creationId xmlns:a16="http://schemas.microsoft.com/office/drawing/2014/main" id="{03E53A94-5327-E6A0-9BCD-8B2283CCE4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82" r="2" b="2"/>
          <a:stretch>
            <a:fillRect/>
          </a:stretch>
        </p:blipFill>
        <p:spPr bwMode="auto">
          <a:xfrm>
            <a:off x="6180993" y="2050274"/>
            <a:ext cx="2832069" cy="212365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The Ethical Spectrum: Consequences of Moral Absolutism and Relativism for  Global Society">
            <a:extLst>
              <a:ext uri="{FF2B5EF4-FFF2-40B4-BE49-F238E27FC236}">
                <a16:creationId xmlns:a16="http://schemas.microsoft.com/office/drawing/2014/main" id="{8C58B0DD-069F-3F00-AF2F-3210D63EBA04}"/>
              </a:ext>
            </a:extLst>
          </p:cNvPr>
          <p:cNvPicPr>
            <a:picLocks noChangeAspect="1" noChangeArrowheads="1"/>
          </p:cNvPicPr>
          <p:nvPr/>
        </p:nvPicPr>
        <p:blipFill>
          <a:blip r:embed="rId5">
            <a:alphaModFix amt="75000"/>
            <a:extLst>
              <a:ext uri="{BEBA8EAE-BF5A-486C-A8C5-ECC9F3942E4B}">
                <a14:imgProps xmlns:a14="http://schemas.microsoft.com/office/drawing/2010/main">
                  <a14:imgLayer r:embed="rId6">
                    <a14:imgEffect>
                      <a14:artisticBlur/>
                    </a14:imgEffect>
                    <a14:imgEffect>
                      <a14:saturation sat="49000"/>
                    </a14:imgEffect>
                    <a14:imgEffect>
                      <a14:brightnessContrast bright="-19000" contrast="-26000"/>
                    </a14:imgEffect>
                  </a14:imgLayer>
                </a14:imgProps>
              </a:ext>
              <a:ext uri="{28A0092B-C50C-407E-A947-70E740481C1C}">
                <a14:useLocalDpi xmlns:a14="http://schemas.microsoft.com/office/drawing/2010/main" val="0"/>
              </a:ext>
            </a:extLst>
          </a:blip>
          <a:srcRect b="19"/>
          <a:stretch/>
        </p:blipFill>
        <p:spPr bwMode="auto">
          <a:xfrm>
            <a:off x="9161797" y="2050278"/>
            <a:ext cx="2832069" cy="2123648"/>
          </a:xfrm>
          <a:prstGeom prst="rect">
            <a:avLst/>
          </a:prstGeom>
          <a:solidFill>
            <a:schemeClr val="bg1">
              <a:lumMod val="85000"/>
            </a:schemeClr>
          </a:solidFill>
        </p:spPr>
      </p:pic>
      <p:sp>
        <p:nvSpPr>
          <p:cNvPr id="12" name="Content Placeholder 11">
            <a:extLst>
              <a:ext uri="{FF2B5EF4-FFF2-40B4-BE49-F238E27FC236}">
                <a16:creationId xmlns:a16="http://schemas.microsoft.com/office/drawing/2014/main" id="{5FADEE12-C88A-98A6-5403-619C4E2B8271}"/>
              </a:ext>
            </a:extLst>
          </p:cNvPr>
          <p:cNvSpPr>
            <a:spLocks noGrp="1"/>
          </p:cNvSpPr>
          <p:nvPr>
            <p:ph idx="1"/>
          </p:nvPr>
        </p:nvSpPr>
        <p:spPr>
          <a:xfrm>
            <a:off x="198134" y="4425362"/>
            <a:ext cx="2832070" cy="1505392"/>
          </a:xfrm>
        </p:spPr>
        <p:txBody>
          <a:bodyPr/>
          <a:lstStyle/>
          <a:p>
            <a:pPr marL="0" indent="0">
              <a:buNone/>
            </a:pPr>
            <a:r>
              <a:rPr lang="en-ES" b="1" dirty="0">
                <a:solidFill>
                  <a:schemeClr val="accent1"/>
                </a:solidFill>
                <a:latin typeface="Bookman Old Style" panose="02050604050505020204" pitchFamily="18" charset="0"/>
              </a:rPr>
              <a:t>Don’t push.</a:t>
            </a:r>
          </a:p>
          <a:p>
            <a:pPr marL="0" indent="0">
              <a:buNone/>
            </a:pPr>
            <a:r>
              <a:rPr lang="en-ES" i="1" dirty="0">
                <a:solidFill>
                  <a:schemeClr val="accent2"/>
                </a:solidFill>
                <a:latin typeface="Bookman Old Style" panose="02050604050505020204" pitchFamily="18" charset="0"/>
              </a:rPr>
              <a:t>Push.</a:t>
            </a:r>
          </a:p>
        </p:txBody>
      </p:sp>
      <p:sp>
        <p:nvSpPr>
          <p:cNvPr id="13" name="Content Placeholder 11">
            <a:extLst>
              <a:ext uri="{FF2B5EF4-FFF2-40B4-BE49-F238E27FC236}">
                <a16:creationId xmlns:a16="http://schemas.microsoft.com/office/drawing/2014/main" id="{78E8D322-C107-7FC3-CC21-236703547D14}"/>
              </a:ext>
            </a:extLst>
          </p:cNvPr>
          <p:cNvSpPr txBox="1">
            <a:spLocks/>
          </p:cNvSpPr>
          <p:nvPr/>
        </p:nvSpPr>
        <p:spPr>
          <a:xfrm>
            <a:off x="3178939" y="4407366"/>
            <a:ext cx="2832070" cy="1505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ES" b="1" dirty="0">
                <a:solidFill>
                  <a:schemeClr val="accent1"/>
                </a:solidFill>
                <a:latin typeface="Bookman Old Style" panose="02050604050505020204" pitchFamily="18" charset="0"/>
              </a:rPr>
              <a:t>He’s free.</a:t>
            </a:r>
          </a:p>
          <a:p>
            <a:pPr marL="0" indent="0">
              <a:buFont typeface="Arial" panose="020B0604020202020204" pitchFamily="34" charset="0"/>
              <a:buNone/>
            </a:pPr>
            <a:r>
              <a:rPr lang="en-ES" i="1" dirty="0">
                <a:solidFill>
                  <a:schemeClr val="accent2"/>
                </a:solidFill>
                <a:latin typeface="Bookman Old Style" panose="02050604050505020204" pitchFamily="18" charset="0"/>
              </a:rPr>
              <a:t>He’s not free.</a:t>
            </a:r>
          </a:p>
        </p:txBody>
      </p:sp>
      <p:sp>
        <p:nvSpPr>
          <p:cNvPr id="16" name="Content Placeholder 11">
            <a:extLst>
              <a:ext uri="{FF2B5EF4-FFF2-40B4-BE49-F238E27FC236}">
                <a16:creationId xmlns:a16="http://schemas.microsoft.com/office/drawing/2014/main" id="{260C55ED-3501-EAFE-3FF2-86FFDD44D081}"/>
              </a:ext>
            </a:extLst>
          </p:cNvPr>
          <p:cNvSpPr txBox="1">
            <a:spLocks/>
          </p:cNvSpPr>
          <p:nvPr/>
        </p:nvSpPr>
        <p:spPr>
          <a:xfrm>
            <a:off x="6261877" y="4412187"/>
            <a:ext cx="3510083" cy="1505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ES" b="1" dirty="0">
                <a:solidFill>
                  <a:schemeClr val="accent1"/>
                </a:solidFill>
                <a:latin typeface="Bookman Old Style" panose="02050604050505020204" pitchFamily="18" charset="0"/>
              </a:rPr>
              <a:t>You know.</a:t>
            </a:r>
          </a:p>
          <a:p>
            <a:pPr marL="0" indent="0">
              <a:buFont typeface="Arial" panose="020B0604020202020204" pitchFamily="34" charset="0"/>
              <a:buNone/>
            </a:pPr>
            <a:r>
              <a:rPr lang="en-ES" i="1" dirty="0">
                <a:solidFill>
                  <a:schemeClr val="accent2"/>
                </a:solidFill>
                <a:latin typeface="Bookman Old Style" panose="02050604050505020204" pitchFamily="18" charset="0"/>
              </a:rPr>
              <a:t>You don’t know.</a:t>
            </a:r>
          </a:p>
        </p:txBody>
      </p:sp>
      <p:pic>
        <p:nvPicPr>
          <p:cNvPr id="5" name="Graphic 4" descr="Users with solid fill">
            <a:extLst>
              <a:ext uri="{FF2B5EF4-FFF2-40B4-BE49-F238E27FC236}">
                <a16:creationId xmlns:a16="http://schemas.microsoft.com/office/drawing/2014/main" id="{2D4AAFAB-485E-3DEC-1B2E-27300C0A770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64321" y="4263382"/>
            <a:ext cx="684000" cy="684000"/>
          </a:xfrm>
          <a:prstGeom prst="rect">
            <a:avLst/>
          </a:prstGeom>
        </p:spPr>
      </p:pic>
      <p:pic>
        <p:nvPicPr>
          <p:cNvPr id="17" name="Graphic 16" descr="Fork In Road with solid fill">
            <a:extLst>
              <a:ext uri="{FF2B5EF4-FFF2-40B4-BE49-F238E27FC236}">
                <a16:creationId xmlns:a16="http://schemas.microsoft.com/office/drawing/2014/main" id="{323CC8CE-A0E3-E66A-6371-0093CF0508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06539" y="4833072"/>
            <a:ext cx="612000" cy="612000"/>
          </a:xfrm>
          <a:prstGeom prst="rect">
            <a:avLst/>
          </a:prstGeom>
        </p:spPr>
      </p:pic>
    </p:spTree>
    <p:extLst>
      <p:ext uri="{BB962C8B-B14F-4D97-AF65-F5344CB8AC3E}">
        <p14:creationId xmlns:p14="http://schemas.microsoft.com/office/powerpoint/2010/main" val="2757550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2EAEC-A459-7A23-C647-9709E7BB284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4C70E5A-411A-47EE-BB87-F4A2578555CE}"/>
              </a:ext>
            </a:extLst>
          </p:cNvPr>
          <p:cNvSpPr txBox="1">
            <a:spLocks/>
          </p:cNvSpPr>
          <p:nvPr/>
        </p:nvSpPr>
        <p:spPr>
          <a:xfrm>
            <a:off x="0" y="-69081"/>
            <a:ext cx="12192000" cy="1325563"/>
          </a:xfrm>
          <a:prstGeom prst="rect">
            <a:avLst/>
          </a:prstGeom>
          <a:solidFill>
            <a:schemeClr val="bg1">
              <a:alpha val="9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800" dirty="0" err="1">
                <a:latin typeface="Bookman Old Style" panose="02050604050505020204" pitchFamily="18" charset="0"/>
              </a:rPr>
              <a:t>When</a:t>
            </a:r>
            <a:r>
              <a:rPr lang="es-ES" sz="3800" dirty="0">
                <a:latin typeface="Bookman Old Style" panose="02050604050505020204" pitchFamily="18" charset="0"/>
              </a:rPr>
              <a:t> do </a:t>
            </a:r>
            <a:r>
              <a:rPr lang="es-ES" sz="3800" dirty="0" err="1">
                <a:latin typeface="Bookman Old Style" panose="02050604050505020204" pitchFamily="18" charset="0"/>
              </a:rPr>
              <a:t>people</a:t>
            </a:r>
            <a:r>
              <a:rPr lang="es-ES" sz="3800" dirty="0">
                <a:latin typeface="Bookman Old Style" panose="02050604050505020204" pitchFamily="18" charset="0"/>
              </a:rPr>
              <a:t> </a:t>
            </a:r>
            <a:r>
              <a:rPr lang="es-ES" sz="3800" dirty="0" err="1">
                <a:latin typeface="Bookman Old Style" panose="02050604050505020204" pitchFamily="18" charset="0"/>
              </a:rPr>
              <a:t>have</a:t>
            </a:r>
            <a:r>
              <a:rPr lang="en-ES" sz="3800" dirty="0">
                <a:latin typeface="Bookman Old Style" panose="02050604050505020204" pitchFamily="18" charset="0"/>
              </a:rPr>
              <a:t> conflicting intuitions?</a:t>
            </a:r>
          </a:p>
        </p:txBody>
      </p:sp>
      <p:pic>
        <p:nvPicPr>
          <p:cNvPr id="2" name="Picture 1">
            <a:extLst>
              <a:ext uri="{FF2B5EF4-FFF2-40B4-BE49-F238E27FC236}">
                <a16:creationId xmlns:a16="http://schemas.microsoft.com/office/drawing/2014/main" id="{B08A2174-5FE6-657A-6405-C1A4920EBC57}"/>
              </a:ext>
            </a:extLst>
          </p:cNvPr>
          <p:cNvPicPr>
            <a:picLocks noChangeAspect="1"/>
          </p:cNvPicPr>
          <p:nvPr/>
        </p:nvPicPr>
        <p:blipFill>
          <a:blip r:embed="rId2"/>
          <a:stretch>
            <a:fillRect/>
          </a:stretch>
        </p:blipFill>
        <p:spPr>
          <a:xfrm>
            <a:off x="1377221" y="1083869"/>
            <a:ext cx="9437557" cy="5658697"/>
          </a:xfrm>
          <a:prstGeom prst="rect">
            <a:avLst/>
          </a:prstGeom>
        </p:spPr>
      </p:pic>
    </p:spTree>
    <p:extLst>
      <p:ext uri="{BB962C8B-B14F-4D97-AF65-F5344CB8AC3E}">
        <p14:creationId xmlns:p14="http://schemas.microsoft.com/office/powerpoint/2010/main" val="3810019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E6D2"/>
        </a:solidFill>
        <a:effectLst/>
      </p:bgPr>
    </p:bg>
    <p:spTree>
      <p:nvGrpSpPr>
        <p:cNvPr id="1" name="">
          <a:extLst>
            <a:ext uri="{FF2B5EF4-FFF2-40B4-BE49-F238E27FC236}">
              <a16:creationId xmlns:a16="http://schemas.microsoft.com/office/drawing/2014/main" id="{AFC0B503-5914-13CC-8C1B-E879AABC514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0160A9F-66E8-1CA2-076E-911522C7E9BD}"/>
              </a:ext>
            </a:extLst>
          </p:cNvPr>
          <p:cNvSpPr txBox="1">
            <a:spLocks/>
          </p:cNvSpPr>
          <p:nvPr/>
        </p:nvSpPr>
        <p:spPr>
          <a:xfrm>
            <a:off x="0" y="-69081"/>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800" dirty="0">
                <a:latin typeface="Bookman Old Style" panose="02050604050505020204" pitchFamily="18" charset="0"/>
              </a:rPr>
              <a:t>The </a:t>
            </a:r>
            <a:r>
              <a:rPr lang="es-ES" sz="3800" dirty="0" err="1">
                <a:latin typeface="Bookman Old Style" panose="02050604050505020204" pitchFamily="18" charset="0"/>
              </a:rPr>
              <a:t>popularity</a:t>
            </a:r>
            <a:r>
              <a:rPr lang="es-ES" sz="3800" dirty="0">
                <a:latin typeface="Bookman Old Style" panose="02050604050505020204" pitchFamily="18" charset="0"/>
              </a:rPr>
              <a:t> </a:t>
            </a:r>
            <a:r>
              <a:rPr lang="es-ES" sz="3800" dirty="0" err="1">
                <a:latin typeface="Bookman Old Style" panose="02050604050505020204" pitchFamily="18" charset="0"/>
              </a:rPr>
              <a:t>of</a:t>
            </a:r>
            <a:r>
              <a:rPr lang="es-ES" sz="3800" dirty="0">
                <a:latin typeface="Bookman Old Style" panose="02050604050505020204" pitchFamily="18" charset="0"/>
              </a:rPr>
              <a:t> </a:t>
            </a:r>
            <a:r>
              <a:rPr lang="es-ES" sz="3800" dirty="0" err="1">
                <a:latin typeface="Bookman Old Style" panose="02050604050505020204" pitchFamily="18" charset="0"/>
              </a:rPr>
              <a:t>the</a:t>
            </a:r>
            <a:r>
              <a:rPr lang="es-ES" sz="3800" dirty="0">
                <a:latin typeface="Bookman Old Style" panose="02050604050505020204" pitchFamily="18" charset="0"/>
              </a:rPr>
              <a:t> </a:t>
            </a:r>
            <a:r>
              <a:rPr lang="es-ES" sz="3800" dirty="0" err="1">
                <a:latin typeface="Bookman Old Style" panose="02050604050505020204" pitchFamily="18" charset="0"/>
              </a:rPr>
              <a:t>unchosen</a:t>
            </a:r>
            <a:r>
              <a:rPr lang="es-ES" sz="3800" dirty="0">
                <a:latin typeface="Bookman Old Style" panose="02050604050505020204" pitchFamily="18" charset="0"/>
              </a:rPr>
              <a:t> </a:t>
            </a:r>
            <a:r>
              <a:rPr lang="es-ES" sz="3800" dirty="0" err="1">
                <a:latin typeface="Bookman Old Style" panose="02050604050505020204" pitchFamily="18" charset="0"/>
              </a:rPr>
              <a:t>answer</a:t>
            </a:r>
            <a:r>
              <a:rPr lang="es-ES" sz="3800" dirty="0">
                <a:latin typeface="Bookman Old Style" panose="02050604050505020204" pitchFamily="18" charset="0"/>
              </a:rPr>
              <a:t> </a:t>
            </a:r>
            <a:endParaRPr lang="en-ES" sz="3800" dirty="0">
              <a:latin typeface="Bookman Old Style" panose="02050604050505020204" pitchFamily="18" charset="0"/>
            </a:endParaRPr>
          </a:p>
        </p:txBody>
      </p:sp>
      <p:pic>
        <p:nvPicPr>
          <p:cNvPr id="8194" name="Picture 2">
            <a:extLst>
              <a:ext uri="{FF2B5EF4-FFF2-40B4-BE49-F238E27FC236}">
                <a16:creationId xmlns:a16="http://schemas.microsoft.com/office/drawing/2014/main" id="{ADBB92A2-2C3A-5558-5457-412CBFBCA5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4669" y="939807"/>
            <a:ext cx="7462661" cy="578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30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E6D2"/>
        </a:solidFill>
        <a:effectLst/>
      </p:bgPr>
    </p:bg>
    <p:spTree>
      <p:nvGrpSpPr>
        <p:cNvPr id="1" name="">
          <a:extLst>
            <a:ext uri="{FF2B5EF4-FFF2-40B4-BE49-F238E27FC236}">
              <a16:creationId xmlns:a16="http://schemas.microsoft.com/office/drawing/2014/main" id="{EFB4C5D8-B706-46DF-4BE3-687CECAB7A3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9AFE325-B931-5464-2D3F-FB2BE3EDED00}"/>
              </a:ext>
            </a:extLst>
          </p:cNvPr>
          <p:cNvSpPr txBox="1">
            <a:spLocks/>
          </p:cNvSpPr>
          <p:nvPr/>
        </p:nvSpPr>
        <p:spPr>
          <a:xfrm>
            <a:off x="0" y="-69081"/>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800" dirty="0">
                <a:latin typeface="Bookman Old Style" panose="02050604050505020204" pitchFamily="18" charset="0"/>
              </a:rPr>
              <a:t>The </a:t>
            </a:r>
            <a:r>
              <a:rPr lang="es-ES" sz="3800" dirty="0" err="1">
                <a:latin typeface="Bookman Old Style" panose="02050604050505020204" pitchFamily="18" charset="0"/>
              </a:rPr>
              <a:t>popularity</a:t>
            </a:r>
            <a:r>
              <a:rPr lang="es-ES" sz="3800" dirty="0">
                <a:latin typeface="Bookman Old Style" panose="02050604050505020204" pitchFamily="18" charset="0"/>
              </a:rPr>
              <a:t> </a:t>
            </a:r>
            <a:r>
              <a:rPr lang="es-ES" sz="3800" dirty="0" err="1">
                <a:latin typeface="Bookman Old Style" panose="02050604050505020204" pitchFamily="18" charset="0"/>
              </a:rPr>
              <a:t>of</a:t>
            </a:r>
            <a:r>
              <a:rPr lang="es-ES" sz="3800" dirty="0">
                <a:latin typeface="Bookman Old Style" panose="02050604050505020204" pitchFamily="18" charset="0"/>
              </a:rPr>
              <a:t> </a:t>
            </a:r>
            <a:r>
              <a:rPr lang="es-ES" sz="3800" dirty="0" err="1">
                <a:latin typeface="Bookman Old Style" panose="02050604050505020204" pitchFamily="18" charset="0"/>
              </a:rPr>
              <a:t>the</a:t>
            </a:r>
            <a:r>
              <a:rPr lang="es-ES" sz="3800" dirty="0">
                <a:latin typeface="Bookman Old Style" panose="02050604050505020204" pitchFamily="18" charset="0"/>
              </a:rPr>
              <a:t> </a:t>
            </a:r>
            <a:r>
              <a:rPr lang="es-ES" sz="3800" dirty="0" err="1">
                <a:latin typeface="Bookman Old Style" panose="02050604050505020204" pitchFamily="18" charset="0"/>
              </a:rPr>
              <a:t>unchosen</a:t>
            </a:r>
            <a:r>
              <a:rPr lang="es-ES" sz="3800" dirty="0">
                <a:latin typeface="Bookman Old Style" panose="02050604050505020204" pitchFamily="18" charset="0"/>
              </a:rPr>
              <a:t> </a:t>
            </a:r>
            <a:r>
              <a:rPr lang="es-ES" sz="3800" dirty="0" err="1">
                <a:latin typeface="Bookman Old Style" panose="02050604050505020204" pitchFamily="18" charset="0"/>
              </a:rPr>
              <a:t>answer</a:t>
            </a:r>
            <a:r>
              <a:rPr lang="es-ES" sz="3800" dirty="0">
                <a:latin typeface="Bookman Old Style" panose="02050604050505020204" pitchFamily="18" charset="0"/>
              </a:rPr>
              <a:t> </a:t>
            </a:r>
            <a:endParaRPr lang="en-ES" sz="3800" dirty="0">
              <a:latin typeface="Bookman Old Style" panose="02050604050505020204" pitchFamily="18" charset="0"/>
            </a:endParaRPr>
          </a:p>
        </p:txBody>
      </p:sp>
      <p:pic>
        <p:nvPicPr>
          <p:cNvPr id="8194" name="Picture 2">
            <a:extLst>
              <a:ext uri="{FF2B5EF4-FFF2-40B4-BE49-F238E27FC236}">
                <a16:creationId xmlns:a16="http://schemas.microsoft.com/office/drawing/2014/main" id="{387120E0-D247-8176-C6A8-7352989591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4669" y="939807"/>
            <a:ext cx="7462661" cy="5782725"/>
          </a:xfrm>
          <a:prstGeom prst="rect">
            <a:avLst/>
          </a:prstGeom>
          <a:noFill/>
          <a:extLst>
            <a:ext uri="{909E8E84-426E-40DD-AFC4-6F175D3DCCD1}">
              <a14:hiddenFill xmlns:a14="http://schemas.microsoft.com/office/drawing/2010/main">
                <a:solidFill>
                  <a:srgbClr val="FFFFFF"/>
                </a:solidFill>
              </a14:hiddenFill>
            </a:ext>
          </a:extLst>
        </p:spPr>
      </p:pic>
      <p:pic>
        <p:nvPicPr>
          <p:cNvPr id="8283" name="Picture 8282">
            <a:extLst>
              <a:ext uri="{FF2B5EF4-FFF2-40B4-BE49-F238E27FC236}">
                <a16:creationId xmlns:a16="http://schemas.microsoft.com/office/drawing/2014/main" id="{2595A9B4-499F-49C4-5B8A-03CBE430D8B0}"/>
              </a:ext>
            </a:extLst>
          </p:cNvPr>
          <p:cNvPicPr>
            <a:picLocks noChangeAspect="1"/>
          </p:cNvPicPr>
          <p:nvPr/>
        </p:nvPicPr>
        <p:blipFill>
          <a:blip r:embed="rId3">
            <a:alphaModFix amt="95000"/>
          </a:blip>
          <a:stretch>
            <a:fillRect/>
          </a:stretch>
        </p:blipFill>
        <p:spPr>
          <a:xfrm>
            <a:off x="3174999" y="1643887"/>
            <a:ext cx="5842000" cy="4775200"/>
          </a:xfrm>
          <a:prstGeom prst="rect">
            <a:avLst/>
          </a:prstGeom>
        </p:spPr>
      </p:pic>
    </p:spTree>
    <p:extLst>
      <p:ext uri="{BB962C8B-B14F-4D97-AF65-F5344CB8AC3E}">
        <p14:creationId xmlns:p14="http://schemas.microsoft.com/office/powerpoint/2010/main" val="416956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F4B2-03D6-3F7A-BEB7-E0EF82B6C15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C5A144-3112-3144-4278-5106BA52E9B9}"/>
              </a:ext>
            </a:extLst>
          </p:cNvPr>
          <p:cNvSpPr txBox="1">
            <a:spLocks/>
          </p:cNvSpPr>
          <p:nvPr/>
        </p:nvSpPr>
        <p:spPr>
          <a:xfrm>
            <a:off x="0" y="-69081"/>
            <a:ext cx="12192000" cy="1325563"/>
          </a:xfrm>
          <a:prstGeom prst="rect">
            <a:avLst/>
          </a:prstGeom>
          <a:solidFill>
            <a:schemeClr val="bg1">
              <a:alpha val="9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800" dirty="0">
                <a:latin typeface="Bookman Old Style" panose="02050604050505020204" pitchFamily="18" charset="0"/>
              </a:rPr>
              <a:t>The </a:t>
            </a:r>
            <a:r>
              <a:rPr lang="es-ES" sz="3800" dirty="0" err="1">
                <a:latin typeface="Bookman Old Style" panose="02050604050505020204" pitchFamily="18" charset="0"/>
              </a:rPr>
              <a:t>popularity</a:t>
            </a:r>
            <a:r>
              <a:rPr lang="es-ES" sz="3800" dirty="0">
                <a:latin typeface="Bookman Old Style" panose="02050604050505020204" pitchFamily="18" charset="0"/>
              </a:rPr>
              <a:t> </a:t>
            </a:r>
            <a:r>
              <a:rPr lang="es-ES" sz="3800" dirty="0" err="1">
                <a:latin typeface="Bookman Old Style" panose="02050604050505020204" pitchFamily="18" charset="0"/>
              </a:rPr>
              <a:t>of</a:t>
            </a:r>
            <a:r>
              <a:rPr lang="es-ES" sz="3800" dirty="0">
                <a:latin typeface="Bookman Old Style" panose="02050604050505020204" pitchFamily="18" charset="0"/>
              </a:rPr>
              <a:t> </a:t>
            </a:r>
            <a:r>
              <a:rPr lang="es-ES" sz="3800" dirty="0" err="1">
                <a:latin typeface="Bookman Old Style" panose="02050604050505020204" pitchFamily="18" charset="0"/>
              </a:rPr>
              <a:t>the</a:t>
            </a:r>
            <a:r>
              <a:rPr lang="es-ES" sz="3800" dirty="0">
                <a:latin typeface="Bookman Old Style" panose="02050604050505020204" pitchFamily="18" charset="0"/>
              </a:rPr>
              <a:t> </a:t>
            </a:r>
            <a:r>
              <a:rPr lang="es-ES" sz="3800" dirty="0" err="1">
                <a:latin typeface="Bookman Old Style" panose="02050604050505020204" pitchFamily="18" charset="0"/>
              </a:rPr>
              <a:t>unchosen</a:t>
            </a:r>
            <a:r>
              <a:rPr lang="es-ES" sz="3800" dirty="0">
                <a:latin typeface="Bookman Old Style" panose="02050604050505020204" pitchFamily="18" charset="0"/>
              </a:rPr>
              <a:t> </a:t>
            </a:r>
            <a:r>
              <a:rPr lang="es-ES" sz="3800" dirty="0" err="1">
                <a:latin typeface="Bookman Old Style" panose="02050604050505020204" pitchFamily="18" charset="0"/>
              </a:rPr>
              <a:t>answer</a:t>
            </a:r>
            <a:r>
              <a:rPr lang="es-ES" sz="3800" dirty="0">
                <a:latin typeface="Bookman Old Style" panose="02050604050505020204" pitchFamily="18" charset="0"/>
              </a:rPr>
              <a:t> </a:t>
            </a:r>
            <a:endParaRPr lang="en-ES" sz="3800" dirty="0">
              <a:latin typeface="Bookman Old Style" panose="02050604050505020204" pitchFamily="18" charset="0"/>
            </a:endParaRPr>
          </a:p>
        </p:txBody>
      </p:sp>
      <p:pic>
        <p:nvPicPr>
          <p:cNvPr id="3" name="Content Placeholder 4">
            <a:extLst>
              <a:ext uri="{FF2B5EF4-FFF2-40B4-BE49-F238E27FC236}">
                <a16:creationId xmlns:a16="http://schemas.microsoft.com/office/drawing/2014/main" id="{C0E37CEC-300D-5E60-84CC-5964A9F76662}"/>
              </a:ext>
            </a:extLst>
          </p:cNvPr>
          <p:cNvPicPr>
            <a:picLocks noGrp="1" noChangeAspect="1"/>
          </p:cNvPicPr>
          <p:nvPr>
            <p:ph idx="1"/>
          </p:nvPr>
        </p:nvPicPr>
        <p:blipFill>
          <a:blip r:embed="rId2"/>
          <a:srcRect t="29385"/>
          <a:stretch>
            <a:fillRect/>
          </a:stretch>
        </p:blipFill>
        <p:spPr bwMode="auto">
          <a:xfrm>
            <a:off x="2199230" y="1697576"/>
            <a:ext cx="4903825" cy="3462847"/>
          </a:xfrm>
          <a:prstGeom prst="rect">
            <a:avLst/>
          </a:prstGeom>
          <a:noFill/>
          <a:ln w="9525">
            <a:noFill/>
            <a:miter lim="800000"/>
            <a:headEnd/>
            <a:tailEnd/>
          </a:ln>
        </p:spPr>
      </p:pic>
      <p:pic>
        <p:nvPicPr>
          <p:cNvPr id="4" name="Content Placeholder 4">
            <a:extLst>
              <a:ext uri="{FF2B5EF4-FFF2-40B4-BE49-F238E27FC236}">
                <a16:creationId xmlns:a16="http://schemas.microsoft.com/office/drawing/2014/main" id="{C1693263-A184-965D-8EAD-8105E07B7B5C}"/>
              </a:ext>
            </a:extLst>
          </p:cNvPr>
          <p:cNvPicPr>
            <a:picLocks noChangeAspect="1"/>
          </p:cNvPicPr>
          <p:nvPr/>
        </p:nvPicPr>
        <p:blipFill>
          <a:blip r:embed="rId2"/>
          <a:srcRect r="49861" b="70250"/>
          <a:stretch>
            <a:fillRect/>
          </a:stretch>
        </p:blipFill>
        <p:spPr bwMode="auto">
          <a:xfrm>
            <a:off x="7103054" y="2150380"/>
            <a:ext cx="2063902" cy="1224607"/>
          </a:xfrm>
          <a:prstGeom prst="rect">
            <a:avLst/>
          </a:prstGeom>
          <a:noFill/>
          <a:ln w="9525">
            <a:noFill/>
            <a:miter lim="800000"/>
            <a:headEnd/>
            <a:tailEnd/>
          </a:ln>
        </p:spPr>
      </p:pic>
      <p:pic>
        <p:nvPicPr>
          <p:cNvPr id="5" name="Content Placeholder 4">
            <a:extLst>
              <a:ext uri="{FF2B5EF4-FFF2-40B4-BE49-F238E27FC236}">
                <a16:creationId xmlns:a16="http://schemas.microsoft.com/office/drawing/2014/main" id="{DF3A2BC5-302A-3179-2CEB-6AAA9B642282}"/>
              </a:ext>
            </a:extLst>
          </p:cNvPr>
          <p:cNvPicPr>
            <a:picLocks noChangeAspect="1"/>
          </p:cNvPicPr>
          <p:nvPr/>
        </p:nvPicPr>
        <p:blipFill>
          <a:blip r:embed="rId2"/>
          <a:srcRect l="49861" b="70250"/>
          <a:stretch>
            <a:fillRect/>
          </a:stretch>
        </p:blipFill>
        <p:spPr bwMode="auto">
          <a:xfrm>
            <a:off x="7338357" y="3381719"/>
            <a:ext cx="2063902" cy="1224607"/>
          </a:xfrm>
          <a:prstGeom prst="rect">
            <a:avLst/>
          </a:prstGeom>
          <a:noFill/>
          <a:ln w="9525">
            <a:noFill/>
            <a:miter lim="800000"/>
            <a:headEnd/>
            <a:tailEnd/>
          </a:ln>
        </p:spPr>
      </p:pic>
      <p:sp>
        <p:nvSpPr>
          <p:cNvPr id="6" name="TextBox 5">
            <a:extLst>
              <a:ext uri="{FF2B5EF4-FFF2-40B4-BE49-F238E27FC236}">
                <a16:creationId xmlns:a16="http://schemas.microsoft.com/office/drawing/2014/main" id="{892A57B1-AAB7-B35F-DB12-EC0F041788BC}"/>
              </a:ext>
            </a:extLst>
          </p:cNvPr>
          <p:cNvSpPr txBox="1"/>
          <p:nvPr/>
        </p:nvSpPr>
        <p:spPr>
          <a:xfrm>
            <a:off x="1936474" y="6054321"/>
            <a:ext cx="8319052" cy="430887"/>
          </a:xfrm>
          <a:prstGeom prst="rect">
            <a:avLst/>
          </a:prstGeom>
          <a:noFill/>
        </p:spPr>
        <p:txBody>
          <a:bodyPr wrap="square">
            <a:spAutoFit/>
          </a:bodyPr>
          <a:lstStyle/>
          <a:p>
            <a:pPr algn="ctr">
              <a:buNone/>
            </a:pPr>
            <a:r>
              <a:rPr lang="en-GB" sz="2200" i="1" dirty="0">
                <a:latin typeface="Bookman Old Style" panose="02050604050505020204" pitchFamily="18" charset="0"/>
              </a:rPr>
              <a:t>OR </a:t>
            </a:r>
            <a:r>
              <a:rPr lang="en-GB" sz="2200" dirty="0">
                <a:latin typeface="Bookman Old Style" panose="02050604050505020204" pitchFamily="18" charset="0"/>
              </a:rPr>
              <a:t>= 3.80, 95% </a:t>
            </a:r>
            <a:r>
              <a:rPr lang="en-GB" sz="2200" i="1" dirty="0">
                <a:latin typeface="Bookman Old Style" panose="02050604050505020204" pitchFamily="18" charset="0"/>
              </a:rPr>
              <a:t>CI </a:t>
            </a:r>
            <a:r>
              <a:rPr lang="en-GB" sz="2200" dirty="0">
                <a:latin typeface="Bookman Old Style" panose="02050604050505020204" pitchFamily="18" charset="0"/>
              </a:rPr>
              <a:t>[2.03, 7.10], </a:t>
            </a:r>
            <a:r>
              <a:rPr lang="en-GB" sz="2200" i="1" dirty="0">
                <a:latin typeface="Bookman Old Style" panose="02050604050505020204" pitchFamily="18" charset="0"/>
              </a:rPr>
              <a:t>z </a:t>
            </a:r>
            <a:r>
              <a:rPr lang="en-GB" sz="2200" dirty="0">
                <a:latin typeface="Bookman Old Style" panose="02050604050505020204" pitchFamily="18" charset="0"/>
              </a:rPr>
              <a:t>= 4.19, </a:t>
            </a:r>
            <a:r>
              <a:rPr lang="en-GB" sz="2200" i="1" dirty="0">
                <a:latin typeface="Bookman Old Style" panose="02050604050505020204" pitchFamily="18" charset="0"/>
              </a:rPr>
              <a:t>p </a:t>
            </a:r>
            <a:r>
              <a:rPr lang="en-GB" sz="2200" dirty="0">
                <a:latin typeface="Bookman Old Style" panose="02050604050505020204" pitchFamily="18" charset="0"/>
              </a:rPr>
              <a:t>&lt; .001 </a:t>
            </a:r>
          </a:p>
        </p:txBody>
      </p:sp>
    </p:spTree>
    <p:extLst>
      <p:ext uri="{BB962C8B-B14F-4D97-AF65-F5344CB8AC3E}">
        <p14:creationId xmlns:p14="http://schemas.microsoft.com/office/powerpoint/2010/main" val="3135941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DD4ACF-AC89-3E69-2824-5CA105AD3D65}"/>
              </a:ext>
            </a:extLst>
          </p:cNvPr>
          <p:cNvPicPr>
            <a:picLocks noChangeAspect="1"/>
          </p:cNvPicPr>
          <p:nvPr/>
        </p:nvPicPr>
        <p:blipFill>
          <a:blip r:embed="rId2"/>
          <a:stretch>
            <a:fillRect/>
          </a:stretch>
        </p:blipFill>
        <p:spPr>
          <a:xfrm>
            <a:off x="2292350" y="1473200"/>
            <a:ext cx="7607300" cy="3911600"/>
          </a:xfrm>
          <a:prstGeom prst="rect">
            <a:avLst/>
          </a:prstGeom>
        </p:spPr>
      </p:pic>
    </p:spTree>
    <p:extLst>
      <p:ext uri="{BB962C8B-B14F-4D97-AF65-F5344CB8AC3E}">
        <p14:creationId xmlns:p14="http://schemas.microsoft.com/office/powerpoint/2010/main" val="3464886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91143-A4CE-7542-D9F0-B3F1ADF56A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459A65-7340-4CE0-610A-B3A390E6611E}"/>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2292350" y="1473200"/>
            <a:ext cx="7607300" cy="3911600"/>
          </a:xfrm>
          <a:prstGeom prst="rect">
            <a:avLst/>
          </a:prstGeom>
        </p:spPr>
      </p:pic>
      <p:pic>
        <p:nvPicPr>
          <p:cNvPr id="2" name="Picture 1">
            <a:extLst>
              <a:ext uri="{FF2B5EF4-FFF2-40B4-BE49-F238E27FC236}">
                <a16:creationId xmlns:a16="http://schemas.microsoft.com/office/drawing/2014/main" id="{8173181C-B709-0695-55EF-AA10FA0207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3334"/>
          <a:stretch>
            <a:fillRect/>
          </a:stretch>
        </p:blipFill>
        <p:spPr bwMode="auto">
          <a:xfrm>
            <a:off x="1566322" y="2221371"/>
            <a:ext cx="2596107" cy="25961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0276EE40-755A-2D54-4EF1-0F337E26F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9571" y="2221371"/>
            <a:ext cx="2596107" cy="25961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BB4D67-CBA2-88A6-34D6-326BCBA463F5}"/>
              </a:ext>
            </a:extLst>
          </p:cNvPr>
          <p:cNvSpPr txBox="1"/>
          <p:nvPr/>
        </p:nvSpPr>
        <p:spPr>
          <a:xfrm>
            <a:off x="1566322" y="5015468"/>
            <a:ext cx="2596107" cy="430887"/>
          </a:xfrm>
          <a:prstGeom prst="rect">
            <a:avLst/>
          </a:prstGeom>
          <a:noFill/>
        </p:spPr>
        <p:txBody>
          <a:bodyPr wrap="square">
            <a:spAutoFit/>
          </a:bodyPr>
          <a:lstStyle/>
          <a:p>
            <a:pPr algn="ctr"/>
            <a:r>
              <a:rPr lang="en-US" sz="2200" dirty="0">
                <a:latin typeface="Bookman Old Style" panose="02050604050505020204" pitchFamily="18" charset="0"/>
              </a:rPr>
              <a:t>1249 laypeople</a:t>
            </a:r>
          </a:p>
        </p:txBody>
      </p:sp>
      <p:sp>
        <p:nvSpPr>
          <p:cNvPr id="6" name="TextBox 5">
            <a:extLst>
              <a:ext uri="{FF2B5EF4-FFF2-40B4-BE49-F238E27FC236}">
                <a16:creationId xmlns:a16="http://schemas.microsoft.com/office/drawing/2014/main" id="{2EE16E61-B1CB-4A0A-8ADF-B8C6CE2EA4B8}"/>
              </a:ext>
            </a:extLst>
          </p:cNvPr>
          <p:cNvSpPr txBox="1"/>
          <p:nvPr/>
        </p:nvSpPr>
        <p:spPr>
          <a:xfrm>
            <a:off x="8029571" y="5015468"/>
            <a:ext cx="2596107" cy="430887"/>
          </a:xfrm>
          <a:prstGeom prst="rect">
            <a:avLst/>
          </a:prstGeom>
          <a:noFill/>
        </p:spPr>
        <p:txBody>
          <a:bodyPr wrap="square">
            <a:spAutoFit/>
          </a:bodyPr>
          <a:lstStyle/>
          <a:p>
            <a:pPr algn="ctr"/>
            <a:r>
              <a:rPr lang="en-US" sz="2200" dirty="0">
                <a:latin typeface="Bookman Old Style" panose="02050604050505020204" pitchFamily="18" charset="0"/>
              </a:rPr>
              <a:t>634 philosophers</a:t>
            </a:r>
          </a:p>
        </p:txBody>
      </p:sp>
    </p:spTree>
    <p:extLst>
      <p:ext uri="{BB962C8B-B14F-4D97-AF65-F5344CB8AC3E}">
        <p14:creationId xmlns:p14="http://schemas.microsoft.com/office/powerpoint/2010/main" val="3393316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8A1AB-DA8E-FBBD-1463-E9D28BD7534E}"/>
            </a:ext>
          </a:extLst>
        </p:cNvPr>
        <p:cNvGrpSpPr/>
        <p:nvPr/>
      </p:nvGrpSpPr>
      <p:grpSpPr>
        <a:xfrm>
          <a:off x="0" y="0"/>
          <a:ext cx="0" cy="0"/>
          <a:chOff x="0" y="0"/>
          <a:chExt cx="0" cy="0"/>
        </a:xfrm>
      </p:grpSpPr>
      <p:pic>
        <p:nvPicPr>
          <p:cNvPr id="3" name="Picture 2" descr="Excellence Comes by Habit: Aristotle on Moral Virtue •">
            <a:extLst>
              <a:ext uri="{FF2B5EF4-FFF2-40B4-BE49-F238E27FC236}">
                <a16:creationId xmlns:a16="http://schemas.microsoft.com/office/drawing/2014/main" id="{13651C32-17E4-37C9-0854-57EE522DB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7819" y="2221372"/>
            <a:ext cx="2544689" cy="254468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9B71B4B-B937-C734-B94B-D679A47BECE0}"/>
              </a:ext>
            </a:extLst>
          </p:cNvPr>
          <p:cNvSpPr txBox="1"/>
          <p:nvPr/>
        </p:nvSpPr>
        <p:spPr>
          <a:xfrm>
            <a:off x="6814005" y="4976880"/>
            <a:ext cx="2452317" cy="369332"/>
          </a:xfrm>
          <a:prstGeom prst="rect">
            <a:avLst/>
          </a:prstGeom>
          <a:noFill/>
        </p:spPr>
        <p:txBody>
          <a:bodyPr wrap="square">
            <a:spAutoFit/>
          </a:bodyPr>
          <a:lstStyle/>
          <a:p>
            <a:pPr algn="ctr"/>
            <a:r>
              <a:rPr lang="en-US" b="1" dirty="0"/>
              <a:t>634 Philosophers</a:t>
            </a:r>
          </a:p>
        </p:txBody>
      </p:sp>
      <p:sp>
        <p:nvSpPr>
          <p:cNvPr id="7" name="TextBox 6">
            <a:extLst>
              <a:ext uri="{FF2B5EF4-FFF2-40B4-BE49-F238E27FC236}">
                <a16:creationId xmlns:a16="http://schemas.microsoft.com/office/drawing/2014/main" id="{2C429D89-239F-3095-FCD4-7B6080C06EA6}"/>
              </a:ext>
            </a:extLst>
          </p:cNvPr>
          <p:cNvSpPr txBox="1"/>
          <p:nvPr/>
        </p:nvSpPr>
        <p:spPr>
          <a:xfrm>
            <a:off x="2667001" y="4976880"/>
            <a:ext cx="2811378" cy="369332"/>
          </a:xfrm>
          <a:prstGeom prst="rect">
            <a:avLst/>
          </a:prstGeom>
          <a:noFill/>
        </p:spPr>
        <p:txBody>
          <a:bodyPr wrap="square">
            <a:spAutoFit/>
          </a:bodyPr>
          <a:lstStyle/>
          <a:p>
            <a:pPr algn="ctr"/>
            <a:r>
              <a:rPr lang="en-US" b="1" dirty="0"/>
              <a:t>1249 Laypeople</a:t>
            </a:r>
          </a:p>
        </p:txBody>
      </p:sp>
      <p:sp>
        <p:nvSpPr>
          <p:cNvPr id="8" name="Title 7">
            <a:extLst>
              <a:ext uri="{FF2B5EF4-FFF2-40B4-BE49-F238E27FC236}">
                <a16:creationId xmlns:a16="http://schemas.microsoft.com/office/drawing/2014/main" id="{BABD397D-A371-F54A-66BB-DB865BF54519}"/>
              </a:ext>
            </a:extLst>
          </p:cNvPr>
          <p:cNvSpPr>
            <a:spLocks noGrp="1"/>
          </p:cNvSpPr>
          <p:nvPr>
            <p:ph type="title"/>
          </p:nvPr>
        </p:nvSpPr>
        <p:spPr>
          <a:xfrm>
            <a:off x="1572128" y="274638"/>
            <a:ext cx="9035716" cy="1143000"/>
          </a:xfrm>
        </p:spPr>
        <p:txBody>
          <a:bodyPr/>
          <a:lstStyle/>
          <a:p>
            <a:r>
              <a:rPr lang="en-US" dirty="0"/>
              <a:t>Intuitions of Philosophers</a:t>
            </a:r>
          </a:p>
        </p:txBody>
      </p:sp>
      <p:pic>
        <p:nvPicPr>
          <p:cNvPr id="2" name="Picture 1">
            <a:extLst>
              <a:ext uri="{FF2B5EF4-FFF2-40B4-BE49-F238E27FC236}">
                <a16:creationId xmlns:a16="http://schemas.microsoft.com/office/drawing/2014/main" id="{1DA2461B-971F-B375-CD11-18B1B89DCC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211"/>
          <a:stretch>
            <a:fillRect/>
          </a:stretch>
        </p:blipFill>
        <p:spPr bwMode="auto">
          <a:xfrm>
            <a:off x="3141145" y="2221372"/>
            <a:ext cx="1938855" cy="25961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8AA3405-3668-AAA1-082B-326D7D016D37}"/>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tretch>
            <a:fillRect/>
          </a:stretch>
        </p:blipFill>
        <p:spPr>
          <a:xfrm>
            <a:off x="204165" y="254226"/>
            <a:ext cx="11783670" cy="6349548"/>
          </a:xfrm>
          <a:prstGeom prst="rect">
            <a:avLst/>
          </a:prstGeom>
        </p:spPr>
      </p:pic>
      <p:pic>
        <p:nvPicPr>
          <p:cNvPr id="15" name="Picture 14" descr="A graph of different types of people&#10;&#10;AI-generated content may be incorrect.">
            <a:extLst>
              <a:ext uri="{FF2B5EF4-FFF2-40B4-BE49-F238E27FC236}">
                <a16:creationId xmlns:a16="http://schemas.microsoft.com/office/drawing/2014/main" id="{E4C3A7B0-B4DD-E49D-106B-F011083AAC89}"/>
              </a:ext>
            </a:extLst>
          </p:cNvPr>
          <p:cNvPicPr>
            <a:picLocks noChangeAspect="1"/>
          </p:cNvPicPr>
          <p:nvPr/>
        </p:nvPicPr>
        <p:blipFill>
          <a:blip r:embed="rId6"/>
          <a:stretch>
            <a:fillRect/>
          </a:stretch>
        </p:blipFill>
        <p:spPr>
          <a:xfrm>
            <a:off x="1584156" y="938881"/>
            <a:ext cx="8435708" cy="5644481"/>
          </a:xfrm>
          <a:prstGeom prst="rect">
            <a:avLst/>
          </a:prstGeom>
        </p:spPr>
      </p:pic>
      <p:sp>
        <p:nvSpPr>
          <p:cNvPr id="16" name="Rectangle 15">
            <a:extLst>
              <a:ext uri="{FF2B5EF4-FFF2-40B4-BE49-F238E27FC236}">
                <a16:creationId xmlns:a16="http://schemas.microsoft.com/office/drawing/2014/main" id="{CA80801B-79F8-8E90-C570-9BF095B08055}"/>
              </a:ext>
            </a:extLst>
          </p:cNvPr>
          <p:cNvSpPr/>
          <p:nvPr/>
        </p:nvSpPr>
        <p:spPr>
          <a:xfrm>
            <a:off x="2818178" y="2721227"/>
            <a:ext cx="2983832" cy="312821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 name="Rectangle 16">
            <a:extLst>
              <a:ext uri="{FF2B5EF4-FFF2-40B4-BE49-F238E27FC236}">
                <a16:creationId xmlns:a16="http://schemas.microsoft.com/office/drawing/2014/main" id="{E396B2DE-B96F-8C1D-1AA5-1CA46C18AD66}"/>
              </a:ext>
            </a:extLst>
          </p:cNvPr>
          <p:cNvSpPr/>
          <p:nvPr/>
        </p:nvSpPr>
        <p:spPr>
          <a:xfrm>
            <a:off x="6331399" y="2793416"/>
            <a:ext cx="2983832" cy="312821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a:extLst>
              <a:ext uri="{FF2B5EF4-FFF2-40B4-BE49-F238E27FC236}">
                <a16:creationId xmlns:a16="http://schemas.microsoft.com/office/drawing/2014/main" id="{2BE9E882-FA31-38A9-C07E-11DC853205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1" t="-308" r="35469" b="308"/>
          <a:stretch>
            <a:fillRect/>
          </a:stretch>
        </p:blipFill>
        <p:spPr bwMode="auto">
          <a:xfrm>
            <a:off x="2796676" y="2690442"/>
            <a:ext cx="3070801" cy="329932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47D7988C-0EBD-76F4-CF06-2892A648BD7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5379"/>
          <a:stretch>
            <a:fillRect/>
          </a:stretch>
        </p:blipFill>
        <p:spPr bwMode="auto">
          <a:xfrm>
            <a:off x="6280888" y="2712652"/>
            <a:ext cx="3100844" cy="327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677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96C8-C4FD-1513-CCEC-B69A2CA6F792}"/>
            </a:ext>
          </a:extLst>
        </p:cNvPr>
        <p:cNvGrpSpPr/>
        <p:nvPr/>
      </p:nvGrpSpPr>
      <p:grpSpPr>
        <a:xfrm>
          <a:off x="0" y="0"/>
          <a:ext cx="0" cy="0"/>
          <a:chOff x="0" y="0"/>
          <a:chExt cx="0" cy="0"/>
        </a:xfrm>
      </p:grpSpPr>
      <p:pic>
        <p:nvPicPr>
          <p:cNvPr id="3" name="Picture 2" descr="Excellence Comes by Habit: Aristotle on Moral Virtue •">
            <a:extLst>
              <a:ext uri="{FF2B5EF4-FFF2-40B4-BE49-F238E27FC236}">
                <a16:creationId xmlns:a16="http://schemas.microsoft.com/office/drawing/2014/main" id="{F80A6C11-75C2-13D3-75DE-982F292C8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7819" y="2221372"/>
            <a:ext cx="2544689" cy="254468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F09849-1B37-8C44-AE78-F55D697E7C73}"/>
              </a:ext>
            </a:extLst>
          </p:cNvPr>
          <p:cNvSpPr txBox="1"/>
          <p:nvPr/>
        </p:nvSpPr>
        <p:spPr>
          <a:xfrm>
            <a:off x="6814005" y="4976880"/>
            <a:ext cx="2452317" cy="369332"/>
          </a:xfrm>
          <a:prstGeom prst="rect">
            <a:avLst/>
          </a:prstGeom>
          <a:noFill/>
        </p:spPr>
        <p:txBody>
          <a:bodyPr wrap="square">
            <a:spAutoFit/>
          </a:bodyPr>
          <a:lstStyle/>
          <a:p>
            <a:pPr algn="ctr"/>
            <a:r>
              <a:rPr lang="en-US" b="1" dirty="0"/>
              <a:t>634 Philosophers</a:t>
            </a:r>
          </a:p>
        </p:txBody>
      </p:sp>
      <p:sp>
        <p:nvSpPr>
          <p:cNvPr id="7" name="TextBox 6">
            <a:extLst>
              <a:ext uri="{FF2B5EF4-FFF2-40B4-BE49-F238E27FC236}">
                <a16:creationId xmlns:a16="http://schemas.microsoft.com/office/drawing/2014/main" id="{85C8F5A9-6137-64CA-BA8F-1544BFF34406}"/>
              </a:ext>
            </a:extLst>
          </p:cNvPr>
          <p:cNvSpPr txBox="1"/>
          <p:nvPr/>
        </p:nvSpPr>
        <p:spPr>
          <a:xfrm>
            <a:off x="2667001" y="4976880"/>
            <a:ext cx="2811378" cy="369332"/>
          </a:xfrm>
          <a:prstGeom prst="rect">
            <a:avLst/>
          </a:prstGeom>
          <a:noFill/>
        </p:spPr>
        <p:txBody>
          <a:bodyPr wrap="square">
            <a:spAutoFit/>
          </a:bodyPr>
          <a:lstStyle/>
          <a:p>
            <a:pPr algn="ctr"/>
            <a:r>
              <a:rPr lang="en-US" b="1" dirty="0"/>
              <a:t>1249 Laypeople</a:t>
            </a:r>
          </a:p>
        </p:txBody>
      </p:sp>
      <p:sp>
        <p:nvSpPr>
          <p:cNvPr id="8" name="Title 7">
            <a:extLst>
              <a:ext uri="{FF2B5EF4-FFF2-40B4-BE49-F238E27FC236}">
                <a16:creationId xmlns:a16="http://schemas.microsoft.com/office/drawing/2014/main" id="{83A2A8DA-FCB8-D0C4-C720-BB5677F8A44B}"/>
              </a:ext>
            </a:extLst>
          </p:cNvPr>
          <p:cNvSpPr>
            <a:spLocks noGrp="1"/>
          </p:cNvSpPr>
          <p:nvPr>
            <p:ph type="title"/>
          </p:nvPr>
        </p:nvSpPr>
        <p:spPr>
          <a:xfrm>
            <a:off x="1572128" y="274638"/>
            <a:ext cx="9035716" cy="1143000"/>
          </a:xfrm>
        </p:spPr>
        <p:txBody>
          <a:bodyPr/>
          <a:lstStyle/>
          <a:p>
            <a:r>
              <a:rPr lang="en-US" dirty="0"/>
              <a:t>Intuitions of Philosophers</a:t>
            </a:r>
          </a:p>
        </p:txBody>
      </p:sp>
      <p:pic>
        <p:nvPicPr>
          <p:cNvPr id="2" name="Picture 1">
            <a:extLst>
              <a:ext uri="{FF2B5EF4-FFF2-40B4-BE49-F238E27FC236}">
                <a16:creationId xmlns:a16="http://schemas.microsoft.com/office/drawing/2014/main" id="{1780F4BA-EE31-E173-3EA9-59D5D9A687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211"/>
          <a:stretch>
            <a:fillRect/>
          </a:stretch>
        </p:blipFill>
        <p:spPr bwMode="auto">
          <a:xfrm>
            <a:off x="3141145" y="2221372"/>
            <a:ext cx="1938855" cy="25961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3427809-DB10-7297-68F5-57093D062244}"/>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tretch>
            <a:fillRect/>
          </a:stretch>
        </p:blipFill>
        <p:spPr>
          <a:xfrm>
            <a:off x="204165" y="254226"/>
            <a:ext cx="11783670" cy="6349548"/>
          </a:xfrm>
          <a:prstGeom prst="rect">
            <a:avLst/>
          </a:prstGeom>
        </p:spPr>
      </p:pic>
      <p:pic>
        <p:nvPicPr>
          <p:cNvPr id="15" name="Picture 14" descr="A graph of different types of people&#10;&#10;AI-generated content may be incorrect.">
            <a:extLst>
              <a:ext uri="{FF2B5EF4-FFF2-40B4-BE49-F238E27FC236}">
                <a16:creationId xmlns:a16="http://schemas.microsoft.com/office/drawing/2014/main" id="{E0914BA2-A0DF-5197-D242-FD11B33D1CA3}"/>
              </a:ext>
            </a:extLst>
          </p:cNvPr>
          <p:cNvPicPr>
            <a:picLocks noChangeAspect="1"/>
          </p:cNvPicPr>
          <p:nvPr/>
        </p:nvPicPr>
        <p:blipFill>
          <a:blip r:embed="rId6"/>
          <a:stretch>
            <a:fillRect/>
          </a:stretch>
        </p:blipFill>
        <p:spPr>
          <a:xfrm>
            <a:off x="1584156" y="938881"/>
            <a:ext cx="8435708" cy="5644481"/>
          </a:xfrm>
          <a:prstGeom prst="rect">
            <a:avLst/>
          </a:prstGeom>
        </p:spPr>
      </p:pic>
      <p:sp>
        <p:nvSpPr>
          <p:cNvPr id="17" name="Rectangle 16">
            <a:extLst>
              <a:ext uri="{FF2B5EF4-FFF2-40B4-BE49-F238E27FC236}">
                <a16:creationId xmlns:a16="http://schemas.microsoft.com/office/drawing/2014/main" id="{358C6CEB-3DAE-B0DD-7D30-85F0B6781A33}"/>
              </a:ext>
            </a:extLst>
          </p:cNvPr>
          <p:cNvSpPr/>
          <p:nvPr/>
        </p:nvSpPr>
        <p:spPr>
          <a:xfrm>
            <a:off x="6331399" y="2793416"/>
            <a:ext cx="2983832" cy="312821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pic>
        <p:nvPicPr>
          <p:cNvPr id="9" name="Picture 2">
            <a:extLst>
              <a:ext uri="{FF2B5EF4-FFF2-40B4-BE49-F238E27FC236}">
                <a16:creationId xmlns:a16="http://schemas.microsoft.com/office/drawing/2014/main" id="{249E6D32-FB70-BAF7-6BDE-C0D87ACF6A5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5379"/>
          <a:stretch>
            <a:fillRect/>
          </a:stretch>
        </p:blipFill>
        <p:spPr bwMode="auto">
          <a:xfrm>
            <a:off x="6280888" y="2712652"/>
            <a:ext cx="3100844" cy="327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834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2EFE2-A314-AFB3-F150-0AD2C1D4991A}"/>
            </a:ext>
          </a:extLst>
        </p:cNvPr>
        <p:cNvGrpSpPr/>
        <p:nvPr/>
      </p:nvGrpSpPr>
      <p:grpSpPr>
        <a:xfrm>
          <a:off x="0" y="0"/>
          <a:ext cx="0" cy="0"/>
          <a:chOff x="0" y="0"/>
          <a:chExt cx="0" cy="0"/>
        </a:xfrm>
      </p:grpSpPr>
      <p:pic>
        <p:nvPicPr>
          <p:cNvPr id="3" name="Picture 2" descr="Excellence Comes by Habit: Aristotle on Moral Virtue •">
            <a:extLst>
              <a:ext uri="{FF2B5EF4-FFF2-40B4-BE49-F238E27FC236}">
                <a16:creationId xmlns:a16="http://schemas.microsoft.com/office/drawing/2014/main" id="{70DC9194-2693-EE2F-47A5-3339D37FD7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7819" y="2221372"/>
            <a:ext cx="2544689" cy="254468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64B98BF-C14B-3691-B6FE-13E261DEF803}"/>
              </a:ext>
            </a:extLst>
          </p:cNvPr>
          <p:cNvSpPr txBox="1"/>
          <p:nvPr/>
        </p:nvSpPr>
        <p:spPr>
          <a:xfrm>
            <a:off x="6814005" y="4976880"/>
            <a:ext cx="2452317" cy="369332"/>
          </a:xfrm>
          <a:prstGeom prst="rect">
            <a:avLst/>
          </a:prstGeom>
          <a:noFill/>
        </p:spPr>
        <p:txBody>
          <a:bodyPr wrap="square">
            <a:spAutoFit/>
          </a:bodyPr>
          <a:lstStyle/>
          <a:p>
            <a:pPr algn="ctr"/>
            <a:r>
              <a:rPr lang="en-US" b="1" dirty="0"/>
              <a:t>634 Philosophers</a:t>
            </a:r>
          </a:p>
        </p:txBody>
      </p:sp>
      <p:sp>
        <p:nvSpPr>
          <p:cNvPr id="7" name="TextBox 6">
            <a:extLst>
              <a:ext uri="{FF2B5EF4-FFF2-40B4-BE49-F238E27FC236}">
                <a16:creationId xmlns:a16="http://schemas.microsoft.com/office/drawing/2014/main" id="{BD1FCE66-ED07-6C3D-4EEA-6CB92E3CB826}"/>
              </a:ext>
            </a:extLst>
          </p:cNvPr>
          <p:cNvSpPr txBox="1"/>
          <p:nvPr/>
        </p:nvSpPr>
        <p:spPr>
          <a:xfrm>
            <a:off x="2667001" y="4976880"/>
            <a:ext cx="2811378" cy="369332"/>
          </a:xfrm>
          <a:prstGeom prst="rect">
            <a:avLst/>
          </a:prstGeom>
          <a:noFill/>
        </p:spPr>
        <p:txBody>
          <a:bodyPr wrap="square">
            <a:spAutoFit/>
          </a:bodyPr>
          <a:lstStyle/>
          <a:p>
            <a:pPr algn="ctr"/>
            <a:r>
              <a:rPr lang="en-US" b="1" dirty="0"/>
              <a:t>1249 Laypeople</a:t>
            </a:r>
          </a:p>
        </p:txBody>
      </p:sp>
      <p:sp>
        <p:nvSpPr>
          <p:cNvPr id="8" name="Title 7">
            <a:extLst>
              <a:ext uri="{FF2B5EF4-FFF2-40B4-BE49-F238E27FC236}">
                <a16:creationId xmlns:a16="http://schemas.microsoft.com/office/drawing/2014/main" id="{4FBA27A4-44B8-0F1B-1A86-C58D33AA00EC}"/>
              </a:ext>
            </a:extLst>
          </p:cNvPr>
          <p:cNvSpPr>
            <a:spLocks noGrp="1"/>
          </p:cNvSpPr>
          <p:nvPr>
            <p:ph type="title"/>
          </p:nvPr>
        </p:nvSpPr>
        <p:spPr>
          <a:xfrm>
            <a:off x="1572128" y="274638"/>
            <a:ext cx="9035716" cy="1143000"/>
          </a:xfrm>
        </p:spPr>
        <p:txBody>
          <a:bodyPr/>
          <a:lstStyle/>
          <a:p>
            <a:r>
              <a:rPr lang="en-US" dirty="0"/>
              <a:t>Intuitions of Philosophers</a:t>
            </a:r>
          </a:p>
        </p:txBody>
      </p:sp>
      <p:pic>
        <p:nvPicPr>
          <p:cNvPr id="2" name="Picture 1">
            <a:extLst>
              <a:ext uri="{FF2B5EF4-FFF2-40B4-BE49-F238E27FC236}">
                <a16:creationId xmlns:a16="http://schemas.microsoft.com/office/drawing/2014/main" id="{DEC3BDBF-2A65-D422-1457-BAF91A4788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211"/>
          <a:stretch>
            <a:fillRect/>
          </a:stretch>
        </p:blipFill>
        <p:spPr bwMode="auto">
          <a:xfrm>
            <a:off x="3141145" y="2221372"/>
            <a:ext cx="1938855" cy="25961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A939ABF-1B31-C507-2611-03655908E47A}"/>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tretch>
            <a:fillRect/>
          </a:stretch>
        </p:blipFill>
        <p:spPr>
          <a:xfrm>
            <a:off x="204165" y="254226"/>
            <a:ext cx="11783670" cy="6349548"/>
          </a:xfrm>
          <a:prstGeom prst="rect">
            <a:avLst/>
          </a:prstGeom>
        </p:spPr>
      </p:pic>
      <p:pic>
        <p:nvPicPr>
          <p:cNvPr id="15" name="Picture 14" descr="A graph of different types of people&#10;&#10;AI-generated content may be incorrect.">
            <a:extLst>
              <a:ext uri="{FF2B5EF4-FFF2-40B4-BE49-F238E27FC236}">
                <a16:creationId xmlns:a16="http://schemas.microsoft.com/office/drawing/2014/main" id="{70E0CD27-CB7A-90DF-A89A-13686181CACA}"/>
              </a:ext>
            </a:extLst>
          </p:cNvPr>
          <p:cNvPicPr>
            <a:picLocks noChangeAspect="1"/>
          </p:cNvPicPr>
          <p:nvPr/>
        </p:nvPicPr>
        <p:blipFill>
          <a:blip r:embed="rId6"/>
          <a:stretch>
            <a:fillRect/>
          </a:stretch>
        </p:blipFill>
        <p:spPr>
          <a:xfrm>
            <a:off x="1584156" y="938881"/>
            <a:ext cx="8435708" cy="5644481"/>
          </a:xfrm>
          <a:prstGeom prst="rect">
            <a:avLst/>
          </a:prstGeom>
        </p:spPr>
      </p:pic>
      <p:sp>
        <p:nvSpPr>
          <p:cNvPr id="4" name="TextBox 3">
            <a:extLst>
              <a:ext uri="{FF2B5EF4-FFF2-40B4-BE49-F238E27FC236}">
                <a16:creationId xmlns:a16="http://schemas.microsoft.com/office/drawing/2014/main" id="{E424206B-846D-A611-3D68-DC25EBA616DC}"/>
              </a:ext>
            </a:extLst>
          </p:cNvPr>
          <p:cNvSpPr txBox="1"/>
          <p:nvPr/>
        </p:nvSpPr>
        <p:spPr>
          <a:xfrm>
            <a:off x="204165" y="464676"/>
            <a:ext cx="11783670" cy="830997"/>
          </a:xfrm>
          <a:prstGeom prst="rect">
            <a:avLst/>
          </a:prstGeom>
          <a:noFill/>
        </p:spPr>
        <p:txBody>
          <a:bodyPr wrap="square">
            <a:spAutoFit/>
          </a:bodyPr>
          <a:lstStyle/>
          <a:p>
            <a:r>
              <a:rPr lang="en-US" sz="2300" dirty="0">
                <a:solidFill>
                  <a:srgbClr val="000000"/>
                </a:solidFill>
                <a:latin typeface="Bookman Old Style" panose="02050604050505020204" pitchFamily="18" charset="0"/>
              </a:rPr>
              <a:t>Philosophers also show the effect: The popularity of the opposite answer predicts the tendency toward conflicting intuitions,</a:t>
            </a:r>
            <a:r>
              <a:rPr lang="en-US" sz="2300" i="1" dirty="0">
                <a:solidFill>
                  <a:srgbClr val="000000"/>
                </a:solidFill>
                <a:latin typeface="Bookman Old Style" panose="02050604050505020204" pitchFamily="18" charset="0"/>
              </a:rPr>
              <a:t> OR</a:t>
            </a:r>
            <a:r>
              <a:rPr lang="en-US" sz="2300" dirty="0">
                <a:solidFill>
                  <a:srgbClr val="000000"/>
                </a:solidFill>
                <a:latin typeface="Bookman Old Style" panose="02050604050505020204" pitchFamily="18" charset="0"/>
              </a:rPr>
              <a:t> = 3.32, </a:t>
            </a:r>
            <a:r>
              <a:rPr lang="en-US" sz="2300" i="1" dirty="0">
                <a:solidFill>
                  <a:srgbClr val="000000"/>
                </a:solidFill>
                <a:latin typeface="Bookman Old Style" panose="02050604050505020204" pitchFamily="18" charset="0"/>
              </a:rPr>
              <a:t>z</a:t>
            </a:r>
            <a:r>
              <a:rPr lang="en-US" sz="2300" dirty="0">
                <a:solidFill>
                  <a:srgbClr val="000000"/>
                </a:solidFill>
                <a:latin typeface="Bookman Old Style" panose="02050604050505020204" pitchFamily="18" charset="0"/>
              </a:rPr>
              <a:t> = 4.38, </a:t>
            </a:r>
            <a:r>
              <a:rPr lang="en-US" sz="2300" i="1" dirty="0">
                <a:solidFill>
                  <a:srgbClr val="000000"/>
                </a:solidFill>
                <a:latin typeface="Bookman Old Style" panose="02050604050505020204" pitchFamily="18" charset="0"/>
              </a:rPr>
              <a:t>p</a:t>
            </a:r>
            <a:r>
              <a:rPr lang="en-US" sz="2300" dirty="0">
                <a:solidFill>
                  <a:srgbClr val="000000"/>
                </a:solidFill>
                <a:latin typeface="Bookman Old Style" panose="02050604050505020204" pitchFamily="18" charset="0"/>
              </a:rPr>
              <a:t> &lt; .001. </a:t>
            </a:r>
            <a:endParaRPr lang="en-US" sz="2300" dirty="0">
              <a:latin typeface="Bookman Old Style" panose="02050604050505020204" pitchFamily="18" charset="0"/>
            </a:endParaRPr>
          </a:p>
        </p:txBody>
      </p:sp>
    </p:spTree>
    <p:extLst>
      <p:ext uri="{BB962C8B-B14F-4D97-AF65-F5344CB8AC3E}">
        <p14:creationId xmlns:p14="http://schemas.microsoft.com/office/powerpoint/2010/main" val="3647293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E9C8BDB8-C5AF-0F2F-9C64-F2AF2AC33275}"/>
              </a:ext>
            </a:extLst>
          </p:cNvPr>
          <p:cNvPicPr>
            <a:picLocks noChangeAspect="1"/>
          </p:cNvPicPr>
          <p:nvPr/>
        </p:nvPicPr>
        <p:blipFill>
          <a:blip r:embed="rId2"/>
          <a:srcRect r="50000"/>
          <a:stretch>
            <a:fillRect/>
          </a:stretch>
        </p:blipFill>
        <p:spPr>
          <a:xfrm>
            <a:off x="350395" y="2231239"/>
            <a:ext cx="4501422" cy="4163815"/>
          </a:xfrm>
          <a:prstGeom prst="rect">
            <a:avLst/>
          </a:prstGeom>
        </p:spPr>
      </p:pic>
      <p:pic>
        <p:nvPicPr>
          <p:cNvPr id="47" name="Picture 46">
            <a:extLst>
              <a:ext uri="{FF2B5EF4-FFF2-40B4-BE49-F238E27FC236}">
                <a16:creationId xmlns:a16="http://schemas.microsoft.com/office/drawing/2014/main" id="{7010A3C8-F742-1F09-0426-9CED394BF89A}"/>
              </a:ext>
            </a:extLst>
          </p:cNvPr>
          <p:cNvPicPr>
            <a:picLocks noChangeAspect="1"/>
          </p:cNvPicPr>
          <p:nvPr/>
        </p:nvPicPr>
        <p:blipFill>
          <a:blip r:embed="rId2"/>
          <a:srcRect l="48307"/>
          <a:stretch>
            <a:fillRect/>
          </a:stretch>
        </p:blipFill>
        <p:spPr>
          <a:xfrm>
            <a:off x="7187784" y="2231238"/>
            <a:ext cx="4653821" cy="4163815"/>
          </a:xfrm>
          <a:prstGeom prst="rect">
            <a:avLst/>
          </a:prstGeom>
        </p:spPr>
      </p:pic>
      <p:sp>
        <p:nvSpPr>
          <p:cNvPr id="49" name="Title 9">
            <a:extLst>
              <a:ext uri="{FF2B5EF4-FFF2-40B4-BE49-F238E27FC236}">
                <a16:creationId xmlns:a16="http://schemas.microsoft.com/office/drawing/2014/main" id="{9921B37D-7EF7-95BA-F722-4198F64DA569}"/>
              </a:ext>
            </a:extLst>
          </p:cNvPr>
          <p:cNvSpPr>
            <a:spLocks noGrp="1"/>
          </p:cNvSpPr>
          <p:nvPr>
            <p:ph type="title"/>
          </p:nvPr>
        </p:nvSpPr>
        <p:spPr>
          <a:xfrm>
            <a:off x="838200" y="54533"/>
            <a:ext cx="10515600" cy="987167"/>
          </a:xfrm>
        </p:spPr>
        <p:txBody>
          <a:bodyPr>
            <a:normAutofit/>
          </a:bodyPr>
          <a:lstStyle/>
          <a:p>
            <a:pPr algn="ctr"/>
            <a:r>
              <a:rPr lang="en-ES" sz="3000" dirty="0">
                <a:latin typeface="Bookman Old Style" panose="02050604050505020204" pitchFamily="18" charset="0"/>
                <a:ea typeface="Helvetica Neue" panose="02000503000000020004" pitchFamily="2" charset="0"/>
                <a:cs typeface="Helvetica Neue" panose="02000503000000020004" pitchFamily="2" charset="0"/>
              </a:rPr>
              <a:t>Why?</a:t>
            </a:r>
            <a:endParaRPr lang="en-ES" sz="3000" dirty="0">
              <a:latin typeface="Bookman Old Style" panose="02050604050505020204" pitchFamily="18" charset="0"/>
            </a:endParaRPr>
          </a:p>
        </p:txBody>
      </p:sp>
    </p:spTree>
    <p:extLst>
      <p:ext uri="{BB962C8B-B14F-4D97-AF65-F5344CB8AC3E}">
        <p14:creationId xmlns:p14="http://schemas.microsoft.com/office/powerpoint/2010/main" val="2764187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51DB1-DABD-05F9-1927-6D16F7EF089C}"/>
            </a:ext>
          </a:extLst>
        </p:cNvPr>
        <p:cNvGrpSpPr/>
        <p:nvPr/>
      </p:nvGrpSpPr>
      <p:grpSpPr>
        <a:xfrm>
          <a:off x="0" y="0"/>
          <a:ext cx="0" cy="0"/>
          <a:chOff x="0" y="0"/>
          <a:chExt cx="0" cy="0"/>
        </a:xfrm>
      </p:grpSpPr>
      <p:pic>
        <p:nvPicPr>
          <p:cNvPr id="47" name="Picture 46">
            <a:extLst>
              <a:ext uri="{FF2B5EF4-FFF2-40B4-BE49-F238E27FC236}">
                <a16:creationId xmlns:a16="http://schemas.microsoft.com/office/drawing/2014/main" id="{6F23F080-A429-3A0C-EB1A-1BF83C73D38A}"/>
              </a:ext>
            </a:extLst>
          </p:cNvPr>
          <p:cNvPicPr>
            <a:picLocks noChangeAspect="1"/>
          </p:cNvPicPr>
          <p:nvPr/>
        </p:nvPicPr>
        <p:blipFill>
          <a:blip r:embed="rId2"/>
          <a:srcRect l="48307"/>
          <a:stretch>
            <a:fillRect/>
          </a:stretch>
        </p:blipFill>
        <p:spPr>
          <a:xfrm>
            <a:off x="7187784" y="2231238"/>
            <a:ext cx="4653821" cy="4163815"/>
          </a:xfrm>
          <a:prstGeom prst="rect">
            <a:avLst/>
          </a:prstGeom>
        </p:spPr>
      </p:pic>
      <p:pic>
        <p:nvPicPr>
          <p:cNvPr id="46" name="Picture 45">
            <a:extLst>
              <a:ext uri="{FF2B5EF4-FFF2-40B4-BE49-F238E27FC236}">
                <a16:creationId xmlns:a16="http://schemas.microsoft.com/office/drawing/2014/main" id="{8D512C37-7229-A4C0-8705-D26D6C060366}"/>
              </a:ext>
            </a:extLst>
          </p:cNvPr>
          <p:cNvPicPr>
            <a:picLocks noChangeAspect="1"/>
          </p:cNvPicPr>
          <p:nvPr/>
        </p:nvPicPr>
        <p:blipFill>
          <a:blip r:embed="rId2"/>
          <a:srcRect r="50000"/>
          <a:stretch>
            <a:fillRect/>
          </a:stretch>
        </p:blipFill>
        <p:spPr>
          <a:xfrm>
            <a:off x="350395" y="2231239"/>
            <a:ext cx="4501422" cy="4163815"/>
          </a:xfrm>
          <a:prstGeom prst="rect">
            <a:avLst/>
          </a:prstGeom>
        </p:spPr>
      </p:pic>
      <p:sp>
        <p:nvSpPr>
          <p:cNvPr id="12" name="Rectangle 11">
            <a:extLst>
              <a:ext uri="{FF2B5EF4-FFF2-40B4-BE49-F238E27FC236}">
                <a16:creationId xmlns:a16="http://schemas.microsoft.com/office/drawing/2014/main" id="{EBE38E64-FD50-A6F0-F96C-0D3EADB5D324}"/>
              </a:ext>
            </a:extLst>
          </p:cNvPr>
          <p:cNvSpPr/>
          <p:nvPr/>
        </p:nvSpPr>
        <p:spPr>
          <a:xfrm>
            <a:off x="0" y="0"/>
            <a:ext cx="12192000" cy="6858000"/>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dirty="0"/>
          </a:p>
        </p:txBody>
      </p:sp>
      <p:sp>
        <p:nvSpPr>
          <p:cNvPr id="22" name="Rounded Rectangle 21">
            <a:extLst>
              <a:ext uri="{FF2B5EF4-FFF2-40B4-BE49-F238E27FC236}">
                <a16:creationId xmlns:a16="http://schemas.microsoft.com/office/drawing/2014/main" id="{88CADD39-D9BC-9104-3A1D-D5B46F970B0B}"/>
              </a:ext>
            </a:extLst>
          </p:cNvPr>
          <p:cNvSpPr/>
          <p:nvPr/>
        </p:nvSpPr>
        <p:spPr>
          <a:xfrm>
            <a:off x="3098800" y="368300"/>
            <a:ext cx="5626100" cy="3924300"/>
          </a:xfrm>
          <a:prstGeom prst="roundRect">
            <a:avLst>
              <a:gd name="adj" fmla="val 6635"/>
            </a:avLst>
          </a:prstGeom>
          <a:solidFill>
            <a:srgbClr val="EAEA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21" name="Picture 20">
            <a:extLst>
              <a:ext uri="{FF2B5EF4-FFF2-40B4-BE49-F238E27FC236}">
                <a16:creationId xmlns:a16="http://schemas.microsoft.com/office/drawing/2014/main" id="{666CAF38-2AB8-1E25-EA1B-A90108489FD4}"/>
              </a:ext>
            </a:extLst>
          </p:cNvPr>
          <p:cNvPicPr>
            <a:picLocks noChangeAspect="1"/>
          </p:cNvPicPr>
          <p:nvPr/>
        </p:nvPicPr>
        <p:blipFill>
          <a:blip r:embed="rId3"/>
          <a:stretch>
            <a:fillRect/>
          </a:stretch>
        </p:blipFill>
        <p:spPr>
          <a:xfrm>
            <a:off x="3556102" y="741490"/>
            <a:ext cx="5079795" cy="2979495"/>
          </a:xfrm>
          <a:prstGeom prst="rect">
            <a:avLst/>
          </a:prstGeom>
        </p:spPr>
      </p:pic>
    </p:spTree>
    <p:extLst>
      <p:ext uri="{BB962C8B-B14F-4D97-AF65-F5344CB8AC3E}">
        <p14:creationId xmlns:p14="http://schemas.microsoft.com/office/powerpoint/2010/main" val="2307227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66EA5908-FD6F-3959-E8CD-A3C65167F9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350"/>
          <a:stretch>
            <a:fillRect/>
          </a:stretch>
        </p:blipFill>
        <p:spPr bwMode="auto">
          <a:xfrm>
            <a:off x="6608693" y="3925956"/>
            <a:ext cx="5583306" cy="293204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ABD8A99-BC33-8B9D-ED0B-CF472B683216}"/>
              </a:ext>
            </a:extLst>
          </p:cNvPr>
          <p:cNvSpPr>
            <a:spLocks noGrp="1"/>
          </p:cNvSpPr>
          <p:nvPr>
            <p:ph type="title"/>
          </p:nvPr>
        </p:nvSpPr>
        <p:spPr>
          <a:xfrm>
            <a:off x="2" y="5391978"/>
            <a:ext cx="7484531" cy="1143000"/>
          </a:xfrm>
        </p:spPr>
        <p:txBody>
          <a:bodyPr/>
          <a:lstStyle/>
          <a:p>
            <a:pPr algn="ctr"/>
            <a:r>
              <a:rPr lang="en-US" sz="5800" dirty="0">
                <a:latin typeface="Bookman Old Style" panose="02050604050505020204" pitchFamily="18" charset="0"/>
              </a:rPr>
              <a:t>Beyond self-report</a:t>
            </a:r>
          </a:p>
        </p:txBody>
      </p:sp>
      <p:pic>
        <p:nvPicPr>
          <p:cNvPr id="5" name="Picture 4">
            <a:extLst>
              <a:ext uri="{FF2B5EF4-FFF2-40B4-BE49-F238E27FC236}">
                <a16:creationId xmlns:a16="http://schemas.microsoft.com/office/drawing/2014/main" id="{BE3C9A94-B457-AB4D-F748-C1DB2DC40EA0}"/>
              </a:ext>
            </a:extLst>
          </p:cNvPr>
          <p:cNvPicPr>
            <a:picLocks noChangeAspect="1"/>
          </p:cNvPicPr>
          <p:nvPr/>
        </p:nvPicPr>
        <p:blipFill>
          <a:blip r:embed="rId3">
            <a:extLst>
              <a:ext uri="{BEBA8EAE-BF5A-486C-A8C5-ECC9F3942E4B}">
                <a14:imgProps xmlns:a14="http://schemas.microsoft.com/office/drawing/2010/main">
                  <a14:imgLayer r:embed="rId4">
                    <a14:imgEffect>
                      <a14:artisticMosiaicBubbles/>
                    </a14:imgEffect>
                    <a14:imgEffect>
                      <a14:brightnessContrast contrast="-40000"/>
                    </a14:imgEffect>
                  </a14:imgLayer>
                </a14:imgProps>
              </a:ext>
            </a:extLst>
          </a:blip>
          <a:stretch>
            <a:fillRect/>
          </a:stretch>
        </p:blipFill>
        <p:spPr>
          <a:xfrm>
            <a:off x="3229486" y="405339"/>
            <a:ext cx="5733028" cy="3520617"/>
          </a:xfrm>
          <a:prstGeom prst="rect">
            <a:avLst/>
          </a:prstGeom>
          <a:ln w="6350">
            <a:noFill/>
          </a:ln>
        </p:spPr>
      </p:pic>
      <p:pic>
        <p:nvPicPr>
          <p:cNvPr id="10" name="Picture 9" descr="https://cdn-icons-png.flaticon.com/512/17424/17424297.png">
            <a:extLst>
              <a:ext uri="{FF2B5EF4-FFF2-40B4-BE49-F238E27FC236}">
                <a16:creationId xmlns:a16="http://schemas.microsoft.com/office/drawing/2014/main" id="{20293051-95CD-8C8D-45B5-6B17802854F7}"/>
              </a:ext>
            </a:extLst>
          </p:cNvPr>
          <p:cNvPicPr>
            <a:picLocks noChangeAspect="1"/>
          </p:cNvPicPr>
          <p:nvPr/>
        </p:nvPicPr>
        <p:blipFill>
          <a:blip r:embed="rId5">
            <a:duotone>
              <a:prstClr val="black"/>
              <a:schemeClr val="accent1">
                <a:tint val="45000"/>
                <a:satMod val="400000"/>
              </a:schemeClr>
            </a:duotone>
          </a:blip>
          <a:stretch>
            <a:fillRect/>
          </a:stretch>
        </p:blipFill>
        <p:spPr>
          <a:xfrm>
            <a:off x="-5774496" y="-10462914"/>
            <a:ext cx="7281792" cy="7281792"/>
          </a:xfrm>
          <a:prstGeom prst="rect">
            <a:avLst/>
          </a:prstGeom>
          <a:noFill/>
        </p:spPr>
      </p:pic>
      <p:pic>
        <p:nvPicPr>
          <p:cNvPr id="16" name="Picture 15" descr="https://cdn-icons-png.flaticon.com/512/3474/3474360.png">
            <a:extLst>
              <a:ext uri="{FF2B5EF4-FFF2-40B4-BE49-F238E27FC236}">
                <a16:creationId xmlns:a16="http://schemas.microsoft.com/office/drawing/2014/main" id="{D8620F9A-329A-17F8-B547-85853F537F53}"/>
              </a:ext>
            </a:extLst>
          </p:cNvPr>
          <p:cNvPicPr>
            <a:picLocks noChangeAspect="1"/>
          </p:cNvPicPr>
          <p:nvPr/>
        </p:nvPicPr>
        <p:blipFill>
          <a:blip r:embed="rId6"/>
          <a:stretch>
            <a:fillRect/>
          </a:stretch>
        </p:blipFill>
        <p:spPr>
          <a:xfrm>
            <a:off x="2897857" y="-307307"/>
            <a:ext cx="6396285" cy="5822855"/>
          </a:xfrm>
          <a:prstGeom prst="rect">
            <a:avLst/>
          </a:prstGeom>
          <a:effectLst>
            <a:softEdge rad="12700"/>
          </a:effectLst>
        </p:spPr>
      </p:pic>
    </p:spTree>
    <p:extLst>
      <p:ext uri="{BB962C8B-B14F-4D97-AF65-F5344CB8AC3E}">
        <p14:creationId xmlns:p14="http://schemas.microsoft.com/office/powerpoint/2010/main" val="1491218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F8D5CB2-EDF3-A03D-73D0-2D12EF84D51B}"/>
              </a:ext>
            </a:extLst>
          </p:cNvPr>
          <p:cNvSpPr>
            <a:spLocks noGrp="1"/>
          </p:cNvSpPr>
          <p:nvPr>
            <p:ph type="title"/>
          </p:nvPr>
        </p:nvSpPr>
        <p:spPr>
          <a:xfrm>
            <a:off x="1880519" y="66867"/>
            <a:ext cx="8229600" cy="1143000"/>
          </a:xfrm>
        </p:spPr>
        <p:txBody>
          <a:bodyPr/>
          <a:lstStyle/>
          <a:p>
            <a:pPr algn="ctr"/>
            <a:r>
              <a:rPr lang="en-US" dirty="0">
                <a:latin typeface="Bookman Old Style" panose="02050604050505020204" pitchFamily="18" charset="0"/>
              </a:rPr>
              <a:t>Curvature as conflict</a:t>
            </a:r>
          </a:p>
        </p:txBody>
      </p:sp>
      <p:pic>
        <p:nvPicPr>
          <p:cNvPr id="16" name="Picture 15">
            <a:extLst>
              <a:ext uri="{FF2B5EF4-FFF2-40B4-BE49-F238E27FC236}">
                <a16:creationId xmlns:a16="http://schemas.microsoft.com/office/drawing/2014/main" id="{8AE3C87F-86E8-DC7F-3471-866CD2B85F1D}"/>
              </a:ext>
            </a:extLst>
          </p:cNvPr>
          <p:cNvPicPr>
            <a:picLocks noChangeAspect="1"/>
          </p:cNvPicPr>
          <p:nvPr/>
        </p:nvPicPr>
        <p:blipFill>
          <a:blip r:embed="rId2"/>
          <a:stretch>
            <a:fillRect/>
          </a:stretch>
        </p:blipFill>
        <p:spPr>
          <a:xfrm>
            <a:off x="986000" y="4009639"/>
            <a:ext cx="4188342" cy="2308204"/>
          </a:xfrm>
          <a:prstGeom prst="rect">
            <a:avLst/>
          </a:prstGeom>
        </p:spPr>
      </p:pic>
      <p:pic>
        <p:nvPicPr>
          <p:cNvPr id="17" name="Picture 16">
            <a:extLst>
              <a:ext uri="{FF2B5EF4-FFF2-40B4-BE49-F238E27FC236}">
                <a16:creationId xmlns:a16="http://schemas.microsoft.com/office/drawing/2014/main" id="{9EB8FE5F-E7E3-1D9A-C98B-B9CEDBA3845C}"/>
              </a:ext>
            </a:extLst>
          </p:cNvPr>
          <p:cNvPicPr>
            <a:picLocks noChangeAspect="1"/>
          </p:cNvPicPr>
          <p:nvPr/>
        </p:nvPicPr>
        <p:blipFill>
          <a:blip r:embed="rId2"/>
          <a:stretch>
            <a:fillRect/>
          </a:stretch>
        </p:blipFill>
        <p:spPr>
          <a:xfrm>
            <a:off x="6965273" y="4009639"/>
            <a:ext cx="4188342" cy="2308204"/>
          </a:xfrm>
          <a:prstGeom prst="rect">
            <a:avLst/>
          </a:prstGeom>
        </p:spPr>
      </p:pic>
      <p:sp>
        <p:nvSpPr>
          <p:cNvPr id="19" name="TextBox 18">
            <a:extLst>
              <a:ext uri="{FF2B5EF4-FFF2-40B4-BE49-F238E27FC236}">
                <a16:creationId xmlns:a16="http://schemas.microsoft.com/office/drawing/2014/main" id="{A2F136E5-156B-A524-BD90-7A12CCA36BA3}"/>
              </a:ext>
            </a:extLst>
          </p:cNvPr>
          <p:cNvSpPr txBox="1"/>
          <p:nvPr/>
        </p:nvSpPr>
        <p:spPr>
          <a:xfrm>
            <a:off x="7196328" y="4875902"/>
            <a:ext cx="3831336" cy="892552"/>
          </a:xfrm>
          <a:prstGeom prst="rect">
            <a:avLst/>
          </a:prstGeom>
          <a:solidFill>
            <a:srgbClr val="EAEAF1"/>
          </a:solidFill>
        </p:spPr>
        <p:txBody>
          <a:bodyPr wrap="square">
            <a:spAutoFit/>
          </a:bodyPr>
          <a:lstStyle/>
          <a:p>
            <a:r>
              <a:rPr lang="en-US" sz="2600" dirty="0">
                <a:latin typeface="Bookman Old Style" panose="02050604050505020204" pitchFamily="18" charset="0"/>
              </a:rPr>
              <a:t>In an indeterministic universe…</a:t>
            </a:r>
            <a:endParaRPr lang="en-ES" sz="2600" dirty="0"/>
          </a:p>
        </p:txBody>
      </p:sp>
      <p:sp>
        <p:nvSpPr>
          <p:cNvPr id="21" name="TextBox 20">
            <a:extLst>
              <a:ext uri="{FF2B5EF4-FFF2-40B4-BE49-F238E27FC236}">
                <a16:creationId xmlns:a16="http://schemas.microsoft.com/office/drawing/2014/main" id="{BB51E9D8-A873-DC45-5F64-80AC9AC39E52}"/>
              </a:ext>
            </a:extLst>
          </p:cNvPr>
          <p:cNvSpPr txBox="1"/>
          <p:nvPr/>
        </p:nvSpPr>
        <p:spPr>
          <a:xfrm>
            <a:off x="986000" y="3112240"/>
            <a:ext cx="4188342" cy="830997"/>
          </a:xfrm>
          <a:prstGeom prst="rect">
            <a:avLst/>
          </a:prstGeom>
          <a:noFill/>
        </p:spPr>
        <p:txBody>
          <a:bodyPr wrap="square">
            <a:spAutoFit/>
          </a:bodyPr>
          <a:lstStyle/>
          <a:p>
            <a:pPr algn="ctr"/>
            <a:r>
              <a:rPr lang="en-ES" sz="2400" dirty="0">
                <a:latin typeface="Bookman Old Style" panose="02050604050505020204" pitchFamily="18" charset="0"/>
                <a:ea typeface="Helvetica Neue" panose="02000503000000020004" pitchFamily="2" charset="0"/>
                <a:cs typeface="Helvetica Neue" panose="02000503000000020004" pitchFamily="2" charset="0"/>
              </a:rPr>
              <a:t>(Nichols &amp; Knobe, 2007)</a:t>
            </a:r>
          </a:p>
          <a:p>
            <a:pPr algn="ctr"/>
            <a:r>
              <a:rPr lang="en-ES" sz="2400" i="1" dirty="0">
                <a:latin typeface="Bookman Old Style" panose="02050604050505020204" pitchFamily="18" charset="0"/>
                <a:ea typeface="Helvetica Neue" panose="02000503000000020004" pitchFamily="2" charset="0"/>
                <a:cs typeface="Helvetica Neue" panose="02000503000000020004" pitchFamily="2" charset="0"/>
              </a:rPr>
              <a:t>Original</a:t>
            </a:r>
            <a:endParaRPr lang="en-ES" sz="2400" i="1" dirty="0"/>
          </a:p>
        </p:txBody>
      </p:sp>
      <p:sp>
        <p:nvSpPr>
          <p:cNvPr id="22" name="TextBox 21">
            <a:extLst>
              <a:ext uri="{FF2B5EF4-FFF2-40B4-BE49-F238E27FC236}">
                <a16:creationId xmlns:a16="http://schemas.microsoft.com/office/drawing/2014/main" id="{15FD532A-7334-BAC0-4E6C-642ECDFCC69E}"/>
              </a:ext>
            </a:extLst>
          </p:cNvPr>
          <p:cNvSpPr txBox="1"/>
          <p:nvPr/>
        </p:nvSpPr>
        <p:spPr>
          <a:xfrm>
            <a:off x="6965273" y="3178642"/>
            <a:ext cx="4188342" cy="754053"/>
          </a:xfrm>
          <a:prstGeom prst="rect">
            <a:avLst/>
          </a:prstGeom>
          <a:noFill/>
        </p:spPr>
        <p:txBody>
          <a:bodyPr wrap="square">
            <a:spAutoFit/>
          </a:bodyPr>
          <a:lstStyle/>
          <a:p>
            <a:pPr algn="ctr"/>
            <a:r>
              <a:rPr lang="en-ES" sz="1900" dirty="0">
                <a:latin typeface="Bookman Old Style" panose="02050604050505020204" pitchFamily="18" charset="0"/>
                <a:ea typeface="Helvetica Neue" panose="02000503000000020004" pitchFamily="2" charset="0"/>
                <a:cs typeface="Helvetica Neue" panose="02000503000000020004" pitchFamily="2" charset="0"/>
              </a:rPr>
              <a:t>(Modified</a:t>
            </a:r>
            <a:r>
              <a:rPr lang="en-ES" sz="1900" i="1" dirty="0">
                <a:latin typeface="Bookman Old Style" panose="02050604050505020204" pitchFamily="18" charset="0"/>
                <a:ea typeface="Helvetica Neue" panose="02000503000000020004" pitchFamily="2" charset="0"/>
                <a:cs typeface="Helvetica Neue" panose="02000503000000020004" pitchFamily="2" charset="0"/>
              </a:rPr>
              <a:t> </a:t>
            </a:r>
            <a:r>
              <a:rPr lang="en-ES" sz="1900" dirty="0">
                <a:latin typeface="Bookman Old Style" panose="02050604050505020204" pitchFamily="18" charset="0"/>
                <a:ea typeface="Helvetica Neue" panose="02000503000000020004" pitchFamily="2" charset="0"/>
                <a:cs typeface="Helvetica Neue" panose="02000503000000020004" pitchFamily="2" charset="0"/>
              </a:rPr>
              <a:t>Nichols &amp; Knobe, 2007)</a:t>
            </a:r>
          </a:p>
          <a:p>
            <a:pPr algn="ctr"/>
            <a:r>
              <a:rPr lang="en-ES" sz="2400" i="1" dirty="0">
                <a:latin typeface="Bookman Old Style" panose="02050604050505020204" pitchFamily="18" charset="0"/>
                <a:ea typeface="Helvetica Neue" panose="02000503000000020004" pitchFamily="2" charset="0"/>
                <a:cs typeface="Helvetica Neue" panose="02000503000000020004" pitchFamily="2" charset="0"/>
              </a:rPr>
              <a:t>Control</a:t>
            </a:r>
            <a:endParaRPr lang="en-ES" sz="2400" i="1" dirty="0"/>
          </a:p>
        </p:txBody>
      </p:sp>
    </p:spTree>
    <p:extLst>
      <p:ext uri="{BB962C8B-B14F-4D97-AF65-F5344CB8AC3E}">
        <p14:creationId xmlns:p14="http://schemas.microsoft.com/office/powerpoint/2010/main" val="3189148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28EA-758D-12B1-8F78-6DE6DD6D9A4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EF05D6B-2B43-CC34-33A9-BD46DB0F7482}"/>
              </a:ext>
            </a:extLst>
          </p:cNvPr>
          <p:cNvSpPr>
            <a:spLocks noGrp="1"/>
          </p:cNvSpPr>
          <p:nvPr>
            <p:ph type="title"/>
          </p:nvPr>
        </p:nvSpPr>
        <p:spPr>
          <a:xfrm>
            <a:off x="1880519" y="66867"/>
            <a:ext cx="8229600" cy="1143000"/>
          </a:xfrm>
        </p:spPr>
        <p:txBody>
          <a:bodyPr/>
          <a:lstStyle/>
          <a:p>
            <a:pPr algn="ctr"/>
            <a:r>
              <a:rPr lang="en-US" dirty="0">
                <a:latin typeface="Bookman Old Style" panose="02050604050505020204" pitchFamily="18" charset="0"/>
              </a:rPr>
              <a:t>Curvature as conflict</a:t>
            </a:r>
          </a:p>
        </p:txBody>
      </p:sp>
      <p:pic>
        <p:nvPicPr>
          <p:cNvPr id="7" name="Picture 6">
            <a:extLst>
              <a:ext uri="{FF2B5EF4-FFF2-40B4-BE49-F238E27FC236}">
                <a16:creationId xmlns:a16="http://schemas.microsoft.com/office/drawing/2014/main" id="{AF6A75D2-EF0E-FF0A-8C94-36328C329773}"/>
              </a:ext>
            </a:extLst>
          </p:cNvPr>
          <p:cNvPicPr>
            <a:picLocks noChangeAspect="1"/>
          </p:cNvPicPr>
          <p:nvPr/>
        </p:nvPicPr>
        <p:blipFill>
          <a:blip r:embed="rId2"/>
          <a:stretch>
            <a:fillRect/>
          </a:stretch>
        </p:blipFill>
        <p:spPr>
          <a:xfrm>
            <a:off x="1719955" y="1391215"/>
            <a:ext cx="2399307" cy="2399307"/>
          </a:xfrm>
          <a:prstGeom prst="rect">
            <a:avLst/>
          </a:prstGeom>
        </p:spPr>
      </p:pic>
      <p:sp>
        <p:nvSpPr>
          <p:cNvPr id="8" name="Freeform 7">
            <a:extLst>
              <a:ext uri="{FF2B5EF4-FFF2-40B4-BE49-F238E27FC236}">
                <a16:creationId xmlns:a16="http://schemas.microsoft.com/office/drawing/2014/main" id="{ACE1C82E-8827-548B-1B88-05E01C497909}"/>
              </a:ext>
            </a:extLst>
          </p:cNvPr>
          <p:cNvSpPr/>
          <p:nvPr/>
        </p:nvSpPr>
        <p:spPr>
          <a:xfrm>
            <a:off x="2111681" y="1699265"/>
            <a:ext cx="1828842" cy="1762699"/>
          </a:xfrm>
          <a:custGeom>
            <a:avLst/>
            <a:gdLst>
              <a:gd name="csX0" fmla="*/ 1762740 w 1828842"/>
              <a:gd name="csY0" fmla="*/ 1762699 h 1762699"/>
              <a:gd name="csX1" fmla="*/ 1773757 w 1828842"/>
              <a:gd name="csY1" fmla="*/ 1222872 h 1762699"/>
              <a:gd name="csX2" fmla="*/ 1795791 w 1828842"/>
              <a:gd name="csY2" fmla="*/ 1156771 h 1762699"/>
              <a:gd name="csX3" fmla="*/ 1806808 w 1828842"/>
              <a:gd name="csY3" fmla="*/ 1101687 h 1762699"/>
              <a:gd name="csX4" fmla="*/ 1828842 w 1828842"/>
              <a:gd name="csY4" fmla="*/ 969484 h 1762699"/>
              <a:gd name="csX5" fmla="*/ 1817825 w 1828842"/>
              <a:gd name="csY5" fmla="*/ 804231 h 1762699"/>
              <a:gd name="csX6" fmla="*/ 1806808 w 1828842"/>
              <a:gd name="csY6" fmla="*/ 727113 h 1762699"/>
              <a:gd name="csX7" fmla="*/ 1740707 w 1828842"/>
              <a:gd name="csY7" fmla="*/ 683046 h 1762699"/>
              <a:gd name="csX8" fmla="*/ 1641555 w 1828842"/>
              <a:gd name="csY8" fmla="*/ 616944 h 1762699"/>
              <a:gd name="csX9" fmla="*/ 1608504 w 1828842"/>
              <a:gd name="csY9" fmla="*/ 594911 h 1762699"/>
              <a:gd name="csX10" fmla="*/ 1575454 w 1828842"/>
              <a:gd name="csY10" fmla="*/ 572877 h 1762699"/>
              <a:gd name="csX11" fmla="*/ 1542403 w 1828842"/>
              <a:gd name="csY11" fmla="*/ 561860 h 1762699"/>
              <a:gd name="csX12" fmla="*/ 1509352 w 1828842"/>
              <a:gd name="csY12" fmla="*/ 539826 h 1762699"/>
              <a:gd name="csX13" fmla="*/ 1355116 w 1828842"/>
              <a:gd name="csY13" fmla="*/ 495759 h 1762699"/>
              <a:gd name="csX14" fmla="*/ 1266981 w 1828842"/>
              <a:gd name="csY14" fmla="*/ 473725 h 1762699"/>
              <a:gd name="csX15" fmla="*/ 1112745 w 1828842"/>
              <a:gd name="csY15" fmla="*/ 429658 h 1762699"/>
              <a:gd name="csX16" fmla="*/ 1046644 w 1828842"/>
              <a:gd name="csY16" fmla="*/ 407624 h 1762699"/>
              <a:gd name="csX17" fmla="*/ 771222 w 1828842"/>
              <a:gd name="csY17" fmla="*/ 385590 h 1762699"/>
              <a:gd name="csX18" fmla="*/ 727155 w 1828842"/>
              <a:gd name="csY18" fmla="*/ 363556 h 1762699"/>
              <a:gd name="csX19" fmla="*/ 639020 w 1828842"/>
              <a:gd name="csY19" fmla="*/ 308472 h 1762699"/>
              <a:gd name="csX20" fmla="*/ 506817 w 1828842"/>
              <a:gd name="csY20" fmla="*/ 253388 h 1762699"/>
              <a:gd name="csX21" fmla="*/ 440716 w 1828842"/>
              <a:gd name="csY21" fmla="*/ 209320 h 1762699"/>
              <a:gd name="csX22" fmla="*/ 407666 w 1828842"/>
              <a:gd name="csY22" fmla="*/ 198303 h 1762699"/>
              <a:gd name="csX23" fmla="*/ 374615 w 1828842"/>
              <a:gd name="csY23" fmla="*/ 176270 h 1762699"/>
              <a:gd name="csX24" fmla="*/ 297497 w 1828842"/>
              <a:gd name="csY24" fmla="*/ 154236 h 1762699"/>
              <a:gd name="csX25" fmla="*/ 231396 w 1828842"/>
              <a:gd name="csY25" fmla="*/ 121185 h 1762699"/>
              <a:gd name="csX26" fmla="*/ 198345 w 1828842"/>
              <a:gd name="csY26" fmla="*/ 99152 h 1762699"/>
              <a:gd name="csX27" fmla="*/ 154278 w 1828842"/>
              <a:gd name="csY27" fmla="*/ 88135 h 1762699"/>
              <a:gd name="csX28" fmla="*/ 88177 w 1828842"/>
              <a:gd name="csY28" fmla="*/ 66101 h 1762699"/>
              <a:gd name="csX29" fmla="*/ 55126 w 1828842"/>
              <a:gd name="csY29" fmla="*/ 55084 h 1762699"/>
              <a:gd name="csX30" fmla="*/ 22075 w 1828842"/>
              <a:gd name="csY30" fmla="*/ 44067 h 1762699"/>
              <a:gd name="csX31" fmla="*/ 42 w 1828842"/>
              <a:gd name="csY31" fmla="*/ 0 h 1762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28842" h="1762699">
                <a:moveTo>
                  <a:pt x="1762740" y="1762699"/>
                </a:moveTo>
                <a:cubicBezTo>
                  <a:pt x="1766412" y="1582757"/>
                  <a:pt x="1763954" y="1402585"/>
                  <a:pt x="1773757" y="1222872"/>
                </a:cubicBezTo>
                <a:cubicBezTo>
                  <a:pt x="1775022" y="1199681"/>
                  <a:pt x="1791236" y="1179546"/>
                  <a:pt x="1795791" y="1156771"/>
                </a:cubicBezTo>
                <a:cubicBezTo>
                  <a:pt x="1799463" y="1138410"/>
                  <a:pt x="1803730" y="1120157"/>
                  <a:pt x="1806808" y="1101687"/>
                </a:cubicBezTo>
                <a:cubicBezTo>
                  <a:pt x="1834140" y="937700"/>
                  <a:pt x="1802877" y="1099307"/>
                  <a:pt x="1828842" y="969484"/>
                </a:cubicBezTo>
                <a:cubicBezTo>
                  <a:pt x="1825170" y="914400"/>
                  <a:pt x="1822823" y="859211"/>
                  <a:pt x="1817825" y="804231"/>
                </a:cubicBezTo>
                <a:cubicBezTo>
                  <a:pt x="1815474" y="778371"/>
                  <a:pt x="1820749" y="749020"/>
                  <a:pt x="1806808" y="727113"/>
                </a:cubicBezTo>
                <a:cubicBezTo>
                  <a:pt x="1792591" y="704772"/>
                  <a:pt x="1762741" y="697735"/>
                  <a:pt x="1740707" y="683046"/>
                </a:cubicBezTo>
                <a:lnTo>
                  <a:pt x="1641555" y="616944"/>
                </a:lnTo>
                <a:lnTo>
                  <a:pt x="1608504" y="594911"/>
                </a:lnTo>
                <a:cubicBezTo>
                  <a:pt x="1597487" y="587567"/>
                  <a:pt x="1588015" y="577064"/>
                  <a:pt x="1575454" y="572877"/>
                </a:cubicBezTo>
                <a:cubicBezTo>
                  <a:pt x="1564437" y="569205"/>
                  <a:pt x="1552790" y="567053"/>
                  <a:pt x="1542403" y="561860"/>
                </a:cubicBezTo>
                <a:cubicBezTo>
                  <a:pt x="1530560" y="555939"/>
                  <a:pt x="1521452" y="545204"/>
                  <a:pt x="1509352" y="539826"/>
                </a:cubicBezTo>
                <a:cubicBezTo>
                  <a:pt x="1445697" y="511535"/>
                  <a:pt x="1425136" y="519100"/>
                  <a:pt x="1355116" y="495759"/>
                </a:cubicBezTo>
                <a:cubicBezTo>
                  <a:pt x="1291935" y="474698"/>
                  <a:pt x="1353394" y="493667"/>
                  <a:pt x="1266981" y="473725"/>
                </a:cubicBezTo>
                <a:cubicBezTo>
                  <a:pt x="1177075" y="452977"/>
                  <a:pt x="1191652" y="455960"/>
                  <a:pt x="1112745" y="429658"/>
                </a:cubicBezTo>
                <a:lnTo>
                  <a:pt x="1046644" y="407624"/>
                </a:lnTo>
                <a:cubicBezTo>
                  <a:pt x="896455" y="388850"/>
                  <a:pt x="988065" y="398346"/>
                  <a:pt x="771222" y="385590"/>
                </a:cubicBezTo>
                <a:cubicBezTo>
                  <a:pt x="756533" y="378245"/>
                  <a:pt x="741082" y="372260"/>
                  <a:pt x="727155" y="363556"/>
                </a:cubicBezTo>
                <a:cubicBezTo>
                  <a:pt x="675167" y="331064"/>
                  <a:pt x="694843" y="329406"/>
                  <a:pt x="639020" y="308472"/>
                </a:cubicBezTo>
                <a:cubicBezTo>
                  <a:pt x="557329" y="277838"/>
                  <a:pt x="620984" y="329501"/>
                  <a:pt x="506817" y="253388"/>
                </a:cubicBezTo>
                <a:cubicBezTo>
                  <a:pt x="484783" y="238699"/>
                  <a:pt x="465838" y="217694"/>
                  <a:pt x="440716" y="209320"/>
                </a:cubicBezTo>
                <a:cubicBezTo>
                  <a:pt x="429699" y="205648"/>
                  <a:pt x="418053" y="203496"/>
                  <a:pt x="407666" y="198303"/>
                </a:cubicBezTo>
                <a:cubicBezTo>
                  <a:pt x="395823" y="192382"/>
                  <a:pt x="386458" y="182191"/>
                  <a:pt x="374615" y="176270"/>
                </a:cubicBezTo>
                <a:cubicBezTo>
                  <a:pt x="358810" y="168368"/>
                  <a:pt x="311617" y="157766"/>
                  <a:pt x="297497" y="154236"/>
                </a:cubicBezTo>
                <a:cubicBezTo>
                  <a:pt x="202785" y="91095"/>
                  <a:pt x="322612" y="166792"/>
                  <a:pt x="231396" y="121185"/>
                </a:cubicBezTo>
                <a:cubicBezTo>
                  <a:pt x="219553" y="115264"/>
                  <a:pt x="210515" y="104368"/>
                  <a:pt x="198345" y="99152"/>
                </a:cubicBezTo>
                <a:cubicBezTo>
                  <a:pt x="184428" y="93188"/>
                  <a:pt x="168781" y="92486"/>
                  <a:pt x="154278" y="88135"/>
                </a:cubicBezTo>
                <a:cubicBezTo>
                  <a:pt x="132032" y="81461"/>
                  <a:pt x="110211" y="73446"/>
                  <a:pt x="88177" y="66101"/>
                </a:cubicBezTo>
                <a:lnTo>
                  <a:pt x="55126" y="55084"/>
                </a:lnTo>
                <a:lnTo>
                  <a:pt x="22075" y="44067"/>
                </a:lnTo>
                <a:cubicBezTo>
                  <a:pt x="-1995" y="7961"/>
                  <a:pt x="42" y="24257"/>
                  <a:pt x="42" y="0"/>
                </a:cubicBezTo>
              </a:path>
            </a:pathLst>
          </a:custGeom>
          <a:no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pic>
        <p:nvPicPr>
          <p:cNvPr id="9" name="Picture 8">
            <a:extLst>
              <a:ext uri="{FF2B5EF4-FFF2-40B4-BE49-F238E27FC236}">
                <a16:creationId xmlns:a16="http://schemas.microsoft.com/office/drawing/2014/main" id="{5972E413-4362-EA0A-5B40-45228A67E24B}"/>
              </a:ext>
            </a:extLst>
          </p:cNvPr>
          <p:cNvPicPr>
            <a:picLocks noChangeAspect="1"/>
          </p:cNvPicPr>
          <p:nvPr/>
        </p:nvPicPr>
        <p:blipFill>
          <a:blip r:embed="rId2"/>
          <a:stretch>
            <a:fillRect/>
          </a:stretch>
        </p:blipFill>
        <p:spPr>
          <a:xfrm>
            <a:off x="7681012" y="1334561"/>
            <a:ext cx="2399307" cy="2399307"/>
          </a:xfrm>
          <a:prstGeom prst="rect">
            <a:avLst/>
          </a:prstGeom>
        </p:spPr>
      </p:pic>
      <p:sp>
        <p:nvSpPr>
          <p:cNvPr id="10" name="Freeform 9">
            <a:extLst>
              <a:ext uri="{FF2B5EF4-FFF2-40B4-BE49-F238E27FC236}">
                <a16:creationId xmlns:a16="http://schemas.microsoft.com/office/drawing/2014/main" id="{07456DA0-0F7D-EBEE-7D7E-665F062CCA2B}"/>
              </a:ext>
            </a:extLst>
          </p:cNvPr>
          <p:cNvSpPr/>
          <p:nvPr/>
        </p:nvSpPr>
        <p:spPr>
          <a:xfrm>
            <a:off x="8037333" y="1664645"/>
            <a:ext cx="1817783" cy="1729648"/>
          </a:xfrm>
          <a:custGeom>
            <a:avLst/>
            <a:gdLst>
              <a:gd name="csX0" fmla="*/ 1817783 w 1817783"/>
              <a:gd name="csY0" fmla="*/ 1729648 h 1729648"/>
              <a:gd name="csX1" fmla="*/ 1718631 w 1817783"/>
              <a:gd name="csY1" fmla="*/ 1597445 h 1729648"/>
              <a:gd name="csX2" fmla="*/ 1674563 w 1817783"/>
              <a:gd name="csY2" fmla="*/ 1542361 h 1729648"/>
              <a:gd name="csX3" fmla="*/ 1641513 w 1817783"/>
              <a:gd name="csY3" fmla="*/ 1509310 h 1729648"/>
              <a:gd name="csX4" fmla="*/ 1619479 w 1817783"/>
              <a:gd name="csY4" fmla="*/ 1476260 h 1729648"/>
              <a:gd name="csX5" fmla="*/ 1553378 w 1817783"/>
              <a:gd name="csY5" fmla="*/ 1388125 h 1729648"/>
              <a:gd name="csX6" fmla="*/ 1531344 w 1817783"/>
              <a:gd name="csY6" fmla="*/ 1355074 h 1729648"/>
              <a:gd name="csX7" fmla="*/ 1498294 w 1817783"/>
              <a:gd name="csY7" fmla="*/ 1322024 h 1729648"/>
              <a:gd name="csX8" fmla="*/ 1476260 w 1817783"/>
              <a:gd name="csY8" fmla="*/ 1288973 h 1729648"/>
              <a:gd name="csX9" fmla="*/ 1410159 w 1817783"/>
              <a:gd name="csY9" fmla="*/ 1222872 h 1729648"/>
              <a:gd name="csX10" fmla="*/ 1377108 w 1817783"/>
              <a:gd name="csY10" fmla="*/ 1178804 h 1729648"/>
              <a:gd name="csX11" fmla="*/ 1355074 w 1817783"/>
              <a:gd name="csY11" fmla="*/ 1145754 h 1729648"/>
              <a:gd name="csX12" fmla="*/ 1288973 w 1817783"/>
              <a:gd name="csY12" fmla="*/ 1079653 h 1729648"/>
              <a:gd name="csX13" fmla="*/ 1244906 w 1817783"/>
              <a:gd name="csY13" fmla="*/ 1046602 h 1729648"/>
              <a:gd name="csX14" fmla="*/ 1222872 w 1817783"/>
              <a:gd name="csY14" fmla="*/ 1013551 h 1729648"/>
              <a:gd name="csX15" fmla="*/ 1145754 w 1817783"/>
              <a:gd name="csY15" fmla="*/ 936433 h 1729648"/>
              <a:gd name="csX16" fmla="*/ 1057619 w 1817783"/>
              <a:gd name="csY16" fmla="*/ 859315 h 1729648"/>
              <a:gd name="csX17" fmla="*/ 1002535 w 1817783"/>
              <a:gd name="csY17" fmla="*/ 815248 h 1729648"/>
              <a:gd name="csX18" fmla="*/ 914400 w 1817783"/>
              <a:gd name="csY18" fmla="*/ 727113 h 1729648"/>
              <a:gd name="csX19" fmla="*/ 881349 w 1817783"/>
              <a:gd name="csY19" fmla="*/ 683045 h 1729648"/>
              <a:gd name="csX20" fmla="*/ 804231 w 1817783"/>
              <a:gd name="csY20" fmla="*/ 605927 h 1729648"/>
              <a:gd name="csX21" fmla="*/ 760163 w 1817783"/>
              <a:gd name="csY21" fmla="*/ 561860 h 1729648"/>
              <a:gd name="csX22" fmla="*/ 716096 w 1817783"/>
              <a:gd name="csY22" fmla="*/ 517792 h 1729648"/>
              <a:gd name="csX23" fmla="*/ 672029 w 1817783"/>
              <a:gd name="csY23" fmla="*/ 484742 h 1729648"/>
              <a:gd name="csX24" fmla="*/ 616944 w 1817783"/>
              <a:gd name="csY24" fmla="*/ 418641 h 1729648"/>
              <a:gd name="csX25" fmla="*/ 517792 w 1817783"/>
              <a:gd name="csY25" fmla="*/ 352539 h 1729648"/>
              <a:gd name="csX26" fmla="*/ 484742 w 1817783"/>
              <a:gd name="csY26" fmla="*/ 330506 h 1729648"/>
              <a:gd name="csX27" fmla="*/ 385590 w 1817783"/>
              <a:gd name="csY27" fmla="*/ 253388 h 1729648"/>
              <a:gd name="csX28" fmla="*/ 352539 w 1817783"/>
              <a:gd name="csY28" fmla="*/ 231354 h 1729648"/>
              <a:gd name="csX29" fmla="*/ 308472 w 1817783"/>
              <a:gd name="csY29" fmla="*/ 209320 h 1729648"/>
              <a:gd name="csX30" fmla="*/ 242371 w 1817783"/>
              <a:gd name="csY30" fmla="*/ 165253 h 1729648"/>
              <a:gd name="csX31" fmla="*/ 165253 w 1817783"/>
              <a:gd name="csY31" fmla="*/ 132202 h 1729648"/>
              <a:gd name="csX32" fmla="*/ 99151 w 1817783"/>
              <a:gd name="csY32" fmla="*/ 88135 h 1729648"/>
              <a:gd name="csX33" fmla="*/ 66101 w 1817783"/>
              <a:gd name="csY33" fmla="*/ 66101 h 1729648"/>
              <a:gd name="csX34" fmla="*/ 44067 w 1817783"/>
              <a:gd name="csY34" fmla="*/ 33050 h 1729648"/>
              <a:gd name="csX35" fmla="*/ 11017 w 1817783"/>
              <a:gd name="csY35" fmla="*/ 11016 h 1729648"/>
              <a:gd name="csX36" fmla="*/ 0 w 1817783"/>
              <a:gd name="csY36" fmla="*/ 0 h 17296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817783" h="1729648" extrusionOk="0">
                <a:moveTo>
                  <a:pt x="1817783" y="1729648"/>
                </a:moveTo>
                <a:cubicBezTo>
                  <a:pt x="1785211" y="1694939"/>
                  <a:pt x="1749851" y="1642325"/>
                  <a:pt x="1718631" y="1597445"/>
                </a:cubicBezTo>
                <a:cubicBezTo>
                  <a:pt x="1705538" y="1576872"/>
                  <a:pt x="1691845" y="1555545"/>
                  <a:pt x="1674563" y="1542361"/>
                </a:cubicBezTo>
                <a:cubicBezTo>
                  <a:pt x="1664379" y="1533016"/>
                  <a:pt x="1653582" y="1523986"/>
                  <a:pt x="1641513" y="1509310"/>
                </a:cubicBezTo>
                <a:cubicBezTo>
                  <a:pt x="1632264" y="1500932"/>
                  <a:pt x="1627386" y="1486690"/>
                  <a:pt x="1619479" y="1476260"/>
                </a:cubicBezTo>
                <a:cubicBezTo>
                  <a:pt x="1595010" y="1447270"/>
                  <a:pt x="1569967" y="1419789"/>
                  <a:pt x="1553378" y="1388125"/>
                </a:cubicBezTo>
                <a:cubicBezTo>
                  <a:pt x="1547115" y="1376756"/>
                  <a:pt x="1536728" y="1366326"/>
                  <a:pt x="1531344" y="1355074"/>
                </a:cubicBezTo>
                <a:cubicBezTo>
                  <a:pt x="1519637" y="1339822"/>
                  <a:pt x="1511626" y="1335542"/>
                  <a:pt x="1498294" y="1322024"/>
                </a:cubicBezTo>
                <a:cubicBezTo>
                  <a:pt x="1488498" y="1309727"/>
                  <a:pt x="1485852" y="1301350"/>
                  <a:pt x="1476260" y="1288973"/>
                </a:cubicBezTo>
                <a:cubicBezTo>
                  <a:pt x="1460290" y="1259754"/>
                  <a:pt x="1431265" y="1246861"/>
                  <a:pt x="1410159" y="1222872"/>
                </a:cubicBezTo>
                <a:cubicBezTo>
                  <a:pt x="1397668" y="1210009"/>
                  <a:pt x="1389336" y="1195703"/>
                  <a:pt x="1377108" y="1178804"/>
                </a:cubicBezTo>
                <a:cubicBezTo>
                  <a:pt x="1369471" y="1166033"/>
                  <a:pt x="1362960" y="1155146"/>
                  <a:pt x="1355074" y="1145754"/>
                </a:cubicBezTo>
                <a:cubicBezTo>
                  <a:pt x="1332795" y="1120169"/>
                  <a:pt x="1313626" y="1101735"/>
                  <a:pt x="1288973" y="1079653"/>
                </a:cubicBezTo>
                <a:cubicBezTo>
                  <a:pt x="1273791" y="1067812"/>
                  <a:pt x="1256647" y="1057696"/>
                  <a:pt x="1244906" y="1046602"/>
                </a:cubicBezTo>
                <a:cubicBezTo>
                  <a:pt x="1234670" y="1036474"/>
                  <a:pt x="1232999" y="1024036"/>
                  <a:pt x="1222872" y="1013551"/>
                </a:cubicBezTo>
                <a:cubicBezTo>
                  <a:pt x="1197224" y="984811"/>
                  <a:pt x="1169879" y="954498"/>
                  <a:pt x="1145754" y="936433"/>
                </a:cubicBezTo>
                <a:cubicBezTo>
                  <a:pt x="1041287" y="847433"/>
                  <a:pt x="1192058" y="954189"/>
                  <a:pt x="1057619" y="859315"/>
                </a:cubicBezTo>
                <a:cubicBezTo>
                  <a:pt x="1038063" y="842588"/>
                  <a:pt x="1018501" y="832305"/>
                  <a:pt x="1002535" y="815248"/>
                </a:cubicBezTo>
                <a:cubicBezTo>
                  <a:pt x="969404" y="787395"/>
                  <a:pt x="940220" y="759533"/>
                  <a:pt x="914400" y="727113"/>
                </a:cubicBezTo>
                <a:cubicBezTo>
                  <a:pt x="903034" y="710957"/>
                  <a:pt x="896975" y="696751"/>
                  <a:pt x="881349" y="683045"/>
                </a:cubicBezTo>
                <a:cubicBezTo>
                  <a:pt x="855060" y="653515"/>
                  <a:pt x="827494" y="627039"/>
                  <a:pt x="804231" y="605927"/>
                </a:cubicBezTo>
                <a:cubicBezTo>
                  <a:pt x="784551" y="589294"/>
                  <a:pt x="771938" y="569380"/>
                  <a:pt x="760163" y="561860"/>
                </a:cubicBezTo>
                <a:cubicBezTo>
                  <a:pt x="743399" y="549722"/>
                  <a:pt x="735166" y="529814"/>
                  <a:pt x="716096" y="517792"/>
                </a:cubicBezTo>
                <a:cubicBezTo>
                  <a:pt x="700451" y="507603"/>
                  <a:pt x="685719" y="492808"/>
                  <a:pt x="672029" y="484742"/>
                </a:cubicBezTo>
                <a:cubicBezTo>
                  <a:pt x="654582" y="454754"/>
                  <a:pt x="646422" y="443828"/>
                  <a:pt x="616944" y="418641"/>
                </a:cubicBezTo>
                <a:cubicBezTo>
                  <a:pt x="615139" y="416384"/>
                  <a:pt x="534002" y="362337"/>
                  <a:pt x="517792" y="352539"/>
                </a:cubicBezTo>
                <a:cubicBezTo>
                  <a:pt x="508416" y="345386"/>
                  <a:pt x="496744" y="339297"/>
                  <a:pt x="484742" y="330506"/>
                </a:cubicBezTo>
                <a:cubicBezTo>
                  <a:pt x="435372" y="280418"/>
                  <a:pt x="459347" y="309815"/>
                  <a:pt x="385590" y="253388"/>
                </a:cubicBezTo>
                <a:cubicBezTo>
                  <a:pt x="373593" y="247769"/>
                  <a:pt x="366665" y="235711"/>
                  <a:pt x="352539" y="231354"/>
                </a:cubicBezTo>
                <a:cubicBezTo>
                  <a:pt x="334927" y="226812"/>
                  <a:pt x="324681" y="216919"/>
                  <a:pt x="308472" y="209320"/>
                </a:cubicBezTo>
                <a:cubicBezTo>
                  <a:pt x="285376" y="196839"/>
                  <a:pt x="267771" y="170255"/>
                  <a:pt x="242371" y="165253"/>
                </a:cubicBezTo>
                <a:cubicBezTo>
                  <a:pt x="207287" y="153423"/>
                  <a:pt x="198115" y="153308"/>
                  <a:pt x="165253" y="132202"/>
                </a:cubicBezTo>
                <a:cubicBezTo>
                  <a:pt x="137473" y="120183"/>
                  <a:pt x="115830" y="106587"/>
                  <a:pt x="99151" y="88135"/>
                </a:cubicBezTo>
                <a:cubicBezTo>
                  <a:pt x="83863" y="75857"/>
                  <a:pt x="77640" y="72797"/>
                  <a:pt x="66101" y="66101"/>
                </a:cubicBezTo>
                <a:cubicBezTo>
                  <a:pt x="58800" y="54334"/>
                  <a:pt x="53794" y="44076"/>
                  <a:pt x="44067" y="33050"/>
                </a:cubicBezTo>
                <a:cubicBezTo>
                  <a:pt x="34122" y="25068"/>
                  <a:pt x="22272" y="20008"/>
                  <a:pt x="11017" y="11016"/>
                </a:cubicBezTo>
                <a:cubicBezTo>
                  <a:pt x="6813" y="8010"/>
                  <a:pt x="3562" y="3945"/>
                  <a:pt x="0" y="0"/>
                </a:cubicBezTo>
              </a:path>
            </a:pathLst>
          </a:custGeom>
          <a:noFill/>
          <a:ln w="28575">
            <a:solidFill>
              <a:schemeClr val="accent2"/>
            </a:solidFill>
            <a:extLst>
              <a:ext uri="{C807C97D-BFC1-408E-A445-0C87EB9F89A2}">
                <ask:lineSketchStyleProps xmlns:ask="http://schemas.microsoft.com/office/drawing/2018/sketchyshapes" sd="4277943029">
                  <a:custGeom>
                    <a:avLst/>
                    <a:gdLst>
                      <a:gd name="csX0" fmla="*/ 1817783 w 1817783"/>
                      <a:gd name="csY0" fmla="*/ 1729648 h 1729648"/>
                      <a:gd name="csX1" fmla="*/ 1718631 w 1817783"/>
                      <a:gd name="csY1" fmla="*/ 1597445 h 1729648"/>
                      <a:gd name="csX2" fmla="*/ 1674563 w 1817783"/>
                      <a:gd name="csY2" fmla="*/ 1542361 h 1729648"/>
                      <a:gd name="csX3" fmla="*/ 1641513 w 1817783"/>
                      <a:gd name="csY3" fmla="*/ 1509310 h 1729648"/>
                      <a:gd name="csX4" fmla="*/ 1619479 w 1817783"/>
                      <a:gd name="csY4" fmla="*/ 1476260 h 1729648"/>
                      <a:gd name="csX5" fmla="*/ 1553378 w 1817783"/>
                      <a:gd name="csY5" fmla="*/ 1388125 h 1729648"/>
                      <a:gd name="csX6" fmla="*/ 1531344 w 1817783"/>
                      <a:gd name="csY6" fmla="*/ 1355074 h 1729648"/>
                      <a:gd name="csX7" fmla="*/ 1498294 w 1817783"/>
                      <a:gd name="csY7" fmla="*/ 1322024 h 1729648"/>
                      <a:gd name="csX8" fmla="*/ 1476260 w 1817783"/>
                      <a:gd name="csY8" fmla="*/ 1288973 h 1729648"/>
                      <a:gd name="csX9" fmla="*/ 1410159 w 1817783"/>
                      <a:gd name="csY9" fmla="*/ 1222872 h 1729648"/>
                      <a:gd name="csX10" fmla="*/ 1377108 w 1817783"/>
                      <a:gd name="csY10" fmla="*/ 1178804 h 1729648"/>
                      <a:gd name="csX11" fmla="*/ 1355074 w 1817783"/>
                      <a:gd name="csY11" fmla="*/ 1145754 h 1729648"/>
                      <a:gd name="csX12" fmla="*/ 1288973 w 1817783"/>
                      <a:gd name="csY12" fmla="*/ 1079653 h 1729648"/>
                      <a:gd name="csX13" fmla="*/ 1244906 w 1817783"/>
                      <a:gd name="csY13" fmla="*/ 1046602 h 1729648"/>
                      <a:gd name="csX14" fmla="*/ 1222872 w 1817783"/>
                      <a:gd name="csY14" fmla="*/ 1013551 h 1729648"/>
                      <a:gd name="csX15" fmla="*/ 1145754 w 1817783"/>
                      <a:gd name="csY15" fmla="*/ 936433 h 1729648"/>
                      <a:gd name="csX16" fmla="*/ 1057619 w 1817783"/>
                      <a:gd name="csY16" fmla="*/ 859315 h 1729648"/>
                      <a:gd name="csX17" fmla="*/ 1002535 w 1817783"/>
                      <a:gd name="csY17" fmla="*/ 815248 h 1729648"/>
                      <a:gd name="csX18" fmla="*/ 914400 w 1817783"/>
                      <a:gd name="csY18" fmla="*/ 727113 h 1729648"/>
                      <a:gd name="csX19" fmla="*/ 881349 w 1817783"/>
                      <a:gd name="csY19" fmla="*/ 683045 h 1729648"/>
                      <a:gd name="csX20" fmla="*/ 804231 w 1817783"/>
                      <a:gd name="csY20" fmla="*/ 605927 h 1729648"/>
                      <a:gd name="csX21" fmla="*/ 760163 w 1817783"/>
                      <a:gd name="csY21" fmla="*/ 561860 h 1729648"/>
                      <a:gd name="csX22" fmla="*/ 716096 w 1817783"/>
                      <a:gd name="csY22" fmla="*/ 517792 h 1729648"/>
                      <a:gd name="csX23" fmla="*/ 672029 w 1817783"/>
                      <a:gd name="csY23" fmla="*/ 484742 h 1729648"/>
                      <a:gd name="csX24" fmla="*/ 616944 w 1817783"/>
                      <a:gd name="csY24" fmla="*/ 418641 h 1729648"/>
                      <a:gd name="csX25" fmla="*/ 517792 w 1817783"/>
                      <a:gd name="csY25" fmla="*/ 352539 h 1729648"/>
                      <a:gd name="csX26" fmla="*/ 484742 w 1817783"/>
                      <a:gd name="csY26" fmla="*/ 330506 h 1729648"/>
                      <a:gd name="csX27" fmla="*/ 385590 w 1817783"/>
                      <a:gd name="csY27" fmla="*/ 253388 h 1729648"/>
                      <a:gd name="csX28" fmla="*/ 352539 w 1817783"/>
                      <a:gd name="csY28" fmla="*/ 231354 h 1729648"/>
                      <a:gd name="csX29" fmla="*/ 308472 w 1817783"/>
                      <a:gd name="csY29" fmla="*/ 209320 h 1729648"/>
                      <a:gd name="csX30" fmla="*/ 242371 w 1817783"/>
                      <a:gd name="csY30" fmla="*/ 165253 h 1729648"/>
                      <a:gd name="csX31" fmla="*/ 165253 w 1817783"/>
                      <a:gd name="csY31" fmla="*/ 132202 h 1729648"/>
                      <a:gd name="csX32" fmla="*/ 99151 w 1817783"/>
                      <a:gd name="csY32" fmla="*/ 88135 h 1729648"/>
                      <a:gd name="csX33" fmla="*/ 66101 w 1817783"/>
                      <a:gd name="csY33" fmla="*/ 66101 h 1729648"/>
                      <a:gd name="csX34" fmla="*/ 44067 w 1817783"/>
                      <a:gd name="csY34" fmla="*/ 33050 h 1729648"/>
                      <a:gd name="csX35" fmla="*/ 11017 w 1817783"/>
                      <a:gd name="csY35" fmla="*/ 11016 h 1729648"/>
                      <a:gd name="csX36" fmla="*/ 0 w 1817783"/>
                      <a:gd name="csY36" fmla="*/ 0 h 17296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817783" h="1729648">
                        <a:moveTo>
                          <a:pt x="1817783" y="1729648"/>
                        </a:moveTo>
                        <a:cubicBezTo>
                          <a:pt x="1784732" y="1685580"/>
                          <a:pt x="1752092" y="1641202"/>
                          <a:pt x="1718631" y="1597445"/>
                        </a:cubicBezTo>
                        <a:cubicBezTo>
                          <a:pt x="1704347" y="1578766"/>
                          <a:pt x="1691190" y="1558988"/>
                          <a:pt x="1674563" y="1542361"/>
                        </a:cubicBezTo>
                        <a:cubicBezTo>
                          <a:pt x="1663546" y="1531344"/>
                          <a:pt x="1651487" y="1521279"/>
                          <a:pt x="1641513" y="1509310"/>
                        </a:cubicBezTo>
                        <a:cubicBezTo>
                          <a:pt x="1633037" y="1499138"/>
                          <a:pt x="1627267" y="1486968"/>
                          <a:pt x="1619479" y="1476260"/>
                        </a:cubicBezTo>
                        <a:cubicBezTo>
                          <a:pt x="1597880" y="1446561"/>
                          <a:pt x="1573748" y="1418680"/>
                          <a:pt x="1553378" y="1388125"/>
                        </a:cubicBezTo>
                        <a:cubicBezTo>
                          <a:pt x="1546033" y="1377108"/>
                          <a:pt x="1539821" y="1365246"/>
                          <a:pt x="1531344" y="1355074"/>
                        </a:cubicBezTo>
                        <a:cubicBezTo>
                          <a:pt x="1521370" y="1343105"/>
                          <a:pt x="1508268" y="1333993"/>
                          <a:pt x="1498294" y="1322024"/>
                        </a:cubicBezTo>
                        <a:cubicBezTo>
                          <a:pt x="1489817" y="1311852"/>
                          <a:pt x="1485057" y="1298869"/>
                          <a:pt x="1476260" y="1288973"/>
                        </a:cubicBezTo>
                        <a:cubicBezTo>
                          <a:pt x="1455558" y="1265683"/>
                          <a:pt x="1428855" y="1247800"/>
                          <a:pt x="1410159" y="1222872"/>
                        </a:cubicBezTo>
                        <a:cubicBezTo>
                          <a:pt x="1399142" y="1208183"/>
                          <a:pt x="1387781" y="1193745"/>
                          <a:pt x="1377108" y="1178804"/>
                        </a:cubicBezTo>
                        <a:cubicBezTo>
                          <a:pt x="1369412" y="1168030"/>
                          <a:pt x="1363871" y="1155650"/>
                          <a:pt x="1355074" y="1145754"/>
                        </a:cubicBezTo>
                        <a:cubicBezTo>
                          <a:pt x="1334372" y="1122465"/>
                          <a:pt x="1313901" y="1098349"/>
                          <a:pt x="1288973" y="1079653"/>
                        </a:cubicBezTo>
                        <a:cubicBezTo>
                          <a:pt x="1274284" y="1068636"/>
                          <a:pt x="1257889" y="1059586"/>
                          <a:pt x="1244906" y="1046602"/>
                        </a:cubicBezTo>
                        <a:cubicBezTo>
                          <a:pt x="1235543" y="1037239"/>
                          <a:pt x="1231730" y="1023393"/>
                          <a:pt x="1222872" y="1013551"/>
                        </a:cubicBezTo>
                        <a:cubicBezTo>
                          <a:pt x="1198553" y="986529"/>
                          <a:pt x="1174837" y="958245"/>
                          <a:pt x="1145754" y="936433"/>
                        </a:cubicBezTo>
                        <a:cubicBezTo>
                          <a:pt x="1044730" y="860667"/>
                          <a:pt x="1160306" y="950593"/>
                          <a:pt x="1057619" y="859315"/>
                        </a:cubicBezTo>
                        <a:cubicBezTo>
                          <a:pt x="1040045" y="843693"/>
                          <a:pt x="1019813" y="831197"/>
                          <a:pt x="1002535" y="815248"/>
                        </a:cubicBezTo>
                        <a:cubicBezTo>
                          <a:pt x="972006" y="787067"/>
                          <a:pt x="939328" y="760351"/>
                          <a:pt x="914400" y="727113"/>
                        </a:cubicBezTo>
                        <a:cubicBezTo>
                          <a:pt x="903383" y="712424"/>
                          <a:pt x="893700" y="696632"/>
                          <a:pt x="881349" y="683045"/>
                        </a:cubicBezTo>
                        <a:cubicBezTo>
                          <a:pt x="856895" y="656145"/>
                          <a:pt x="829937" y="631633"/>
                          <a:pt x="804231" y="605927"/>
                        </a:cubicBezTo>
                        <a:lnTo>
                          <a:pt x="760163" y="561860"/>
                        </a:lnTo>
                        <a:cubicBezTo>
                          <a:pt x="745474" y="547171"/>
                          <a:pt x="732715" y="530256"/>
                          <a:pt x="716096" y="517792"/>
                        </a:cubicBezTo>
                        <a:lnTo>
                          <a:pt x="672029" y="484742"/>
                        </a:lnTo>
                        <a:cubicBezTo>
                          <a:pt x="652442" y="455362"/>
                          <a:pt x="646309" y="441480"/>
                          <a:pt x="616944" y="418641"/>
                        </a:cubicBezTo>
                        <a:cubicBezTo>
                          <a:pt x="616939" y="418637"/>
                          <a:pt x="534320" y="363558"/>
                          <a:pt x="517792" y="352539"/>
                        </a:cubicBezTo>
                        <a:cubicBezTo>
                          <a:pt x="506775" y="345195"/>
                          <a:pt x="494104" y="339868"/>
                          <a:pt x="484742" y="330506"/>
                        </a:cubicBezTo>
                        <a:cubicBezTo>
                          <a:pt x="432966" y="278730"/>
                          <a:pt x="464655" y="306098"/>
                          <a:pt x="385590" y="253388"/>
                        </a:cubicBezTo>
                        <a:cubicBezTo>
                          <a:pt x="374573" y="246043"/>
                          <a:pt x="364382" y="237276"/>
                          <a:pt x="352539" y="231354"/>
                        </a:cubicBezTo>
                        <a:cubicBezTo>
                          <a:pt x="337850" y="224009"/>
                          <a:pt x="322554" y="217770"/>
                          <a:pt x="308472" y="209320"/>
                        </a:cubicBezTo>
                        <a:cubicBezTo>
                          <a:pt x="285765" y="195696"/>
                          <a:pt x="267493" y="173627"/>
                          <a:pt x="242371" y="165253"/>
                        </a:cubicBezTo>
                        <a:cubicBezTo>
                          <a:pt x="208177" y="153855"/>
                          <a:pt x="199289" y="152624"/>
                          <a:pt x="165253" y="132202"/>
                        </a:cubicBezTo>
                        <a:cubicBezTo>
                          <a:pt x="142545" y="118577"/>
                          <a:pt x="121185" y="102824"/>
                          <a:pt x="99151" y="88135"/>
                        </a:cubicBezTo>
                        <a:lnTo>
                          <a:pt x="66101" y="66101"/>
                        </a:lnTo>
                        <a:cubicBezTo>
                          <a:pt x="58756" y="55084"/>
                          <a:pt x="53430" y="42413"/>
                          <a:pt x="44067" y="33050"/>
                        </a:cubicBezTo>
                        <a:cubicBezTo>
                          <a:pt x="34705" y="23687"/>
                          <a:pt x="21609" y="18960"/>
                          <a:pt x="11017" y="11016"/>
                        </a:cubicBezTo>
                        <a:cubicBezTo>
                          <a:pt x="6862" y="7900"/>
                          <a:pt x="3672" y="3672"/>
                          <a:pt x="0" y="0"/>
                        </a:cubicBezTo>
                      </a:path>
                    </a:pathLst>
                  </a:custGeom>
                  <ask:type>
                    <ask:lineSketchFreehand/>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pic>
        <p:nvPicPr>
          <p:cNvPr id="16" name="Picture 15">
            <a:extLst>
              <a:ext uri="{FF2B5EF4-FFF2-40B4-BE49-F238E27FC236}">
                <a16:creationId xmlns:a16="http://schemas.microsoft.com/office/drawing/2014/main" id="{150C8BCE-43E2-EC62-6C6D-9FEDA8AEB261}"/>
              </a:ext>
            </a:extLst>
          </p:cNvPr>
          <p:cNvPicPr>
            <a:picLocks noChangeAspect="1"/>
          </p:cNvPicPr>
          <p:nvPr/>
        </p:nvPicPr>
        <p:blipFill>
          <a:blip r:embed="rId3"/>
          <a:stretch>
            <a:fillRect/>
          </a:stretch>
        </p:blipFill>
        <p:spPr>
          <a:xfrm>
            <a:off x="986000" y="4009639"/>
            <a:ext cx="4188342" cy="2308204"/>
          </a:xfrm>
          <a:prstGeom prst="rect">
            <a:avLst/>
          </a:prstGeom>
        </p:spPr>
      </p:pic>
      <p:pic>
        <p:nvPicPr>
          <p:cNvPr id="17" name="Picture 16">
            <a:extLst>
              <a:ext uri="{FF2B5EF4-FFF2-40B4-BE49-F238E27FC236}">
                <a16:creationId xmlns:a16="http://schemas.microsoft.com/office/drawing/2014/main" id="{1288E5A2-FE61-A002-3B33-7B277A99ACB8}"/>
              </a:ext>
            </a:extLst>
          </p:cNvPr>
          <p:cNvPicPr>
            <a:picLocks noChangeAspect="1"/>
          </p:cNvPicPr>
          <p:nvPr/>
        </p:nvPicPr>
        <p:blipFill>
          <a:blip r:embed="rId3"/>
          <a:stretch>
            <a:fillRect/>
          </a:stretch>
        </p:blipFill>
        <p:spPr>
          <a:xfrm>
            <a:off x="6965273" y="4009639"/>
            <a:ext cx="4188342" cy="2308204"/>
          </a:xfrm>
          <a:prstGeom prst="rect">
            <a:avLst/>
          </a:prstGeom>
        </p:spPr>
      </p:pic>
      <p:sp>
        <p:nvSpPr>
          <p:cNvPr id="19" name="TextBox 18">
            <a:extLst>
              <a:ext uri="{FF2B5EF4-FFF2-40B4-BE49-F238E27FC236}">
                <a16:creationId xmlns:a16="http://schemas.microsoft.com/office/drawing/2014/main" id="{FEB31BEA-541C-91D4-B003-3D1A4F7AE6D5}"/>
              </a:ext>
            </a:extLst>
          </p:cNvPr>
          <p:cNvSpPr txBox="1"/>
          <p:nvPr/>
        </p:nvSpPr>
        <p:spPr>
          <a:xfrm>
            <a:off x="7196328" y="4875902"/>
            <a:ext cx="3831336" cy="892552"/>
          </a:xfrm>
          <a:prstGeom prst="rect">
            <a:avLst/>
          </a:prstGeom>
          <a:solidFill>
            <a:srgbClr val="EAEAF1"/>
          </a:solidFill>
        </p:spPr>
        <p:txBody>
          <a:bodyPr wrap="square">
            <a:spAutoFit/>
          </a:bodyPr>
          <a:lstStyle/>
          <a:p>
            <a:r>
              <a:rPr lang="en-US" sz="2600" dirty="0">
                <a:latin typeface="Bookman Old Style" panose="02050604050505020204" pitchFamily="18" charset="0"/>
              </a:rPr>
              <a:t>In an indeterministic universe…</a:t>
            </a:r>
            <a:endParaRPr lang="en-ES" sz="2600" dirty="0"/>
          </a:p>
        </p:txBody>
      </p:sp>
    </p:spTree>
    <p:extLst>
      <p:ext uri="{BB962C8B-B14F-4D97-AF65-F5344CB8AC3E}">
        <p14:creationId xmlns:p14="http://schemas.microsoft.com/office/powerpoint/2010/main" val="11020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CE55BDB7-2197-5D0E-5300-7E723B0A0DCB}"/>
              </a:ext>
            </a:extLst>
          </p:cNvPr>
          <p:cNvPicPr>
            <a:picLocks noChangeAspect="1"/>
          </p:cNvPicPr>
          <p:nvPr/>
        </p:nvPicPr>
        <p:blipFill>
          <a:blip r:embed="rId2"/>
          <a:stretch>
            <a:fillRect/>
          </a:stretch>
        </p:blipFill>
        <p:spPr>
          <a:xfrm>
            <a:off x="381000" y="0"/>
            <a:ext cx="11430000" cy="6858000"/>
          </a:xfrm>
          <a:prstGeom prst="rect">
            <a:avLst/>
          </a:prstGeom>
        </p:spPr>
      </p:pic>
    </p:spTree>
    <p:extLst>
      <p:ext uri="{BB962C8B-B14F-4D97-AF65-F5344CB8AC3E}">
        <p14:creationId xmlns:p14="http://schemas.microsoft.com/office/powerpoint/2010/main" val="3056686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A6D63-968A-5001-8C4C-94B47D543FBB}"/>
              </a:ext>
            </a:extLst>
          </p:cNvPr>
          <p:cNvSpPr>
            <a:spLocks noGrp="1"/>
          </p:cNvSpPr>
          <p:nvPr>
            <p:ph type="title"/>
          </p:nvPr>
        </p:nvSpPr>
        <p:spPr/>
        <p:txBody>
          <a:bodyPr/>
          <a:lstStyle/>
          <a:p>
            <a:endParaRPr lang="en-ES"/>
          </a:p>
        </p:txBody>
      </p:sp>
      <p:pic>
        <p:nvPicPr>
          <p:cNvPr id="4" name="Picture 3">
            <a:extLst>
              <a:ext uri="{FF2B5EF4-FFF2-40B4-BE49-F238E27FC236}">
                <a16:creationId xmlns:a16="http://schemas.microsoft.com/office/drawing/2014/main" id="{0CF8CD3E-EF8B-3FA1-E86B-F6F9B13A891C}"/>
              </a:ext>
            </a:extLst>
          </p:cNvPr>
          <p:cNvPicPr>
            <a:picLocks noChangeAspect="1"/>
          </p:cNvPicPr>
          <p:nvPr/>
        </p:nvPicPr>
        <p:blipFill>
          <a:blip r:embed="rId2"/>
          <a:stretch>
            <a:fillRect/>
          </a:stretch>
        </p:blipFill>
        <p:spPr>
          <a:xfrm>
            <a:off x="3022135" y="365125"/>
            <a:ext cx="6147729" cy="6147729"/>
          </a:xfrm>
          <a:prstGeom prst="rect">
            <a:avLst/>
          </a:prstGeom>
        </p:spPr>
      </p:pic>
    </p:spTree>
    <p:extLst>
      <p:ext uri="{BB962C8B-B14F-4D97-AF65-F5344CB8AC3E}">
        <p14:creationId xmlns:p14="http://schemas.microsoft.com/office/powerpoint/2010/main" val="487327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41E9C-0D77-5FC6-E682-529467E31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B8CC3-BDC9-4FB7-5C86-FA0CA0FBE58D}"/>
              </a:ext>
            </a:extLst>
          </p:cNvPr>
          <p:cNvSpPr>
            <a:spLocks noGrp="1"/>
          </p:cNvSpPr>
          <p:nvPr>
            <p:ph type="title"/>
          </p:nvPr>
        </p:nvSpPr>
        <p:spPr>
          <a:xfrm>
            <a:off x="838200" y="88028"/>
            <a:ext cx="10515600" cy="1325563"/>
          </a:xfrm>
        </p:spPr>
        <p:txBody>
          <a:bodyPr>
            <a:normAutofit/>
          </a:bodyPr>
          <a:lstStyle/>
          <a:p>
            <a:pPr algn="ctr"/>
            <a:r>
              <a:rPr lang="en-ES" sz="3600" dirty="0">
                <a:latin typeface="Bookman Old Style" panose="02050604050505020204" pitchFamily="18" charset="0"/>
              </a:rPr>
              <a:t>Time-resolved analyses</a:t>
            </a:r>
          </a:p>
        </p:txBody>
      </p:sp>
      <p:sp>
        <p:nvSpPr>
          <p:cNvPr id="4" name="TextBox 3">
            <a:extLst>
              <a:ext uri="{FF2B5EF4-FFF2-40B4-BE49-F238E27FC236}">
                <a16:creationId xmlns:a16="http://schemas.microsoft.com/office/drawing/2014/main" id="{3B2F6428-B642-6BFD-CFD0-BE65C007BEB9}"/>
              </a:ext>
            </a:extLst>
          </p:cNvPr>
          <p:cNvSpPr txBox="1"/>
          <p:nvPr/>
        </p:nvSpPr>
        <p:spPr>
          <a:xfrm>
            <a:off x="2656750" y="5738387"/>
            <a:ext cx="6878499" cy="830997"/>
          </a:xfrm>
          <a:prstGeom prst="rect">
            <a:avLst/>
          </a:prstGeom>
          <a:noFill/>
        </p:spPr>
        <p:txBody>
          <a:bodyPr wrap="square">
            <a:spAutoFit/>
          </a:bodyPr>
          <a:lstStyle/>
          <a:p>
            <a:r>
              <a:rPr lang="en-ES" sz="2400" dirty="0">
                <a:latin typeface="Bookman Old Style" panose="02050604050505020204" pitchFamily="18" charset="0"/>
              </a:rPr>
              <a:t>Time normalization (101 time steps)</a:t>
            </a:r>
          </a:p>
          <a:p>
            <a:r>
              <a:rPr lang="en-ES" sz="2400" dirty="0">
                <a:latin typeface="Bookman Old Style" panose="02050604050505020204" pitchFamily="18" charset="0"/>
              </a:rPr>
              <a:t>Horizontal position as dependent variable</a:t>
            </a:r>
          </a:p>
        </p:txBody>
      </p:sp>
      <p:pic>
        <p:nvPicPr>
          <p:cNvPr id="5" name="Picture 4">
            <a:extLst>
              <a:ext uri="{FF2B5EF4-FFF2-40B4-BE49-F238E27FC236}">
                <a16:creationId xmlns:a16="http://schemas.microsoft.com/office/drawing/2014/main" id="{9833C9B9-1AB6-2144-058B-6A2523CAD5BF}"/>
              </a:ext>
            </a:extLst>
          </p:cNvPr>
          <p:cNvPicPr>
            <a:picLocks noChangeAspect="1"/>
          </p:cNvPicPr>
          <p:nvPr/>
        </p:nvPicPr>
        <p:blipFill>
          <a:blip r:embed="rId2"/>
          <a:stretch>
            <a:fillRect/>
          </a:stretch>
        </p:blipFill>
        <p:spPr>
          <a:xfrm>
            <a:off x="3723771" y="1284559"/>
            <a:ext cx="4445000" cy="4445000"/>
          </a:xfrm>
          <a:prstGeom prst="rect">
            <a:avLst/>
          </a:prstGeom>
        </p:spPr>
      </p:pic>
      <p:cxnSp>
        <p:nvCxnSpPr>
          <p:cNvPr id="10" name="Straight Connector 9">
            <a:extLst>
              <a:ext uri="{FF2B5EF4-FFF2-40B4-BE49-F238E27FC236}">
                <a16:creationId xmlns:a16="http://schemas.microsoft.com/office/drawing/2014/main" id="{A7BE5F4E-CBB4-F7E0-5F10-3C3491F9B48A}"/>
              </a:ext>
            </a:extLst>
          </p:cNvPr>
          <p:cNvCxnSpPr>
            <a:cxnSpLocks/>
          </p:cNvCxnSpPr>
          <p:nvPr/>
        </p:nvCxnSpPr>
        <p:spPr>
          <a:xfrm flipV="1">
            <a:off x="5564764" y="2106827"/>
            <a:ext cx="0" cy="1173892"/>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8E1050D-464C-AF9D-E770-1DB4674B9924}"/>
              </a:ext>
            </a:extLst>
          </p:cNvPr>
          <p:cNvCxnSpPr>
            <a:cxnSpLocks/>
          </p:cNvCxnSpPr>
          <p:nvPr/>
        </p:nvCxnSpPr>
        <p:spPr>
          <a:xfrm flipV="1">
            <a:off x="5336163" y="2100851"/>
            <a:ext cx="0" cy="1173892"/>
          </a:xfrm>
          <a:prstGeom prst="line">
            <a:avLst/>
          </a:prstGeom>
          <a:ln>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4784702-694E-0498-D1D0-144CA0E98601}"/>
              </a:ext>
            </a:extLst>
          </p:cNvPr>
          <p:cNvCxnSpPr>
            <a:cxnSpLocks/>
          </p:cNvCxnSpPr>
          <p:nvPr/>
        </p:nvCxnSpPr>
        <p:spPr>
          <a:xfrm flipH="1" flipV="1">
            <a:off x="7053648" y="2582562"/>
            <a:ext cx="4224" cy="762618"/>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D345657-9EEC-B9EA-FDBD-538FB3D683D3}"/>
              </a:ext>
            </a:extLst>
          </p:cNvPr>
          <p:cNvCxnSpPr>
            <a:cxnSpLocks/>
          </p:cNvCxnSpPr>
          <p:nvPr/>
        </p:nvCxnSpPr>
        <p:spPr>
          <a:xfrm flipV="1">
            <a:off x="6551243" y="2516096"/>
            <a:ext cx="0" cy="823109"/>
          </a:xfrm>
          <a:prstGeom prst="line">
            <a:avLst/>
          </a:prstGeom>
          <a:ln>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238B231C-C3CB-908C-F1A4-A3D3A9F4F978}"/>
              </a:ext>
            </a:extLst>
          </p:cNvPr>
          <p:cNvSpPr/>
          <p:nvPr/>
        </p:nvSpPr>
        <p:spPr>
          <a:xfrm>
            <a:off x="4346263"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0" name="Rectangle 19">
            <a:extLst>
              <a:ext uri="{FF2B5EF4-FFF2-40B4-BE49-F238E27FC236}">
                <a16:creationId xmlns:a16="http://schemas.microsoft.com/office/drawing/2014/main" id="{AC2EE27D-1C40-CD2F-00B3-37D9EFF652CD}"/>
              </a:ext>
            </a:extLst>
          </p:cNvPr>
          <p:cNvSpPr/>
          <p:nvPr/>
        </p:nvSpPr>
        <p:spPr>
          <a:xfrm>
            <a:off x="5141933" y="5282617"/>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1" name="Rectangle 20">
            <a:extLst>
              <a:ext uri="{FF2B5EF4-FFF2-40B4-BE49-F238E27FC236}">
                <a16:creationId xmlns:a16="http://schemas.microsoft.com/office/drawing/2014/main" id="{15F3E3F7-108C-32A6-4F7B-37859522D8F3}"/>
              </a:ext>
            </a:extLst>
          </p:cNvPr>
          <p:cNvSpPr/>
          <p:nvPr/>
        </p:nvSpPr>
        <p:spPr>
          <a:xfrm>
            <a:off x="5926971"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2" name="Rectangle 21">
            <a:extLst>
              <a:ext uri="{FF2B5EF4-FFF2-40B4-BE49-F238E27FC236}">
                <a16:creationId xmlns:a16="http://schemas.microsoft.com/office/drawing/2014/main" id="{179B32F3-A445-D0AF-D698-91B4B8957680}"/>
              </a:ext>
            </a:extLst>
          </p:cNvPr>
          <p:cNvSpPr/>
          <p:nvPr/>
        </p:nvSpPr>
        <p:spPr>
          <a:xfrm>
            <a:off x="6717871" y="5281219"/>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cxnSp>
        <p:nvCxnSpPr>
          <p:cNvPr id="27" name="Straight Arrow Connector 26">
            <a:extLst>
              <a:ext uri="{FF2B5EF4-FFF2-40B4-BE49-F238E27FC236}">
                <a16:creationId xmlns:a16="http://schemas.microsoft.com/office/drawing/2014/main" id="{D26A21FE-E7C3-14B2-98D4-A73058A8CE72}"/>
              </a:ext>
            </a:extLst>
          </p:cNvPr>
          <p:cNvCxnSpPr>
            <a:cxnSpLocks/>
          </p:cNvCxnSpPr>
          <p:nvPr/>
        </p:nvCxnSpPr>
        <p:spPr>
          <a:xfrm>
            <a:off x="5340157" y="3335211"/>
            <a:ext cx="228601" cy="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A7F819FB-88B2-F7C0-6A32-42328600E97A}"/>
              </a:ext>
            </a:extLst>
          </p:cNvPr>
          <p:cNvCxnSpPr>
            <a:cxnSpLocks/>
          </p:cNvCxnSpPr>
          <p:nvPr/>
        </p:nvCxnSpPr>
        <p:spPr>
          <a:xfrm>
            <a:off x="6551244" y="3375807"/>
            <a:ext cx="502405" cy="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6C863AC1-8446-1B7B-55D7-0AEAE1161BAC}"/>
              </a:ext>
            </a:extLst>
          </p:cNvPr>
          <p:cNvSpPr txBox="1"/>
          <p:nvPr/>
        </p:nvSpPr>
        <p:spPr>
          <a:xfrm>
            <a:off x="5200595" y="1941248"/>
            <a:ext cx="269626" cy="276999"/>
          </a:xfrm>
          <a:prstGeom prst="rect">
            <a:avLst/>
          </a:prstGeom>
          <a:noFill/>
        </p:spPr>
        <p:txBody>
          <a:bodyPr wrap="none" rtlCol="0">
            <a:spAutoFit/>
          </a:bodyPr>
          <a:lstStyle/>
          <a:p>
            <a:r>
              <a:rPr lang="en-ES" sz="1200" b="1" dirty="0">
                <a:solidFill>
                  <a:schemeClr val="accent2">
                    <a:lumMod val="60000"/>
                    <a:lumOff val="40000"/>
                  </a:schemeClr>
                </a:solidFill>
              </a:rPr>
              <a:t>x</a:t>
            </a:r>
          </a:p>
        </p:txBody>
      </p:sp>
      <p:sp>
        <p:nvSpPr>
          <p:cNvPr id="35" name="TextBox 34">
            <a:extLst>
              <a:ext uri="{FF2B5EF4-FFF2-40B4-BE49-F238E27FC236}">
                <a16:creationId xmlns:a16="http://schemas.microsoft.com/office/drawing/2014/main" id="{7B6C1420-4F90-F7A5-5615-71A41BD5A0E5}"/>
              </a:ext>
            </a:extLst>
          </p:cNvPr>
          <p:cNvSpPr txBox="1"/>
          <p:nvPr/>
        </p:nvSpPr>
        <p:spPr>
          <a:xfrm>
            <a:off x="6415675" y="2359295"/>
            <a:ext cx="269626" cy="276999"/>
          </a:xfrm>
          <a:prstGeom prst="rect">
            <a:avLst/>
          </a:prstGeom>
          <a:noFill/>
        </p:spPr>
        <p:txBody>
          <a:bodyPr wrap="none" rtlCol="0">
            <a:spAutoFit/>
          </a:bodyPr>
          <a:lstStyle/>
          <a:p>
            <a:r>
              <a:rPr lang="en-ES" sz="1200" b="1" dirty="0">
                <a:solidFill>
                  <a:schemeClr val="accent2">
                    <a:lumMod val="60000"/>
                    <a:lumOff val="40000"/>
                  </a:schemeClr>
                </a:solidFill>
              </a:rPr>
              <a:t>x</a:t>
            </a:r>
          </a:p>
        </p:txBody>
      </p:sp>
      <p:sp>
        <p:nvSpPr>
          <p:cNvPr id="37" name="TextBox 36">
            <a:extLst>
              <a:ext uri="{FF2B5EF4-FFF2-40B4-BE49-F238E27FC236}">
                <a16:creationId xmlns:a16="http://schemas.microsoft.com/office/drawing/2014/main" id="{4F450A0B-C30E-D2F5-664D-B0313DB8FB93}"/>
              </a:ext>
            </a:extLst>
          </p:cNvPr>
          <p:cNvSpPr txBox="1"/>
          <p:nvPr/>
        </p:nvSpPr>
        <p:spPr>
          <a:xfrm>
            <a:off x="5429951" y="1960927"/>
            <a:ext cx="269626" cy="276999"/>
          </a:xfrm>
          <a:prstGeom prst="rect">
            <a:avLst/>
          </a:prstGeom>
          <a:noFill/>
        </p:spPr>
        <p:txBody>
          <a:bodyPr wrap="none" rtlCol="0">
            <a:spAutoFit/>
          </a:bodyPr>
          <a:lstStyle/>
          <a:p>
            <a:r>
              <a:rPr lang="en-ES" sz="1200" b="1" dirty="0">
                <a:solidFill>
                  <a:schemeClr val="accent1"/>
                </a:solidFill>
              </a:rPr>
              <a:t>x</a:t>
            </a:r>
          </a:p>
        </p:txBody>
      </p:sp>
      <p:sp>
        <p:nvSpPr>
          <p:cNvPr id="38" name="TextBox 37">
            <a:extLst>
              <a:ext uri="{FF2B5EF4-FFF2-40B4-BE49-F238E27FC236}">
                <a16:creationId xmlns:a16="http://schemas.microsoft.com/office/drawing/2014/main" id="{DD723EDB-4D73-9BDF-8F3E-3F4B4F36CBA7}"/>
              </a:ext>
            </a:extLst>
          </p:cNvPr>
          <p:cNvSpPr txBox="1"/>
          <p:nvPr/>
        </p:nvSpPr>
        <p:spPr>
          <a:xfrm>
            <a:off x="6918835" y="2434766"/>
            <a:ext cx="269626" cy="276999"/>
          </a:xfrm>
          <a:prstGeom prst="rect">
            <a:avLst/>
          </a:prstGeom>
          <a:noFill/>
        </p:spPr>
        <p:txBody>
          <a:bodyPr wrap="none" rtlCol="0">
            <a:spAutoFit/>
          </a:bodyPr>
          <a:lstStyle/>
          <a:p>
            <a:r>
              <a:rPr lang="en-ES" sz="1200" b="1" dirty="0">
                <a:solidFill>
                  <a:schemeClr val="accent1"/>
                </a:solidFill>
              </a:rPr>
              <a:t>x</a:t>
            </a:r>
          </a:p>
        </p:txBody>
      </p:sp>
      <p:sp>
        <p:nvSpPr>
          <p:cNvPr id="40" name="TextBox 39">
            <a:extLst>
              <a:ext uri="{FF2B5EF4-FFF2-40B4-BE49-F238E27FC236}">
                <a16:creationId xmlns:a16="http://schemas.microsoft.com/office/drawing/2014/main" id="{77A35872-1AA3-796A-1C54-11AE0AAE4DF1}"/>
              </a:ext>
            </a:extLst>
          </p:cNvPr>
          <p:cNvSpPr txBox="1"/>
          <p:nvPr/>
        </p:nvSpPr>
        <p:spPr>
          <a:xfrm>
            <a:off x="5195410" y="3365044"/>
            <a:ext cx="502404" cy="276999"/>
          </a:xfrm>
          <a:prstGeom prst="rect">
            <a:avLst/>
          </a:prstGeom>
          <a:noFill/>
        </p:spPr>
        <p:txBody>
          <a:bodyPr wrap="square">
            <a:spAutoFit/>
          </a:bodyPr>
          <a:lstStyle/>
          <a:p>
            <a:pPr algn="ctr"/>
            <a:r>
              <a:rPr lang="en-ES" sz="1200" dirty="0"/>
              <a:t>-32</a:t>
            </a:r>
          </a:p>
        </p:txBody>
      </p:sp>
      <p:sp>
        <p:nvSpPr>
          <p:cNvPr id="41" name="TextBox 40">
            <a:extLst>
              <a:ext uri="{FF2B5EF4-FFF2-40B4-BE49-F238E27FC236}">
                <a16:creationId xmlns:a16="http://schemas.microsoft.com/office/drawing/2014/main" id="{D4539DEB-1D94-C467-D11A-C1DE0E483147}"/>
              </a:ext>
            </a:extLst>
          </p:cNvPr>
          <p:cNvSpPr txBox="1"/>
          <p:nvPr/>
        </p:nvSpPr>
        <p:spPr>
          <a:xfrm>
            <a:off x="6541768" y="3397969"/>
            <a:ext cx="502404" cy="276999"/>
          </a:xfrm>
          <a:prstGeom prst="rect">
            <a:avLst/>
          </a:prstGeom>
          <a:noFill/>
        </p:spPr>
        <p:txBody>
          <a:bodyPr wrap="square">
            <a:spAutoFit/>
          </a:bodyPr>
          <a:lstStyle/>
          <a:p>
            <a:pPr algn="ctr"/>
            <a:r>
              <a:rPr lang="en-ES" sz="1200" dirty="0"/>
              <a:t>-67</a:t>
            </a:r>
          </a:p>
        </p:txBody>
      </p:sp>
      <p:cxnSp>
        <p:nvCxnSpPr>
          <p:cNvPr id="3" name="Straight Connector 2">
            <a:extLst>
              <a:ext uri="{FF2B5EF4-FFF2-40B4-BE49-F238E27FC236}">
                <a16:creationId xmlns:a16="http://schemas.microsoft.com/office/drawing/2014/main" id="{F06E2AA7-749E-7C74-3312-51E19CFF83C6}"/>
              </a:ext>
            </a:extLst>
          </p:cNvPr>
          <p:cNvCxnSpPr>
            <a:cxnSpLocks/>
          </p:cNvCxnSpPr>
          <p:nvPr/>
        </p:nvCxnSpPr>
        <p:spPr>
          <a:xfrm flipV="1">
            <a:off x="4461041" y="1847819"/>
            <a:ext cx="0" cy="1173892"/>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55405F3-60ED-0B49-65A2-20B2A5756932}"/>
              </a:ext>
            </a:extLst>
          </p:cNvPr>
          <p:cNvCxnSpPr>
            <a:cxnSpLocks/>
          </p:cNvCxnSpPr>
          <p:nvPr/>
        </p:nvCxnSpPr>
        <p:spPr>
          <a:xfrm flipV="1">
            <a:off x="4461041" y="1847819"/>
            <a:ext cx="0" cy="1173892"/>
          </a:xfrm>
          <a:prstGeom prst="line">
            <a:avLst/>
          </a:prstGeom>
          <a:ln>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E40F67E-4ABA-D7A3-692A-0FB49105EA9E}"/>
              </a:ext>
            </a:extLst>
          </p:cNvPr>
          <p:cNvSpPr txBox="1"/>
          <p:nvPr/>
        </p:nvSpPr>
        <p:spPr>
          <a:xfrm>
            <a:off x="4220304" y="3044518"/>
            <a:ext cx="502404" cy="276999"/>
          </a:xfrm>
          <a:prstGeom prst="rect">
            <a:avLst/>
          </a:prstGeom>
          <a:noFill/>
        </p:spPr>
        <p:txBody>
          <a:bodyPr wrap="square">
            <a:spAutoFit/>
          </a:bodyPr>
          <a:lstStyle/>
          <a:p>
            <a:pPr algn="ctr"/>
            <a:r>
              <a:rPr lang="en-ES" sz="1200" dirty="0"/>
              <a:t>0</a:t>
            </a:r>
          </a:p>
        </p:txBody>
      </p:sp>
    </p:spTree>
    <p:extLst>
      <p:ext uri="{BB962C8B-B14F-4D97-AF65-F5344CB8AC3E}">
        <p14:creationId xmlns:p14="http://schemas.microsoft.com/office/powerpoint/2010/main" val="2186184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7871A-3756-7286-455F-705D460FF001}"/>
              </a:ext>
            </a:extLst>
          </p:cNvPr>
          <p:cNvSpPr>
            <a:spLocks noGrp="1"/>
          </p:cNvSpPr>
          <p:nvPr>
            <p:ph type="title"/>
          </p:nvPr>
        </p:nvSpPr>
        <p:spPr/>
        <p:txBody>
          <a:bodyPr/>
          <a:lstStyle/>
          <a:p>
            <a:endParaRPr lang="en-ES" dirty="0"/>
          </a:p>
        </p:txBody>
      </p:sp>
      <p:sp>
        <p:nvSpPr>
          <p:cNvPr id="8" name="Rectangle 7">
            <a:extLst>
              <a:ext uri="{FF2B5EF4-FFF2-40B4-BE49-F238E27FC236}">
                <a16:creationId xmlns:a16="http://schemas.microsoft.com/office/drawing/2014/main" id="{8252CAFE-5534-D132-4282-FA7848D1F715}"/>
              </a:ext>
            </a:extLst>
          </p:cNvPr>
          <p:cNvSpPr/>
          <p:nvPr/>
        </p:nvSpPr>
        <p:spPr>
          <a:xfrm>
            <a:off x="9521196" y="747078"/>
            <a:ext cx="1189736" cy="7433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pic>
        <p:nvPicPr>
          <p:cNvPr id="3" name="Picture 2">
            <a:extLst>
              <a:ext uri="{FF2B5EF4-FFF2-40B4-BE49-F238E27FC236}">
                <a16:creationId xmlns:a16="http://schemas.microsoft.com/office/drawing/2014/main" id="{9C815392-67D0-592D-9431-16E75866B7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1333"/>
          <a:stretch>
            <a:fillRect/>
          </a:stretch>
        </p:blipFill>
        <p:spPr bwMode="auto">
          <a:xfrm>
            <a:off x="1524000" y="161925"/>
            <a:ext cx="9144000" cy="31799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983DCD7-1ADB-D16D-C3C6-50B82FEC0C7B}"/>
              </a:ext>
            </a:extLst>
          </p:cNvPr>
          <p:cNvSpPr/>
          <p:nvPr/>
        </p:nvSpPr>
        <p:spPr>
          <a:xfrm>
            <a:off x="6727181" y="543804"/>
            <a:ext cx="3645257" cy="25041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sp>
        <p:nvSpPr>
          <p:cNvPr id="11" name="TextBox 10">
            <a:extLst>
              <a:ext uri="{FF2B5EF4-FFF2-40B4-BE49-F238E27FC236}">
                <a16:creationId xmlns:a16="http://schemas.microsoft.com/office/drawing/2014/main" id="{D28A55D8-D9D2-91E6-EAB9-3C2E6A4B90E8}"/>
              </a:ext>
            </a:extLst>
          </p:cNvPr>
          <p:cNvSpPr txBox="1"/>
          <p:nvPr/>
        </p:nvSpPr>
        <p:spPr>
          <a:xfrm>
            <a:off x="4288241" y="661472"/>
            <a:ext cx="1931581" cy="369332"/>
          </a:xfrm>
          <a:prstGeom prst="rect">
            <a:avLst/>
          </a:prstGeom>
          <a:noFill/>
        </p:spPr>
        <p:txBody>
          <a:bodyPr wrap="square">
            <a:spAutoFit/>
          </a:bodyPr>
          <a:lstStyle/>
          <a:p>
            <a:pPr algn="ctr"/>
            <a:r>
              <a:rPr lang="es-ES" dirty="0"/>
              <a:t>52</a:t>
            </a:r>
            <a:r>
              <a:rPr lang="es-ES" baseline="30000" dirty="0"/>
              <a:t>nd</a:t>
            </a:r>
            <a:r>
              <a:rPr lang="es-ES" dirty="0"/>
              <a:t> – 95</a:t>
            </a:r>
            <a:r>
              <a:rPr lang="es-ES" baseline="30000" dirty="0"/>
              <a:t>th</a:t>
            </a:r>
            <a:r>
              <a:rPr lang="es-ES" dirty="0"/>
              <a:t> </a:t>
            </a:r>
            <a:endParaRPr lang="en-ES" dirty="0"/>
          </a:p>
        </p:txBody>
      </p:sp>
      <p:sp>
        <p:nvSpPr>
          <p:cNvPr id="12" name="Rectangle 11">
            <a:extLst>
              <a:ext uri="{FF2B5EF4-FFF2-40B4-BE49-F238E27FC236}">
                <a16:creationId xmlns:a16="http://schemas.microsoft.com/office/drawing/2014/main" id="{C535BDDF-5DD3-68DA-9CC3-0D5A1BE9377B}"/>
              </a:ext>
            </a:extLst>
          </p:cNvPr>
          <p:cNvSpPr/>
          <p:nvPr/>
        </p:nvSpPr>
        <p:spPr>
          <a:xfrm>
            <a:off x="2500263" y="543804"/>
            <a:ext cx="3608616" cy="25041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sp>
        <p:nvSpPr>
          <p:cNvPr id="13" name="TextBox 12">
            <a:extLst>
              <a:ext uri="{FF2B5EF4-FFF2-40B4-BE49-F238E27FC236}">
                <a16:creationId xmlns:a16="http://schemas.microsoft.com/office/drawing/2014/main" id="{F7474EB9-E667-ED48-5784-D190E69874A0}"/>
              </a:ext>
            </a:extLst>
          </p:cNvPr>
          <p:cNvSpPr txBox="1"/>
          <p:nvPr/>
        </p:nvSpPr>
        <p:spPr>
          <a:xfrm>
            <a:off x="2954779" y="4244550"/>
            <a:ext cx="6530086" cy="369332"/>
          </a:xfrm>
          <a:prstGeom prst="rect">
            <a:avLst/>
          </a:prstGeom>
          <a:noFill/>
        </p:spPr>
        <p:txBody>
          <a:bodyPr wrap="square">
            <a:spAutoFit/>
          </a:bodyPr>
          <a:lstStyle/>
          <a:p>
            <a:r>
              <a:rPr lang="en-GB" i="1" dirty="0">
                <a:latin typeface="Bookman Old Style" panose="02050604050505020204" pitchFamily="18" charset="0"/>
              </a:rPr>
              <a:t>p</a:t>
            </a:r>
            <a:r>
              <a:rPr lang="en-ES" i="1" dirty="0">
                <a:latin typeface="Bookman Old Style" panose="02050604050505020204" pitchFamily="18" charset="0"/>
              </a:rPr>
              <a:t>osition = a * step + b * original + </a:t>
            </a:r>
            <a:r>
              <a:rPr lang="en-ES" b="1" i="1" dirty="0">
                <a:latin typeface="Bookman Old Style" panose="02050604050505020204" pitchFamily="18" charset="0"/>
              </a:rPr>
              <a:t>c * step * original</a:t>
            </a:r>
          </a:p>
        </p:txBody>
      </p:sp>
    </p:spTree>
    <p:extLst>
      <p:ext uri="{BB962C8B-B14F-4D97-AF65-F5344CB8AC3E}">
        <p14:creationId xmlns:p14="http://schemas.microsoft.com/office/powerpoint/2010/main" val="128795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8B918-75CD-64FA-8CD0-B91E9A69D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2B2AE-26B2-103F-0A0E-FD67DCE4EC04}"/>
              </a:ext>
            </a:extLst>
          </p:cNvPr>
          <p:cNvSpPr>
            <a:spLocks noGrp="1"/>
          </p:cNvSpPr>
          <p:nvPr>
            <p:ph type="title"/>
          </p:nvPr>
        </p:nvSpPr>
        <p:spPr/>
        <p:txBody>
          <a:bodyPr/>
          <a:lstStyle/>
          <a:p>
            <a:endParaRPr lang="en-ES" dirty="0"/>
          </a:p>
        </p:txBody>
      </p:sp>
      <p:sp>
        <p:nvSpPr>
          <p:cNvPr id="6" name="TextBox 5">
            <a:extLst>
              <a:ext uri="{FF2B5EF4-FFF2-40B4-BE49-F238E27FC236}">
                <a16:creationId xmlns:a16="http://schemas.microsoft.com/office/drawing/2014/main" id="{9F9E1A6D-A43E-C65F-F5F8-D20DFEBDD5B6}"/>
              </a:ext>
            </a:extLst>
          </p:cNvPr>
          <p:cNvSpPr txBox="1"/>
          <p:nvPr/>
        </p:nvSpPr>
        <p:spPr>
          <a:xfrm>
            <a:off x="2954779" y="4244550"/>
            <a:ext cx="6530086" cy="369332"/>
          </a:xfrm>
          <a:prstGeom prst="rect">
            <a:avLst/>
          </a:prstGeom>
          <a:noFill/>
        </p:spPr>
        <p:txBody>
          <a:bodyPr wrap="square">
            <a:spAutoFit/>
          </a:bodyPr>
          <a:lstStyle/>
          <a:p>
            <a:r>
              <a:rPr lang="en-GB" i="1" dirty="0">
                <a:latin typeface="Bookman Old Style" panose="02050604050505020204" pitchFamily="18" charset="0"/>
              </a:rPr>
              <a:t>p</a:t>
            </a:r>
            <a:r>
              <a:rPr lang="en-ES" i="1" dirty="0">
                <a:latin typeface="Bookman Old Style" panose="02050604050505020204" pitchFamily="18" charset="0"/>
              </a:rPr>
              <a:t>osition = a * step + b * original + </a:t>
            </a:r>
            <a:r>
              <a:rPr lang="en-ES" b="1" i="1" dirty="0">
                <a:solidFill>
                  <a:srgbClr val="C26D7E"/>
                </a:solidFill>
                <a:latin typeface="Bookman Old Style" panose="02050604050505020204" pitchFamily="18" charset="0"/>
              </a:rPr>
              <a:t>c * step * original</a:t>
            </a:r>
          </a:p>
        </p:txBody>
      </p:sp>
      <p:sp>
        <p:nvSpPr>
          <p:cNvPr id="8" name="Rectangle 7">
            <a:extLst>
              <a:ext uri="{FF2B5EF4-FFF2-40B4-BE49-F238E27FC236}">
                <a16:creationId xmlns:a16="http://schemas.microsoft.com/office/drawing/2014/main" id="{8A620A86-458B-09D5-85F2-D4B3C17BD1D1}"/>
              </a:ext>
            </a:extLst>
          </p:cNvPr>
          <p:cNvSpPr/>
          <p:nvPr/>
        </p:nvSpPr>
        <p:spPr>
          <a:xfrm>
            <a:off x="9521196" y="747078"/>
            <a:ext cx="1189736" cy="7433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pic>
        <p:nvPicPr>
          <p:cNvPr id="3" name="Picture 2">
            <a:extLst>
              <a:ext uri="{FF2B5EF4-FFF2-40B4-BE49-F238E27FC236}">
                <a16:creationId xmlns:a16="http://schemas.microsoft.com/office/drawing/2014/main" id="{FD15F8EE-DC6F-EC3B-AD08-1E13BF45F9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1333"/>
          <a:stretch>
            <a:fillRect/>
          </a:stretch>
        </p:blipFill>
        <p:spPr bwMode="auto">
          <a:xfrm>
            <a:off x="1524000" y="161925"/>
            <a:ext cx="9144000" cy="31799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2FC4A14-C163-F583-DFD0-3C6004E0D95E}"/>
              </a:ext>
            </a:extLst>
          </p:cNvPr>
          <p:cNvSpPr/>
          <p:nvPr/>
        </p:nvSpPr>
        <p:spPr>
          <a:xfrm>
            <a:off x="6727181" y="543804"/>
            <a:ext cx="3645257" cy="25041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sp>
        <p:nvSpPr>
          <p:cNvPr id="11" name="TextBox 10">
            <a:extLst>
              <a:ext uri="{FF2B5EF4-FFF2-40B4-BE49-F238E27FC236}">
                <a16:creationId xmlns:a16="http://schemas.microsoft.com/office/drawing/2014/main" id="{AF9E8FFF-A9DD-AB8A-A6EF-B7F362EC7281}"/>
              </a:ext>
            </a:extLst>
          </p:cNvPr>
          <p:cNvSpPr txBox="1"/>
          <p:nvPr/>
        </p:nvSpPr>
        <p:spPr>
          <a:xfrm>
            <a:off x="4288241" y="661472"/>
            <a:ext cx="1931581" cy="369332"/>
          </a:xfrm>
          <a:prstGeom prst="rect">
            <a:avLst/>
          </a:prstGeom>
          <a:noFill/>
        </p:spPr>
        <p:txBody>
          <a:bodyPr wrap="square">
            <a:spAutoFit/>
          </a:bodyPr>
          <a:lstStyle/>
          <a:p>
            <a:pPr algn="ctr"/>
            <a:r>
              <a:rPr lang="es-ES" dirty="0">
                <a:latin typeface="Bookman Old Style" panose="02050604050505020204" pitchFamily="18" charset="0"/>
              </a:rPr>
              <a:t>52</a:t>
            </a:r>
            <a:r>
              <a:rPr lang="es-ES" baseline="30000" dirty="0">
                <a:latin typeface="Bookman Old Style" panose="02050604050505020204" pitchFamily="18" charset="0"/>
              </a:rPr>
              <a:t>nd</a:t>
            </a:r>
            <a:r>
              <a:rPr lang="es-ES" dirty="0">
                <a:latin typeface="Bookman Old Style" panose="02050604050505020204" pitchFamily="18" charset="0"/>
              </a:rPr>
              <a:t> – 95</a:t>
            </a:r>
            <a:r>
              <a:rPr lang="es-ES" baseline="30000" dirty="0">
                <a:latin typeface="Bookman Old Style" panose="02050604050505020204" pitchFamily="18" charset="0"/>
              </a:rPr>
              <a:t>th</a:t>
            </a:r>
            <a:r>
              <a:rPr lang="es-ES" dirty="0">
                <a:latin typeface="Bookman Old Style" panose="02050604050505020204" pitchFamily="18" charset="0"/>
              </a:rPr>
              <a:t> </a:t>
            </a:r>
            <a:endParaRPr lang="en-ES" dirty="0">
              <a:latin typeface="Bookman Old Style" panose="02050604050505020204" pitchFamily="18" charset="0"/>
            </a:endParaRPr>
          </a:p>
        </p:txBody>
      </p:sp>
      <p:sp>
        <p:nvSpPr>
          <p:cNvPr id="4" name="TextBox 3">
            <a:extLst>
              <a:ext uri="{FF2B5EF4-FFF2-40B4-BE49-F238E27FC236}">
                <a16:creationId xmlns:a16="http://schemas.microsoft.com/office/drawing/2014/main" id="{FC47A5B1-DF06-5466-D6DC-FB1EFFC0438B}"/>
              </a:ext>
            </a:extLst>
          </p:cNvPr>
          <p:cNvSpPr txBox="1"/>
          <p:nvPr/>
        </p:nvSpPr>
        <p:spPr>
          <a:xfrm>
            <a:off x="1524000" y="4936700"/>
            <a:ext cx="9144000" cy="369332"/>
          </a:xfrm>
          <a:prstGeom prst="rect">
            <a:avLst/>
          </a:prstGeom>
          <a:noFill/>
        </p:spPr>
        <p:txBody>
          <a:bodyPr wrap="square">
            <a:spAutoFit/>
          </a:bodyPr>
          <a:lstStyle/>
          <a:p>
            <a:r>
              <a:rPr lang="en-GB" i="1" dirty="0">
                <a:latin typeface="Bookman Old Style" panose="02050604050505020204" pitchFamily="18" charset="0"/>
              </a:rPr>
              <a:t>p</a:t>
            </a:r>
            <a:r>
              <a:rPr lang="en-ES" i="1" dirty="0">
                <a:latin typeface="Bookman Old Style" panose="02050604050505020204" pitchFamily="18" charset="0"/>
              </a:rPr>
              <a:t>osition = a * step + b * popularity-opposite + </a:t>
            </a:r>
            <a:r>
              <a:rPr lang="en-ES" b="1" i="1" dirty="0">
                <a:latin typeface="Bookman Old Style" panose="02050604050505020204" pitchFamily="18" charset="0"/>
              </a:rPr>
              <a:t>c * step * popularity-opposite</a:t>
            </a:r>
          </a:p>
        </p:txBody>
      </p:sp>
    </p:spTree>
    <p:extLst>
      <p:ext uri="{BB962C8B-B14F-4D97-AF65-F5344CB8AC3E}">
        <p14:creationId xmlns:p14="http://schemas.microsoft.com/office/powerpoint/2010/main" val="2227742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0429A-1D92-0627-72F4-9F2FDCFFA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FE7F2-3373-BDD0-CFED-8CF1F4DBA361}"/>
              </a:ext>
            </a:extLst>
          </p:cNvPr>
          <p:cNvSpPr>
            <a:spLocks noGrp="1"/>
          </p:cNvSpPr>
          <p:nvPr>
            <p:ph type="title"/>
          </p:nvPr>
        </p:nvSpPr>
        <p:spPr/>
        <p:txBody>
          <a:bodyPr/>
          <a:lstStyle/>
          <a:p>
            <a:endParaRPr lang="en-ES" dirty="0"/>
          </a:p>
        </p:txBody>
      </p:sp>
      <p:sp>
        <p:nvSpPr>
          <p:cNvPr id="6" name="TextBox 5">
            <a:extLst>
              <a:ext uri="{FF2B5EF4-FFF2-40B4-BE49-F238E27FC236}">
                <a16:creationId xmlns:a16="http://schemas.microsoft.com/office/drawing/2014/main" id="{E4C7225F-8C1F-4F41-BBBF-4FF38164D924}"/>
              </a:ext>
            </a:extLst>
          </p:cNvPr>
          <p:cNvSpPr txBox="1"/>
          <p:nvPr/>
        </p:nvSpPr>
        <p:spPr>
          <a:xfrm>
            <a:off x="2954779" y="4244550"/>
            <a:ext cx="6530086" cy="369332"/>
          </a:xfrm>
          <a:prstGeom prst="rect">
            <a:avLst/>
          </a:prstGeom>
          <a:noFill/>
        </p:spPr>
        <p:txBody>
          <a:bodyPr wrap="square">
            <a:spAutoFit/>
          </a:bodyPr>
          <a:lstStyle/>
          <a:p>
            <a:r>
              <a:rPr lang="en-GB" i="1" dirty="0">
                <a:latin typeface="Bookman Old Style" panose="02050604050505020204" pitchFamily="18" charset="0"/>
              </a:rPr>
              <a:t>p</a:t>
            </a:r>
            <a:r>
              <a:rPr lang="en-ES" i="1" dirty="0">
                <a:latin typeface="Bookman Old Style" panose="02050604050505020204" pitchFamily="18" charset="0"/>
              </a:rPr>
              <a:t>osition = a * step + b * original + </a:t>
            </a:r>
            <a:r>
              <a:rPr lang="en-ES" b="1" i="1" dirty="0">
                <a:solidFill>
                  <a:srgbClr val="C26D7E"/>
                </a:solidFill>
                <a:latin typeface="Bookman Old Style" panose="02050604050505020204" pitchFamily="18" charset="0"/>
              </a:rPr>
              <a:t>c * step * original</a:t>
            </a:r>
          </a:p>
        </p:txBody>
      </p:sp>
      <p:sp>
        <p:nvSpPr>
          <p:cNvPr id="8" name="Rectangle 7">
            <a:extLst>
              <a:ext uri="{FF2B5EF4-FFF2-40B4-BE49-F238E27FC236}">
                <a16:creationId xmlns:a16="http://schemas.microsoft.com/office/drawing/2014/main" id="{E9A176A3-9805-7CCD-47E2-BBE897879ECF}"/>
              </a:ext>
            </a:extLst>
          </p:cNvPr>
          <p:cNvSpPr/>
          <p:nvPr/>
        </p:nvSpPr>
        <p:spPr>
          <a:xfrm>
            <a:off x="9521196" y="747078"/>
            <a:ext cx="1189736" cy="7433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pic>
        <p:nvPicPr>
          <p:cNvPr id="3" name="Picture 2">
            <a:extLst>
              <a:ext uri="{FF2B5EF4-FFF2-40B4-BE49-F238E27FC236}">
                <a16:creationId xmlns:a16="http://schemas.microsoft.com/office/drawing/2014/main" id="{76B22E51-944A-BA1A-2D00-6F84B74A0C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1333"/>
          <a:stretch>
            <a:fillRect/>
          </a:stretch>
        </p:blipFill>
        <p:spPr bwMode="auto">
          <a:xfrm>
            <a:off x="1524000" y="161925"/>
            <a:ext cx="9144000" cy="31799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45DC9C2-7801-2FD2-B0A7-0AF4E6B4B8C7}"/>
              </a:ext>
            </a:extLst>
          </p:cNvPr>
          <p:cNvSpPr txBox="1"/>
          <p:nvPr/>
        </p:nvSpPr>
        <p:spPr>
          <a:xfrm>
            <a:off x="4288241" y="661472"/>
            <a:ext cx="1931581" cy="369332"/>
          </a:xfrm>
          <a:prstGeom prst="rect">
            <a:avLst/>
          </a:prstGeom>
          <a:noFill/>
        </p:spPr>
        <p:txBody>
          <a:bodyPr wrap="square">
            <a:spAutoFit/>
          </a:bodyPr>
          <a:lstStyle/>
          <a:p>
            <a:pPr algn="ctr"/>
            <a:r>
              <a:rPr lang="es-ES" dirty="0">
                <a:latin typeface="Bookman Old Style" panose="02050604050505020204" pitchFamily="18" charset="0"/>
              </a:rPr>
              <a:t>52</a:t>
            </a:r>
            <a:r>
              <a:rPr lang="es-ES" baseline="30000" dirty="0">
                <a:latin typeface="Bookman Old Style" panose="02050604050505020204" pitchFamily="18" charset="0"/>
              </a:rPr>
              <a:t>nd</a:t>
            </a:r>
            <a:r>
              <a:rPr lang="es-ES" dirty="0">
                <a:latin typeface="Bookman Old Style" panose="02050604050505020204" pitchFamily="18" charset="0"/>
              </a:rPr>
              <a:t> – 95</a:t>
            </a:r>
            <a:r>
              <a:rPr lang="es-ES" baseline="30000" dirty="0">
                <a:latin typeface="Bookman Old Style" panose="02050604050505020204" pitchFamily="18" charset="0"/>
              </a:rPr>
              <a:t>th</a:t>
            </a:r>
            <a:r>
              <a:rPr lang="es-ES" dirty="0">
                <a:latin typeface="Bookman Old Style" panose="02050604050505020204" pitchFamily="18" charset="0"/>
              </a:rPr>
              <a:t> </a:t>
            </a:r>
            <a:endParaRPr lang="en-ES" dirty="0">
              <a:latin typeface="Bookman Old Style" panose="02050604050505020204" pitchFamily="18" charset="0"/>
            </a:endParaRPr>
          </a:p>
        </p:txBody>
      </p:sp>
      <p:sp>
        <p:nvSpPr>
          <p:cNvPr id="4" name="TextBox 3">
            <a:extLst>
              <a:ext uri="{FF2B5EF4-FFF2-40B4-BE49-F238E27FC236}">
                <a16:creationId xmlns:a16="http://schemas.microsoft.com/office/drawing/2014/main" id="{DFFD53FF-BE75-1D8C-07BF-3EDFBF23399A}"/>
              </a:ext>
            </a:extLst>
          </p:cNvPr>
          <p:cNvSpPr txBox="1"/>
          <p:nvPr/>
        </p:nvSpPr>
        <p:spPr>
          <a:xfrm>
            <a:off x="1524000" y="4936700"/>
            <a:ext cx="9144000" cy="369332"/>
          </a:xfrm>
          <a:prstGeom prst="rect">
            <a:avLst/>
          </a:prstGeom>
          <a:noFill/>
        </p:spPr>
        <p:txBody>
          <a:bodyPr wrap="square">
            <a:spAutoFit/>
          </a:bodyPr>
          <a:lstStyle/>
          <a:p>
            <a:r>
              <a:rPr lang="en-GB" i="1" dirty="0">
                <a:latin typeface="Bookman Old Style" panose="02050604050505020204" pitchFamily="18" charset="0"/>
              </a:rPr>
              <a:t>p</a:t>
            </a:r>
            <a:r>
              <a:rPr lang="en-ES" i="1" dirty="0">
                <a:latin typeface="Bookman Old Style" panose="02050604050505020204" pitchFamily="18" charset="0"/>
              </a:rPr>
              <a:t>osition = a * step + b * popularity-opposite + </a:t>
            </a:r>
            <a:r>
              <a:rPr lang="en-ES" b="1" i="1" dirty="0">
                <a:latin typeface="Bookman Old Style" panose="02050604050505020204" pitchFamily="18" charset="0"/>
              </a:rPr>
              <a:t>c * step * popularity-opposite</a:t>
            </a:r>
          </a:p>
        </p:txBody>
      </p:sp>
      <p:sp>
        <p:nvSpPr>
          <p:cNvPr id="7" name="TextBox 6">
            <a:extLst>
              <a:ext uri="{FF2B5EF4-FFF2-40B4-BE49-F238E27FC236}">
                <a16:creationId xmlns:a16="http://schemas.microsoft.com/office/drawing/2014/main" id="{9ADBEA51-282E-6519-65E3-E0750D4992B1}"/>
              </a:ext>
            </a:extLst>
          </p:cNvPr>
          <p:cNvSpPr txBox="1"/>
          <p:nvPr/>
        </p:nvSpPr>
        <p:spPr>
          <a:xfrm>
            <a:off x="8279220" y="661472"/>
            <a:ext cx="1931581" cy="369332"/>
          </a:xfrm>
          <a:prstGeom prst="rect">
            <a:avLst/>
          </a:prstGeom>
          <a:noFill/>
        </p:spPr>
        <p:txBody>
          <a:bodyPr wrap="square">
            <a:spAutoFit/>
          </a:bodyPr>
          <a:lstStyle/>
          <a:p>
            <a:pPr algn="ctr"/>
            <a:r>
              <a:rPr lang="es-ES" dirty="0">
                <a:latin typeface="Bookman Old Style" panose="02050604050505020204" pitchFamily="18" charset="0"/>
              </a:rPr>
              <a:t>43</a:t>
            </a:r>
            <a:r>
              <a:rPr lang="es-ES" baseline="30000" dirty="0">
                <a:latin typeface="Bookman Old Style" panose="02050604050505020204" pitchFamily="18" charset="0"/>
              </a:rPr>
              <a:t>rd</a:t>
            </a:r>
            <a:r>
              <a:rPr lang="es-ES" dirty="0">
                <a:latin typeface="Bookman Old Style" panose="02050604050505020204" pitchFamily="18" charset="0"/>
              </a:rPr>
              <a:t> – 95</a:t>
            </a:r>
            <a:r>
              <a:rPr lang="es-ES" baseline="30000" dirty="0">
                <a:latin typeface="Bookman Old Style" panose="02050604050505020204" pitchFamily="18" charset="0"/>
              </a:rPr>
              <a:t>th</a:t>
            </a:r>
            <a:r>
              <a:rPr lang="es-ES" dirty="0">
                <a:latin typeface="Bookman Old Style" panose="02050604050505020204" pitchFamily="18" charset="0"/>
              </a:rPr>
              <a:t> </a:t>
            </a:r>
            <a:endParaRPr lang="en-ES" dirty="0">
              <a:latin typeface="Bookman Old Style" panose="02050604050505020204" pitchFamily="18" charset="0"/>
            </a:endParaRPr>
          </a:p>
        </p:txBody>
      </p:sp>
    </p:spTree>
    <p:extLst>
      <p:ext uri="{BB962C8B-B14F-4D97-AF65-F5344CB8AC3E}">
        <p14:creationId xmlns:p14="http://schemas.microsoft.com/office/powerpoint/2010/main" val="1391480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5CB2C-D8D5-6AD8-4497-FBB8744BB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F99CD-6D6E-1D77-0494-6F6ED09C00FC}"/>
              </a:ext>
            </a:extLst>
          </p:cNvPr>
          <p:cNvSpPr>
            <a:spLocks noGrp="1"/>
          </p:cNvSpPr>
          <p:nvPr>
            <p:ph type="title"/>
          </p:nvPr>
        </p:nvSpPr>
        <p:spPr/>
        <p:txBody>
          <a:bodyPr/>
          <a:lstStyle/>
          <a:p>
            <a:endParaRPr lang="en-ES" dirty="0"/>
          </a:p>
        </p:txBody>
      </p:sp>
      <p:sp>
        <p:nvSpPr>
          <p:cNvPr id="6" name="TextBox 5">
            <a:extLst>
              <a:ext uri="{FF2B5EF4-FFF2-40B4-BE49-F238E27FC236}">
                <a16:creationId xmlns:a16="http://schemas.microsoft.com/office/drawing/2014/main" id="{5C12DFF3-E708-739B-8E56-C11CEF1F0D53}"/>
              </a:ext>
            </a:extLst>
          </p:cNvPr>
          <p:cNvSpPr txBox="1"/>
          <p:nvPr/>
        </p:nvSpPr>
        <p:spPr>
          <a:xfrm>
            <a:off x="3408699" y="6015474"/>
            <a:ext cx="6530086" cy="369332"/>
          </a:xfrm>
          <a:prstGeom prst="rect">
            <a:avLst/>
          </a:prstGeom>
          <a:noFill/>
        </p:spPr>
        <p:txBody>
          <a:bodyPr wrap="square">
            <a:spAutoFit/>
          </a:bodyPr>
          <a:lstStyle/>
          <a:p>
            <a:r>
              <a:rPr lang="en-GB" i="1" dirty="0">
                <a:latin typeface="Bookman Old Style" panose="02050604050505020204" pitchFamily="18" charset="0"/>
              </a:rPr>
              <a:t>p</a:t>
            </a:r>
            <a:r>
              <a:rPr lang="en-ES" i="1" dirty="0">
                <a:latin typeface="Bookman Old Style" panose="02050604050505020204" pitchFamily="18" charset="0"/>
              </a:rPr>
              <a:t>osition = a * step + b * original + </a:t>
            </a:r>
            <a:r>
              <a:rPr lang="en-ES" b="1" i="1" dirty="0">
                <a:latin typeface="Bookman Old Style" panose="02050604050505020204" pitchFamily="18" charset="0"/>
              </a:rPr>
              <a:t>c * step * original</a:t>
            </a:r>
          </a:p>
        </p:txBody>
      </p:sp>
      <p:sp>
        <p:nvSpPr>
          <p:cNvPr id="8" name="Rectangle 7">
            <a:extLst>
              <a:ext uri="{FF2B5EF4-FFF2-40B4-BE49-F238E27FC236}">
                <a16:creationId xmlns:a16="http://schemas.microsoft.com/office/drawing/2014/main" id="{6E40D502-66F9-5E9A-86D7-7AAEEAE91A66}"/>
              </a:ext>
            </a:extLst>
          </p:cNvPr>
          <p:cNvSpPr/>
          <p:nvPr/>
        </p:nvSpPr>
        <p:spPr>
          <a:xfrm>
            <a:off x="9521196" y="747078"/>
            <a:ext cx="1189736" cy="7433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pic>
        <p:nvPicPr>
          <p:cNvPr id="3" name="Picture 2">
            <a:extLst>
              <a:ext uri="{FF2B5EF4-FFF2-40B4-BE49-F238E27FC236}">
                <a16:creationId xmlns:a16="http://schemas.microsoft.com/office/drawing/2014/main" id="{776FA5E1-5DBA-9E81-8400-B124A49DFA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1925"/>
            <a:ext cx="9144000" cy="65341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64456A1-A293-6CB6-81F2-96134A294F01}"/>
              </a:ext>
            </a:extLst>
          </p:cNvPr>
          <p:cNvSpPr txBox="1"/>
          <p:nvPr/>
        </p:nvSpPr>
        <p:spPr>
          <a:xfrm>
            <a:off x="4288241" y="661472"/>
            <a:ext cx="1931581" cy="369332"/>
          </a:xfrm>
          <a:prstGeom prst="rect">
            <a:avLst/>
          </a:prstGeom>
          <a:noFill/>
        </p:spPr>
        <p:txBody>
          <a:bodyPr wrap="square">
            <a:spAutoFit/>
          </a:bodyPr>
          <a:lstStyle/>
          <a:p>
            <a:pPr algn="ctr"/>
            <a:r>
              <a:rPr lang="es-ES" dirty="0">
                <a:latin typeface="Bookman Old Style" panose="02050604050505020204" pitchFamily="18" charset="0"/>
              </a:rPr>
              <a:t>52</a:t>
            </a:r>
            <a:r>
              <a:rPr lang="es-ES" baseline="30000" dirty="0">
                <a:latin typeface="Bookman Old Style" panose="02050604050505020204" pitchFamily="18" charset="0"/>
              </a:rPr>
              <a:t>nd</a:t>
            </a:r>
            <a:r>
              <a:rPr lang="es-ES" dirty="0">
                <a:latin typeface="Bookman Old Style" panose="02050604050505020204" pitchFamily="18" charset="0"/>
              </a:rPr>
              <a:t> – 95</a:t>
            </a:r>
            <a:r>
              <a:rPr lang="es-ES" baseline="30000" dirty="0">
                <a:latin typeface="Bookman Old Style" panose="02050604050505020204" pitchFamily="18" charset="0"/>
              </a:rPr>
              <a:t>th</a:t>
            </a:r>
            <a:r>
              <a:rPr lang="es-ES" dirty="0">
                <a:latin typeface="Bookman Old Style" panose="02050604050505020204" pitchFamily="18" charset="0"/>
              </a:rPr>
              <a:t> </a:t>
            </a:r>
            <a:endParaRPr lang="en-ES" dirty="0">
              <a:latin typeface="Bookman Old Style" panose="02050604050505020204" pitchFamily="18" charset="0"/>
            </a:endParaRPr>
          </a:p>
        </p:txBody>
      </p:sp>
      <p:sp>
        <p:nvSpPr>
          <p:cNvPr id="4" name="TextBox 3">
            <a:extLst>
              <a:ext uri="{FF2B5EF4-FFF2-40B4-BE49-F238E27FC236}">
                <a16:creationId xmlns:a16="http://schemas.microsoft.com/office/drawing/2014/main" id="{542F8C42-2FC5-3E07-8A66-F42BEC6C25E1}"/>
              </a:ext>
            </a:extLst>
          </p:cNvPr>
          <p:cNvSpPr txBox="1"/>
          <p:nvPr/>
        </p:nvSpPr>
        <p:spPr>
          <a:xfrm>
            <a:off x="8279220" y="661472"/>
            <a:ext cx="1931581" cy="369332"/>
          </a:xfrm>
          <a:prstGeom prst="rect">
            <a:avLst/>
          </a:prstGeom>
          <a:noFill/>
        </p:spPr>
        <p:txBody>
          <a:bodyPr wrap="square">
            <a:spAutoFit/>
          </a:bodyPr>
          <a:lstStyle/>
          <a:p>
            <a:pPr algn="ctr"/>
            <a:r>
              <a:rPr lang="es-ES" dirty="0">
                <a:latin typeface="Bookman Old Style" panose="02050604050505020204" pitchFamily="18" charset="0"/>
              </a:rPr>
              <a:t>43</a:t>
            </a:r>
            <a:r>
              <a:rPr lang="es-ES" baseline="30000" dirty="0">
                <a:latin typeface="Bookman Old Style" panose="02050604050505020204" pitchFamily="18" charset="0"/>
              </a:rPr>
              <a:t>rd</a:t>
            </a:r>
            <a:r>
              <a:rPr lang="es-ES" dirty="0">
                <a:latin typeface="Bookman Old Style" panose="02050604050505020204" pitchFamily="18" charset="0"/>
              </a:rPr>
              <a:t> – 95</a:t>
            </a:r>
            <a:r>
              <a:rPr lang="es-ES" baseline="30000" dirty="0">
                <a:latin typeface="Bookman Old Style" panose="02050604050505020204" pitchFamily="18" charset="0"/>
              </a:rPr>
              <a:t>th</a:t>
            </a:r>
            <a:r>
              <a:rPr lang="es-ES" dirty="0">
                <a:latin typeface="Bookman Old Style" panose="02050604050505020204" pitchFamily="18" charset="0"/>
              </a:rPr>
              <a:t> </a:t>
            </a:r>
            <a:endParaRPr lang="en-ES" dirty="0">
              <a:latin typeface="Bookman Old Style" panose="02050604050505020204" pitchFamily="18" charset="0"/>
            </a:endParaRPr>
          </a:p>
        </p:txBody>
      </p:sp>
    </p:spTree>
    <p:extLst>
      <p:ext uri="{BB962C8B-B14F-4D97-AF65-F5344CB8AC3E}">
        <p14:creationId xmlns:p14="http://schemas.microsoft.com/office/powerpoint/2010/main" val="3446159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C913-9FF3-361D-4008-AEB7E4C5701A}"/>
            </a:ext>
          </a:extLst>
        </p:cNvPr>
        <p:cNvGrpSpPr/>
        <p:nvPr/>
      </p:nvGrpSpPr>
      <p:grpSpPr>
        <a:xfrm>
          <a:off x="0" y="0"/>
          <a:ext cx="0" cy="0"/>
          <a:chOff x="0" y="0"/>
          <a:chExt cx="0" cy="0"/>
        </a:xfrm>
      </p:grpSpPr>
      <p:pic>
        <p:nvPicPr>
          <p:cNvPr id="47" name="Picture 46">
            <a:extLst>
              <a:ext uri="{FF2B5EF4-FFF2-40B4-BE49-F238E27FC236}">
                <a16:creationId xmlns:a16="http://schemas.microsoft.com/office/drawing/2014/main" id="{D1C59B69-B725-F01A-5C6D-CB2BFAA45A5F}"/>
              </a:ext>
            </a:extLst>
          </p:cNvPr>
          <p:cNvPicPr>
            <a:picLocks noChangeAspect="1"/>
          </p:cNvPicPr>
          <p:nvPr/>
        </p:nvPicPr>
        <p:blipFill>
          <a:blip r:embed="rId2"/>
          <a:srcRect l="48307"/>
          <a:stretch>
            <a:fillRect/>
          </a:stretch>
        </p:blipFill>
        <p:spPr>
          <a:xfrm>
            <a:off x="7187784" y="2231238"/>
            <a:ext cx="4653821" cy="4163815"/>
          </a:xfrm>
          <a:prstGeom prst="rect">
            <a:avLst/>
          </a:prstGeom>
        </p:spPr>
      </p:pic>
      <p:pic>
        <p:nvPicPr>
          <p:cNvPr id="46" name="Picture 45">
            <a:extLst>
              <a:ext uri="{FF2B5EF4-FFF2-40B4-BE49-F238E27FC236}">
                <a16:creationId xmlns:a16="http://schemas.microsoft.com/office/drawing/2014/main" id="{3FEF84FC-9F6F-B7BB-E125-7BBE100E6701}"/>
              </a:ext>
            </a:extLst>
          </p:cNvPr>
          <p:cNvPicPr>
            <a:picLocks noChangeAspect="1"/>
          </p:cNvPicPr>
          <p:nvPr/>
        </p:nvPicPr>
        <p:blipFill>
          <a:blip r:embed="rId2"/>
          <a:srcRect r="50000"/>
          <a:stretch>
            <a:fillRect/>
          </a:stretch>
        </p:blipFill>
        <p:spPr>
          <a:xfrm>
            <a:off x="350395" y="2231239"/>
            <a:ext cx="4501422" cy="4163815"/>
          </a:xfrm>
          <a:prstGeom prst="rect">
            <a:avLst/>
          </a:prstGeom>
        </p:spPr>
      </p:pic>
      <p:sp>
        <p:nvSpPr>
          <p:cNvPr id="12" name="Rectangle 11">
            <a:extLst>
              <a:ext uri="{FF2B5EF4-FFF2-40B4-BE49-F238E27FC236}">
                <a16:creationId xmlns:a16="http://schemas.microsoft.com/office/drawing/2014/main" id="{DC37755B-E4EE-6C05-4BDB-C023D46AB305}"/>
              </a:ext>
            </a:extLst>
          </p:cNvPr>
          <p:cNvSpPr/>
          <p:nvPr/>
        </p:nvSpPr>
        <p:spPr>
          <a:xfrm>
            <a:off x="0" y="0"/>
            <a:ext cx="12192000" cy="6858000"/>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dirty="0"/>
          </a:p>
        </p:txBody>
      </p:sp>
      <p:sp>
        <p:nvSpPr>
          <p:cNvPr id="22" name="Rounded Rectangle 21">
            <a:extLst>
              <a:ext uri="{FF2B5EF4-FFF2-40B4-BE49-F238E27FC236}">
                <a16:creationId xmlns:a16="http://schemas.microsoft.com/office/drawing/2014/main" id="{E6060ED2-8535-43F4-0A41-0D81314CFFBD}"/>
              </a:ext>
            </a:extLst>
          </p:cNvPr>
          <p:cNvSpPr/>
          <p:nvPr/>
        </p:nvSpPr>
        <p:spPr>
          <a:xfrm>
            <a:off x="3098800" y="368300"/>
            <a:ext cx="5626100" cy="3924300"/>
          </a:xfrm>
          <a:prstGeom prst="roundRect">
            <a:avLst>
              <a:gd name="adj" fmla="val 6635"/>
            </a:avLst>
          </a:prstGeom>
          <a:solidFill>
            <a:srgbClr val="EAEA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21" name="Picture 20">
            <a:extLst>
              <a:ext uri="{FF2B5EF4-FFF2-40B4-BE49-F238E27FC236}">
                <a16:creationId xmlns:a16="http://schemas.microsoft.com/office/drawing/2014/main" id="{12D33473-8FA7-54CA-CD89-D6770E01655A}"/>
              </a:ext>
            </a:extLst>
          </p:cNvPr>
          <p:cNvPicPr>
            <a:picLocks noChangeAspect="1"/>
          </p:cNvPicPr>
          <p:nvPr/>
        </p:nvPicPr>
        <p:blipFill>
          <a:blip r:embed="rId3"/>
          <a:stretch>
            <a:fillRect/>
          </a:stretch>
        </p:blipFill>
        <p:spPr>
          <a:xfrm>
            <a:off x="3556102" y="741490"/>
            <a:ext cx="5079795" cy="2979495"/>
          </a:xfrm>
          <a:prstGeom prst="rect">
            <a:avLst/>
          </a:prstGeom>
        </p:spPr>
      </p:pic>
    </p:spTree>
    <p:extLst>
      <p:ext uri="{BB962C8B-B14F-4D97-AF65-F5344CB8AC3E}">
        <p14:creationId xmlns:p14="http://schemas.microsoft.com/office/powerpoint/2010/main" val="21909994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E44F04-7702-4EC6-A45C-26DB8DAD9EFC}"/>
              </a:ext>
            </a:extLst>
          </p:cNvPr>
          <p:cNvSpPr>
            <a:spLocks noGrp="1"/>
          </p:cNvSpPr>
          <p:nvPr>
            <p:ph type="title"/>
          </p:nvPr>
        </p:nvSpPr>
        <p:spPr/>
        <p:txBody>
          <a:bodyPr/>
          <a:lstStyle/>
          <a:p>
            <a:pPr algn="r"/>
            <a:r>
              <a:rPr lang="en-US" dirty="0">
                <a:latin typeface="Bookman Old Style" panose="02050604050505020204" pitchFamily="18" charset="0"/>
              </a:rPr>
              <a:t>Core results</a:t>
            </a:r>
          </a:p>
        </p:txBody>
      </p:sp>
      <p:sp>
        <p:nvSpPr>
          <p:cNvPr id="4" name="Content Placeholder 3">
            <a:extLst>
              <a:ext uri="{FF2B5EF4-FFF2-40B4-BE49-F238E27FC236}">
                <a16:creationId xmlns:a16="http://schemas.microsoft.com/office/drawing/2014/main" id="{35DA71A2-C7AD-402A-137B-64514EB153A9}"/>
              </a:ext>
            </a:extLst>
          </p:cNvPr>
          <p:cNvSpPr>
            <a:spLocks noGrp="1"/>
          </p:cNvSpPr>
          <p:nvPr>
            <p:ph idx="1"/>
          </p:nvPr>
        </p:nvSpPr>
        <p:spPr>
          <a:xfrm>
            <a:off x="4394200" y="1690688"/>
            <a:ext cx="7162800" cy="4802187"/>
          </a:xfrm>
        </p:spPr>
        <p:txBody>
          <a:bodyPr>
            <a:normAutofit fontScale="92500"/>
          </a:bodyPr>
          <a:lstStyle/>
          <a:p>
            <a:pPr>
              <a:spcAft>
                <a:spcPts val="2400"/>
              </a:spcAft>
            </a:pPr>
            <a:endParaRPr lang="en-US" dirty="0">
              <a:latin typeface="Bookman Old Style" panose="02050604050505020204" pitchFamily="18" charset="0"/>
            </a:endParaRPr>
          </a:p>
          <a:p>
            <a:pPr>
              <a:spcAft>
                <a:spcPts val="2400"/>
              </a:spcAft>
            </a:pPr>
            <a:r>
              <a:rPr lang="en-US" dirty="0">
                <a:latin typeface="Bookman Old Style" panose="02050604050505020204" pitchFamily="18" charset="0"/>
              </a:rPr>
              <a:t>Substantial disagreement about which answer people think are correct.</a:t>
            </a:r>
          </a:p>
          <a:p>
            <a:pPr>
              <a:spcAft>
                <a:spcPts val="2400"/>
              </a:spcAft>
            </a:pPr>
            <a:r>
              <a:rPr lang="en-US" dirty="0">
                <a:latin typeface="Bookman Old Style" panose="02050604050505020204" pitchFamily="18" charset="0"/>
              </a:rPr>
              <a:t>These disagreements are </a:t>
            </a:r>
            <a:r>
              <a:rPr lang="en-US" i="1" dirty="0">
                <a:latin typeface="Bookman Old Style" panose="02050604050505020204" pitchFamily="18" charset="0"/>
              </a:rPr>
              <a:t>not</a:t>
            </a:r>
            <a:r>
              <a:rPr lang="en-US" dirty="0">
                <a:latin typeface="Bookman Old Style" panose="02050604050505020204" pitchFamily="18" charset="0"/>
              </a:rPr>
              <a:t> primarily a matter of people not having shared intuitions.</a:t>
            </a:r>
          </a:p>
          <a:p>
            <a:pPr>
              <a:spcAft>
                <a:spcPts val="2400"/>
              </a:spcAft>
            </a:pPr>
            <a:r>
              <a:rPr lang="en-US" dirty="0">
                <a:latin typeface="Bookman Old Style" panose="02050604050505020204" pitchFamily="18" charset="0"/>
              </a:rPr>
              <a:t>For each thought experiment, there is one intuition that is widely shared, even among those who believe it is incorrect.</a:t>
            </a:r>
            <a:endParaRPr lang="en-US" sz="3600" i="1" dirty="0">
              <a:latin typeface="Bookman Old Style" panose="02050604050505020204" pitchFamily="18" charset="0"/>
            </a:endParaRPr>
          </a:p>
        </p:txBody>
      </p:sp>
      <p:pic>
        <p:nvPicPr>
          <p:cNvPr id="6" name="Picture 5">
            <a:extLst>
              <a:ext uri="{FF2B5EF4-FFF2-40B4-BE49-F238E27FC236}">
                <a16:creationId xmlns:a16="http://schemas.microsoft.com/office/drawing/2014/main" id="{6B71B962-4B5D-0772-D90D-44E4D6B73BA3}"/>
              </a:ext>
            </a:extLst>
          </p:cNvPr>
          <p:cNvPicPr>
            <a:picLocks noChangeAspect="1"/>
          </p:cNvPicPr>
          <p:nvPr/>
        </p:nvPicPr>
        <p:blipFill>
          <a:blip r:embed="rId2"/>
          <a:stretch>
            <a:fillRect/>
          </a:stretch>
        </p:blipFill>
        <p:spPr>
          <a:xfrm>
            <a:off x="298450" y="225425"/>
            <a:ext cx="3765550" cy="2626535"/>
          </a:xfrm>
          <a:prstGeom prst="rect">
            <a:avLst/>
          </a:prstGeom>
        </p:spPr>
      </p:pic>
    </p:spTree>
    <p:extLst>
      <p:ext uri="{BB962C8B-B14F-4D97-AF65-F5344CB8AC3E}">
        <p14:creationId xmlns:p14="http://schemas.microsoft.com/office/powerpoint/2010/main" val="3363857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CAF6B-6675-A2BE-6868-23F1A65C1B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AE89E-118B-DF83-0ABF-4DB09FB96F08}"/>
              </a:ext>
            </a:extLst>
          </p:cNvPr>
          <p:cNvSpPr txBox="1">
            <a:spLocks/>
          </p:cNvSpPr>
          <p:nvPr/>
        </p:nvSpPr>
        <p:spPr>
          <a:xfrm>
            <a:off x="410220" y="1855597"/>
            <a:ext cx="8441172" cy="3594227"/>
          </a:xfrm>
          <a:prstGeom prst="rect">
            <a:avLst/>
          </a:prstGeom>
        </p:spPr>
        <p:txBody>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800"/>
              </a:spcAft>
              <a:buNone/>
            </a:pPr>
            <a:r>
              <a:rPr lang="en-US" sz="2800" dirty="0">
                <a:latin typeface="Bookman Old Style" panose="02050604050505020204" pitchFamily="18" charset="0"/>
              </a:rPr>
              <a:t>Reason for split responses is: Different people have different intuitions.</a:t>
            </a:r>
          </a:p>
          <a:p>
            <a:pPr marL="0" indent="0">
              <a:spcAft>
                <a:spcPts val="1800"/>
              </a:spcAft>
              <a:buNone/>
            </a:pPr>
            <a:r>
              <a:rPr lang="en-US" sz="2800" dirty="0">
                <a:latin typeface="Bookman Old Style" panose="02050604050505020204" pitchFamily="18" charset="0"/>
              </a:rPr>
              <a:t>The intuitions you have are just idiosyncratic facts about </a:t>
            </a:r>
            <a:r>
              <a:rPr lang="en-US" sz="2800" u="sng" dirty="0">
                <a:latin typeface="Bookman Old Style" panose="02050604050505020204" pitchFamily="18" charset="0"/>
              </a:rPr>
              <a:t>you</a:t>
            </a:r>
            <a:r>
              <a:rPr lang="en-US" sz="2800" dirty="0">
                <a:latin typeface="Bookman Old Style" panose="02050604050505020204" pitchFamily="18" charset="0"/>
              </a:rPr>
              <a:t>.</a:t>
            </a:r>
          </a:p>
          <a:p>
            <a:pPr marL="0" indent="0">
              <a:spcAft>
                <a:spcPts val="1800"/>
              </a:spcAft>
              <a:buNone/>
            </a:pPr>
            <a:r>
              <a:rPr lang="en-US" sz="2800" dirty="0">
                <a:latin typeface="Bookman Old Style" panose="02050604050505020204" pitchFamily="18" charset="0"/>
              </a:rPr>
              <a:t>Thus, no philosophical pay-off in thinking deeply about those intuitions.</a:t>
            </a:r>
          </a:p>
        </p:txBody>
      </p:sp>
      <p:sp>
        <p:nvSpPr>
          <p:cNvPr id="6" name="Title 5">
            <a:extLst>
              <a:ext uri="{FF2B5EF4-FFF2-40B4-BE49-F238E27FC236}">
                <a16:creationId xmlns:a16="http://schemas.microsoft.com/office/drawing/2014/main" id="{C85D3125-E58A-191A-0279-BF76BB3124CA}"/>
              </a:ext>
            </a:extLst>
          </p:cNvPr>
          <p:cNvSpPr>
            <a:spLocks noGrp="1"/>
          </p:cNvSpPr>
          <p:nvPr>
            <p:ph type="title"/>
          </p:nvPr>
        </p:nvSpPr>
        <p:spPr>
          <a:xfrm>
            <a:off x="410220" y="82613"/>
            <a:ext cx="8010144" cy="1325563"/>
          </a:xfrm>
        </p:spPr>
        <p:txBody>
          <a:bodyPr/>
          <a:lstStyle/>
          <a:p>
            <a:r>
              <a:rPr lang="en-US" dirty="0">
                <a:latin typeface="Bookman Old Style" panose="02050604050505020204" pitchFamily="18" charset="0"/>
              </a:rPr>
              <a:t>Extreme negative view</a:t>
            </a:r>
          </a:p>
        </p:txBody>
      </p:sp>
      <p:pic>
        <p:nvPicPr>
          <p:cNvPr id="2" name="Picture 1" descr="https://upload.wikimedia.org/wikipedia/commons/thumb/9/96/The_Garden_of_earthly_delights.jpg/960px-The_Garden_of_earthly_delights.jpg?utm_source=en.wikipedia.org&amp;utm_campaign=parser&amp;utm_content=thumbnail">
            <a:extLst>
              <a:ext uri="{FF2B5EF4-FFF2-40B4-BE49-F238E27FC236}">
                <a16:creationId xmlns:a16="http://schemas.microsoft.com/office/drawing/2014/main" id="{E3313F16-4AD1-C285-C8B3-1D1E596B0090}"/>
              </a:ext>
            </a:extLst>
          </p:cNvPr>
          <p:cNvPicPr>
            <a:picLocks noChangeAspect="1"/>
          </p:cNvPicPr>
          <p:nvPr/>
        </p:nvPicPr>
        <p:blipFill>
          <a:blip r:embed="rId2"/>
          <a:srcRect l="76258"/>
          <a:stretch>
            <a:fillRect/>
          </a:stretch>
        </p:blipFill>
        <p:spPr>
          <a:xfrm>
            <a:off x="9315704" y="-12701"/>
            <a:ext cx="2886696" cy="6915267"/>
          </a:xfrm>
          <a:prstGeom prst="rect">
            <a:avLst/>
          </a:prstGeom>
        </p:spPr>
      </p:pic>
    </p:spTree>
    <p:extLst>
      <p:ext uri="{BB962C8B-B14F-4D97-AF65-F5344CB8AC3E}">
        <p14:creationId xmlns:p14="http://schemas.microsoft.com/office/powerpoint/2010/main" val="1851512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07B4F-1555-94D4-D211-788766026C28}"/>
            </a:ext>
          </a:extLst>
        </p:cNvPr>
        <p:cNvGrpSpPr/>
        <p:nvPr/>
      </p:nvGrpSpPr>
      <p:grpSpPr>
        <a:xfrm>
          <a:off x="0" y="0"/>
          <a:ext cx="0" cy="0"/>
          <a:chOff x="0" y="0"/>
          <a:chExt cx="0" cy="0"/>
        </a:xfrm>
      </p:grpSpPr>
      <p:pic>
        <p:nvPicPr>
          <p:cNvPr id="5" name="Picture 4" descr="https://upload.wikimedia.org/wikipedia/commons/thumb/9/96/The_Garden_of_earthly_delights.jpg/960px-The_Garden_of_earthly_delights.jpg?utm_source=en.wikipedia.org&amp;utm_campaign=parser&amp;utm_content=thumbnail">
            <a:extLst>
              <a:ext uri="{FF2B5EF4-FFF2-40B4-BE49-F238E27FC236}">
                <a16:creationId xmlns:a16="http://schemas.microsoft.com/office/drawing/2014/main" id="{7618E366-3F74-6A6F-16E3-FF4786483BB3}"/>
              </a:ext>
            </a:extLst>
          </p:cNvPr>
          <p:cNvPicPr>
            <a:picLocks noChangeAspect="1"/>
          </p:cNvPicPr>
          <p:nvPr/>
        </p:nvPicPr>
        <p:blipFill>
          <a:blip r:embed="rId2"/>
          <a:srcRect l="120" r="75937"/>
          <a:stretch>
            <a:fillRect/>
          </a:stretch>
        </p:blipFill>
        <p:spPr>
          <a:xfrm>
            <a:off x="-17512" y="-12701"/>
            <a:ext cx="2911080" cy="6915267"/>
          </a:xfrm>
          <a:prstGeom prst="rect">
            <a:avLst/>
          </a:prstGeom>
        </p:spPr>
      </p:pic>
      <p:sp>
        <p:nvSpPr>
          <p:cNvPr id="7" name="Title 5">
            <a:extLst>
              <a:ext uri="{FF2B5EF4-FFF2-40B4-BE49-F238E27FC236}">
                <a16:creationId xmlns:a16="http://schemas.microsoft.com/office/drawing/2014/main" id="{1A962946-5789-534C-13C9-85DB4037C944}"/>
              </a:ext>
            </a:extLst>
          </p:cNvPr>
          <p:cNvSpPr txBox="1">
            <a:spLocks/>
          </p:cNvSpPr>
          <p:nvPr/>
        </p:nvSpPr>
        <p:spPr>
          <a:xfrm>
            <a:off x="2889504" y="36570"/>
            <a:ext cx="801014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latin typeface="Bookman Old Style" panose="02050604050505020204" pitchFamily="18" charset="0"/>
              </a:rPr>
              <a:t>Extreme positive view</a:t>
            </a:r>
          </a:p>
        </p:txBody>
      </p:sp>
      <p:sp>
        <p:nvSpPr>
          <p:cNvPr id="11" name="TextBox 10">
            <a:extLst>
              <a:ext uri="{FF2B5EF4-FFF2-40B4-BE49-F238E27FC236}">
                <a16:creationId xmlns:a16="http://schemas.microsoft.com/office/drawing/2014/main" id="{630B16F2-5D93-9E07-A8B8-90DA90D18A20}"/>
              </a:ext>
            </a:extLst>
          </p:cNvPr>
          <p:cNvSpPr txBox="1"/>
          <p:nvPr/>
        </p:nvSpPr>
        <p:spPr>
          <a:xfrm>
            <a:off x="3840226" y="1859339"/>
            <a:ext cx="7551674" cy="2708434"/>
          </a:xfrm>
          <a:prstGeom prst="rect">
            <a:avLst/>
          </a:prstGeom>
          <a:noFill/>
        </p:spPr>
        <p:txBody>
          <a:bodyPr wrap="square">
            <a:spAutoFit/>
          </a:bodyPr>
          <a:lstStyle/>
          <a:p>
            <a:pPr marL="0" indent="0" algn="just">
              <a:spcAft>
                <a:spcPts val="1800"/>
              </a:spcAft>
              <a:buNone/>
            </a:pPr>
            <a:r>
              <a:rPr lang="en-US" sz="2800" dirty="0">
                <a:latin typeface="Bookman Old Style" panose="02050604050505020204" pitchFamily="18" charset="0"/>
              </a:rPr>
              <a:t>We have intuitions favoring both sides.</a:t>
            </a:r>
          </a:p>
          <a:p>
            <a:pPr marL="0" indent="0" algn="just">
              <a:spcAft>
                <a:spcPts val="1800"/>
              </a:spcAft>
              <a:buNone/>
            </a:pPr>
            <a:endParaRPr lang="en-US" sz="2800" dirty="0">
              <a:latin typeface="Bookman Old Style" panose="02050604050505020204" pitchFamily="18" charset="0"/>
            </a:endParaRPr>
          </a:p>
          <a:p>
            <a:pPr marL="0" indent="0" algn="just">
              <a:spcAft>
                <a:spcPts val="1800"/>
              </a:spcAft>
              <a:buNone/>
            </a:pPr>
            <a:r>
              <a:rPr lang="en-US" sz="2800" dirty="0">
                <a:latin typeface="Bookman Old Style" panose="02050604050505020204" pitchFamily="18" charset="0"/>
              </a:rPr>
              <a:t>These intuitions are not just idiosyncratic; they are fundamental and widely shared.</a:t>
            </a:r>
          </a:p>
        </p:txBody>
      </p:sp>
    </p:spTree>
    <p:extLst>
      <p:ext uri="{BB962C8B-B14F-4D97-AF65-F5344CB8AC3E}">
        <p14:creationId xmlns:p14="http://schemas.microsoft.com/office/powerpoint/2010/main" val="1100248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8DCCF-E17D-FED7-2A2F-78DB93F12D54}"/>
            </a:ext>
          </a:extLst>
        </p:cNvPr>
        <p:cNvGrpSpPr/>
        <p:nvPr/>
      </p:nvGrpSpPr>
      <p:grpSpPr>
        <a:xfrm>
          <a:off x="0" y="0"/>
          <a:ext cx="0" cy="0"/>
          <a:chOff x="0" y="0"/>
          <a:chExt cx="0" cy="0"/>
        </a:xfrm>
      </p:grpSpPr>
      <p:pic>
        <p:nvPicPr>
          <p:cNvPr id="5" name="Picture 4" descr="https://upload.wikimedia.org/wikipedia/commons/thumb/9/96/The_Garden_of_earthly_delights.jpg/960px-The_Garden_of_earthly_delights.jpg?utm_source=en.wikipedia.org&amp;utm_campaign=parser&amp;utm_content=thumbnail">
            <a:extLst>
              <a:ext uri="{FF2B5EF4-FFF2-40B4-BE49-F238E27FC236}">
                <a16:creationId xmlns:a16="http://schemas.microsoft.com/office/drawing/2014/main" id="{B17181B1-2136-94E9-4A38-E46DDD06E34A}"/>
              </a:ext>
            </a:extLst>
          </p:cNvPr>
          <p:cNvPicPr>
            <a:picLocks noChangeAspect="1"/>
          </p:cNvPicPr>
          <p:nvPr/>
        </p:nvPicPr>
        <p:blipFill>
          <a:blip r:embed="rId2"/>
          <a:srcRect l="120" r="75937"/>
          <a:stretch>
            <a:fillRect/>
          </a:stretch>
        </p:blipFill>
        <p:spPr>
          <a:xfrm>
            <a:off x="-17512" y="-12701"/>
            <a:ext cx="2911080" cy="6915267"/>
          </a:xfrm>
          <a:prstGeom prst="rect">
            <a:avLst/>
          </a:prstGeom>
        </p:spPr>
      </p:pic>
      <p:sp>
        <p:nvSpPr>
          <p:cNvPr id="7" name="Title 5">
            <a:extLst>
              <a:ext uri="{FF2B5EF4-FFF2-40B4-BE49-F238E27FC236}">
                <a16:creationId xmlns:a16="http://schemas.microsoft.com/office/drawing/2014/main" id="{F8899E86-4D0F-EBC5-B981-D7FEE8DD1752}"/>
              </a:ext>
            </a:extLst>
          </p:cNvPr>
          <p:cNvSpPr txBox="1">
            <a:spLocks/>
          </p:cNvSpPr>
          <p:nvPr/>
        </p:nvSpPr>
        <p:spPr>
          <a:xfrm>
            <a:off x="2889504" y="36570"/>
            <a:ext cx="801014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Bookman Old Style" panose="02050604050505020204" pitchFamily="18" charset="0"/>
              </a:rPr>
              <a:t>Plausible positive view</a:t>
            </a:r>
            <a:endParaRPr lang="en-US" dirty="0">
              <a:latin typeface="Bookman Old Style" panose="02050604050505020204" pitchFamily="18" charset="0"/>
            </a:endParaRPr>
          </a:p>
        </p:txBody>
      </p:sp>
      <p:sp>
        <p:nvSpPr>
          <p:cNvPr id="11" name="TextBox 10">
            <a:extLst>
              <a:ext uri="{FF2B5EF4-FFF2-40B4-BE49-F238E27FC236}">
                <a16:creationId xmlns:a16="http://schemas.microsoft.com/office/drawing/2014/main" id="{F8AC096D-1BD7-16D9-0E9D-968D88DEA007}"/>
              </a:ext>
            </a:extLst>
          </p:cNvPr>
          <p:cNvSpPr txBox="1"/>
          <p:nvPr/>
        </p:nvSpPr>
        <p:spPr>
          <a:xfrm>
            <a:off x="3840226" y="1859339"/>
            <a:ext cx="7551674" cy="3139321"/>
          </a:xfrm>
          <a:prstGeom prst="rect">
            <a:avLst/>
          </a:prstGeom>
          <a:noFill/>
        </p:spPr>
        <p:txBody>
          <a:bodyPr wrap="square">
            <a:spAutoFit/>
          </a:bodyPr>
          <a:lstStyle/>
          <a:p>
            <a:pPr marL="0" indent="0" algn="just">
              <a:spcAft>
                <a:spcPts val="1800"/>
              </a:spcAft>
              <a:buNone/>
            </a:pPr>
            <a:r>
              <a:rPr lang="en-US" sz="2800" dirty="0">
                <a:latin typeface="Bookman Old Style" panose="02050604050505020204" pitchFamily="18" charset="0"/>
              </a:rPr>
              <a:t>We have intuitions favoring both sides.</a:t>
            </a:r>
          </a:p>
          <a:p>
            <a:pPr marL="0" indent="0" algn="just">
              <a:spcAft>
                <a:spcPts val="1800"/>
              </a:spcAft>
              <a:buNone/>
            </a:pPr>
            <a:endParaRPr lang="en-US" sz="2800" dirty="0">
              <a:latin typeface="Bookman Old Style" panose="02050604050505020204" pitchFamily="18" charset="0"/>
            </a:endParaRPr>
          </a:p>
          <a:p>
            <a:pPr algn="just">
              <a:spcAft>
                <a:spcPts val="1800"/>
              </a:spcAft>
            </a:pPr>
            <a:r>
              <a:rPr lang="en-US" sz="2800" dirty="0">
                <a:latin typeface="Bookman Old Style" panose="02050604050505020204" pitchFamily="18" charset="0"/>
              </a:rPr>
              <a:t>These intuitions are not just idiosyncratic; they are fundamental and widely shared, even among people who believe those intuitions are not correct.</a:t>
            </a:r>
          </a:p>
        </p:txBody>
      </p:sp>
      <p:grpSp>
        <p:nvGrpSpPr>
          <p:cNvPr id="10" name="Group 9">
            <a:extLst>
              <a:ext uri="{FF2B5EF4-FFF2-40B4-BE49-F238E27FC236}">
                <a16:creationId xmlns:a16="http://schemas.microsoft.com/office/drawing/2014/main" id="{87A58BC3-ED99-8949-FFB1-F441CCD3F961}"/>
              </a:ext>
            </a:extLst>
          </p:cNvPr>
          <p:cNvGrpSpPr/>
          <p:nvPr/>
        </p:nvGrpSpPr>
        <p:grpSpPr>
          <a:xfrm>
            <a:off x="8927940" y="1825620"/>
            <a:ext cx="1785240" cy="513720"/>
            <a:chOff x="8927940" y="1825620"/>
            <a:chExt cx="1785240" cy="51372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9E7D0811-7E7F-78CB-01AE-14F14D7CC811}"/>
                    </a:ext>
                  </a:extLst>
                </p14:cNvPr>
                <p14:cNvContentPartPr/>
                <p14:nvPr/>
              </p14:nvContentPartPr>
              <p14:xfrm>
                <a:off x="8927940" y="1930020"/>
                <a:ext cx="1592640" cy="313920"/>
              </p14:xfrm>
            </p:contentPart>
          </mc:Choice>
          <mc:Fallback xmlns="">
            <p:pic>
              <p:nvPicPr>
                <p:cNvPr id="6" name="Ink 5">
                  <a:extLst>
                    <a:ext uri="{FF2B5EF4-FFF2-40B4-BE49-F238E27FC236}">
                      <a16:creationId xmlns:a16="http://schemas.microsoft.com/office/drawing/2014/main" id="{9E7D0811-7E7F-78CB-01AE-14F14D7CC811}"/>
                    </a:ext>
                  </a:extLst>
                </p:cNvPr>
                <p:cNvPicPr/>
                <p:nvPr/>
              </p:nvPicPr>
              <p:blipFill>
                <a:blip r:embed="rId4"/>
                <a:stretch>
                  <a:fillRect/>
                </a:stretch>
              </p:blipFill>
              <p:spPr>
                <a:xfrm>
                  <a:off x="8891948" y="1894020"/>
                  <a:ext cx="1664264"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5494CFB9-04E2-B899-01AF-B14C5494344A}"/>
                    </a:ext>
                  </a:extLst>
                </p14:cNvPr>
                <p14:cNvContentPartPr/>
                <p14:nvPr/>
              </p14:nvContentPartPr>
              <p14:xfrm>
                <a:off x="9080220" y="1825620"/>
                <a:ext cx="1632960" cy="513720"/>
              </p14:xfrm>
            </p:contentPart>
          </mc:Choice>
          <mc:Fallback xmlns="">
            <p:pic>
              <p:nvPicPr>
                <p:cNvPr id="8" name="Ink 7">
                  <a:extLst>
                    <a:ext uri="{FF2B5EF4-FFF2-40B4-BE49-F238E27FC236}">
                      <a16:creationId xmlns:a16="http://schemas.microsoft.com/office/drawing/2014/main" id="{5494CFB9-04E2-B899-01AF-B14C5494344A}"/>
                    </a:ext>
                  </a:extLst>
                </p:cNvPr>
                <p:cNvPicPr/>
                <p:nvPr/>
              </p:nvPicPr>
              <p:blipFill>
                <a:blip r:embed="rId6"/>
                <a:stretch>
                  <a:fillRect/>
                </a:stretch>
              </p:blipFill>
              <p:spPr>
                <a:xfrm>
                  <a:off x="9044220" y="1789620"/>
                  <a:ext cx="1704600" cy="58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BA0A009D-EED4-61F8-5340-D27667F9B97D}"/>
                  </a:ext>
                </a:extLst>
              </p14:cNvPr>
              <p14:cNvContentPartPr/>
              <p14:nvPr/>
            </p14:nvContentPartPr>
            <p14:xfrm>
              <a:off x="9352740" y="3355620"/>
              <a:ext cx="1851120" cy="139680"/>
            </p14:xfrm>
          </p:contentPart>
        </mc:Choice>
        <mc:Fallback xmlns="">
          <p:pic>
            <p:nvPicPr>
              <p:cNvPr id="3" name="Ink 2">
                <a:extLst>
                  <a:ext uri="{FF2B5EF4-FFF2-40B4-BE49-F238E27FC236}">
                    <a16:creationId xmlns:a16="http://schemas.microsoft.com/office/drawing/2014/main" id="{BA0A009D-EED4-61F8-5340-D27667F9B97D}"/>
                  </a:ext>
                </a:extLst>
              </p:cNvPr>
              <p:cNvPicPr/>
              <p:nvPr/>
            </p:nvPicPr>
            <p:blipFill>
              <a:blip r:embed="rId8"/>
              <a:stretch>
                <a:fillRect/>
              </a:stretch>
            </p:blipFill>
            <p:spPr>
              <a:xfrm>
                <a:off x="9316740" y="3319980"/>
                <a:ext cx="19227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6DB56A07-D46A-6BA7-A48A-4095089669F0}"/>
                  </a:ext>
                </a:extLst>
              </p14:cNvPr>
              <p14:cNvContentPartPr/>
              <p14:nvPr/>
            </p14:nvContentPartPr>
            <p14:xfrm>
              <a:off x="3905940" y="3850260"/>
              <a:ext cx="7295040" cy="81360"/>
            </p14:xfrm>
          </p:contentPart>
        </mc:Choice>
        <mc:Fallback xmlns="">
          <p:pic>
            <p:nvPicPr>
              <p:cNvPr id="4" name="Ink 3">
                <a:extLst>
                  <a:ext uri="{FF2B5EF4-FFF2-40B4-BE49-F238E27FC236}">
                    <a16:creationId xmlns:a16="http://schemas.microsoft.com/office/drawing/2014/main" id="{6DB56A07-D46A-6BA7-A48A-4095089669F0}"/>
                  </a:ext>
                </a:extLst>
              </p:cNvPr>
              <p:cNvPicPr/>
              <p:nvPr/>
            </p:nvPicPr>
            <p:blipFill>
              <a:blip r:embed="rId10"/>
              <a:stretch>
                <a:fillRect/>
              </a:stretch>
            </p:blipFill>
            <p:spPr>
              <a:xfrm>
                <a:off x="3869940" y="3814260"/>
                <a:ext cx="7366680" cy="153000"/>
              </a:xfrm>
              <a:prstGeom prst="rect">
                <a:avLst/>
              </a:prstGeom>
            </p:spPr>
          </p:pic>
        </mc:Fallback>
      </mc:AlternateContent>
    </p:spTree>
    <p:extLst>
      <p:ext uri="{BB962C8B-B14F-4D97-AF65-F5344CB8AC3E}">
        <p14:creationId xmlns:p14="http://schemas.microsoft.com/office/powerpoint/2010/main" val="467146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909D6-8C8B-6EBF-8C23-CD1234FA6DCA}"/>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459AC54C-DB35-E0BA-E0C1-AA84B4ACAA74}"/>
              </a:ext>
            </a:extLst>
          </p:cNvPr>
          <p:cNvPicPr>
            <a:picLocks noChangeAspect="1"/>
          </p:cNvPicPr>
          <p:nvPr/>
        </p:nvPicPr>
        <p:blipFill>
          <a:blip r:embed="rId2"/>
          <a:stretch>
            <a:fillRect/>
          </a:stretch>
        </p:blipFill>
        <p:spPr>
          <a:xfrm>
            <a:off x="1236904" y="2854702"/>
            <a:ext cx="3676597" cy="3600000"/>
          </a:xfrm>
          <a:prstGeom prst="rect">
            <a:avLst/>
          </a:prstGeom>
        </p:spPr>
      </p:pic>
      <p:sp>
        <p:nvSpPr>
          <p:cNvPr id="31" name="TextBox 30">
            <a:extLst>
              <a:ext uri="{FF2B5EF4-FFF2-40B4-BE49-F238E27FC236}">
                <a16:creationId xmlns:a16="http://schemas.microsoft.com/office/drawing/2014/main" id="{99375F17-7D9E-FF68-B77C-58F116AE9CE8}"/>
              </a:ext>
            </a:extLst>
          </p:cNvPr>
          <p:cNvSpPr txBox="1"/>
          <p:nvPr/>
        </p:nvSpPr>
        <p:spPr>
          <a:xfrm>
            <a:off x="1" y="2116509"/>
            <a:ext cx="6096000" cy="461665"/>
          </a:xfrm>
          <a:prstGeom prst="rect">
            <a:avLst/>
          </a:prstGeom>
          <a:noFill/>
        </p:spPr>
        <p:txBody>
          <a:bodyPr wrap="square">
            <a:spAutoFit/>
          </a:bodyPr>
          <a:lstStyle/>
          <a:p>
            <a:pPr algn="ctr"/>
            <a:r>
              <a:rPr lang="en-US" sz="2400" dirty="0">
                <a:latin typeface="Bookman Old Style" panose="02050604050505020204" pitchFamily="18" charset="0"/>
              </a:rPr>
              <a:t>repeatedly sampling intuitions?</a:t>
            </a:r>
            <a:endParaRPr lang="en-ES" sz="2400" dirty="0"/>
          </a:p>
        </p:txBody>
      </p:sp>
      <p:sp>
        <p:nvSpPr>
          <p:cNvPr id="33" name="Title 5">
            <a:extLst>
              <a:ext uri="{FF2B5EF4-FFF2-40B4-BE49-F238E27FC236}">
                <a16:creationId xmlns:a16="http://schemas.microsoft.com/office/drawing/2014/main" id="{C0836AF2-C402-0BA7-0AC3-B8D1059E80D6}"/>
              </a:ext>
            </a:extLst>
          </p:cNvPr>
          <p:cNvSpPr txBox="1">
            <a:spLocks/>
          </p:cNvSpPr>
          <p:nvPr/>
        </p:nvSpPr>
        <p:spPr>
          <a:xfrm>
            <a:off x="0" y="403298"/>
            <a:ext cx="12192000" cy="10674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Bookman Old Style" panose="02050604050505020204" pitchFamily="18" charset="0"/>
              </a:rPr>
              <a:t>Future research</a:t>
            </a:r>
          </a:p>
        </p:txBody>
      </p:sp>
    </p:spTree>
    <p:extLst>
      <p:ext uri="{BB962C8B-B14F-4D97-AF65-F5344CB8AC3E}">
        <p14:creationId xmlns:p14="http://schemas.microsoft.com/office/powerpoint/2010/main" val="10049496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50F257B-2B42-2950-F149-508C3D8E6AA7}"/>
              </a:ext>
            </a:extLst>
          </p:cNvPr>
          <p:cNvPicPr>
            <a:picLocks noChangeAspect="1"/>
          </p:cNvPicPr>
          <p:nvPr/>
        </p:nvPicPr>
        <p:blipFill>
          <a:blip r:embed="rId2"/>
          <a:stretch>
            <a:fillRect/>
          </a:stretch>
        </p:blipFill>
        <p:spPr>
          <a:xfrm>
            <a:off x="1236904" y="2854702"/>
            <a:ext cx="3676597" cy="3600000"/>
          </a:xfrm>
          <a:prstGeom prst="rect">
            <a:avLst/>
          </a:prstGeom>
        </p:spPr>
      </p:pic>
      <p:pic>
        <p:nvPicPr>
          <p:cNvPr id="30" name="Picture 29">
            <a:extLst>
              <a:ext uri="{FF2B5EF4-FFF2-40B4-BE49-F238E27FC236}">
                <a16:creationId xmlns:a16="http://schemas.microsoft.com/office/drawing/2014/main" id="{682F0C43-3C11-6B95-BE65-44339D823C85}"/>
              </a:ext>
            </a:extLst>
          </p:cNvPr>
          <p:cNvPicPr>
            <a:picLocks noChangeAspect="1"/>
          </p:cNvPicPr>
          <p:nvPr/>
        </p:nvPicPr>
        <p:blipFill>
          <a:blip r:embed="rId3"/>
          <a:stretch>
            <a:fillRect/>
          </a:stretch>
        </p:blipFill>
        <p:spPr>
          <a:xfrm>
            <a:off x="7564985" y="3214702"/>
            <a:ext cx="3390111" cy="2880000"/>
          </a:xfrm>
          <a:prstGeom prst="rect">
            <a:avLst/>
          </a:prstGeom>
        </p:spPr>
      </p:pic>
      <p:sp>
        <p:nvSpPr>
          <p:cNvPr id="31" name="TextBox 30">
            <a:extLst>
              <a:ext uri="{FF2B5EF4-FFF2-40B4-BE49-F238E27FC236}">
                <a16:creationId xmlns:a16="http://schemas.microsoft.com/office/drawing/2014/main" id="{F744DBF5-B7D8-77B6-ACE3-DBD776F5A9BA}"/>
              </a:ext>
            </a:extLst>
          </p:cNvPr>
          <p:cNvSpPr txBox="1"/>
          <p:nvPr/>
        </p:nvSpPr>
        <p:spPr>
          <a:xfrm>
            <a:off x="1" y="2116509"/>
            <a:ext cx="6096000" cy="461665"/>
          </a:xfrm>
          <a:prstGeom prst="rect">
            <a:avLst/>
          </a:prstGeom>
          <a:noFill/>
        </p:spPr>
        <p:txBody>
          <a:bodyPr wrap="square">
            <a:spAutoFit/>
          </a:bodyPr>
          <a:lstStyle/>
          <a:p>
            <a:pPr algn="ctr"/>
            <a:r>
              <a:rPr lang="en-US" sz="2400" dirty="0">
                <a:latin typeface="Bookman Old Style" panose="02050604050505020204" pitchFamily="18" charset="0"/>
              </a:rPr>
              <a:t>repeatedly sampling intuitions?</a:t>
            </a:r>
            <a:endParaRPr lang="en-ES" sz="2400" dirty="0"/>
          </a:p>
        </p:txBody>
      </p:sp>
      <p:sp>
        <p:nvSpPr>
          <p:cNvPr id="32" name="TextBox 31">
            <a:extLst>
              <a:ext uri="{FF2B5EF4-FFF2-40B4-BE49-F238E27FC236}">
                <a16:creationId xmlns:a16="http://schemas.microsoft.com/office/drawing/2014/main" id="{6E96DA08-287D-C0B3-EA1B-33BD1BCECA84}"/>
              </a:ext>
            </a:extLst>
          </p:cNvPr>
          <p:cNvSpPr txBox="1"/>
          <p:nvPr/>
        </p:nvSpPr>
        <p:spPr>
          <a:xfrm>
            <a:off x="6096000" y="2116509"/>
            <a:ext cx="6212040" cy="461665"/>
          </a:xfrm>
          <a:prstGeom prst="rect">
            <a:avLst/>
          </a:prstGeom>
          <a:noFill/>
        </p:spPr>
        <p:txBody>
          <a:bodyPr wrap="square">
            <a:spAutoFit/>
          </a:bodyPr>
          <a:lstStyle/>
          <a:p>
            <a:pPr algn="ctr"/>
            <a:r>
              <a:rPr lang="en-US" sz="2400" dirty="0">
                <a:latin typeface="Bookman Old Style" panose="02050604050505020204" pitchFamily="18" charset="0"/>
              </a:rPr>
              <a:t>separate cognitive process?</a:t>
            </a:r>
            <a:endParaRPr lang="en-ES" sz="2400" dirty="0"/>
          </a:p>
        </p:txBody>
      </p:sp>
      <p:sp>
        <p:nvSpPr>
          <p:cNvPr id="33" name="Title 5">
            <a:extLst>
              <a:ext uri="{FF2B5EF4-FFF2-40B4-BE49-F238E27FC236}">
                <a16:creationId xmlns:a16="http://schemas.microsoft.com/office/drawing/2014/main" id="{8A16DB36-C84F-B321-CEA7-9E92C0D9D2FA}"/>
              </a:ext>
            </a:extLst>
          </p:cNvPr>
          <p:cNvSpPr txBox="1">
            <a:spLocks/>
          </p:cNvSpPr>
          <p:nvPr/>
        </p:nvSpPr>
        <p:spPr>
          <a:xfrm>
            <a:off x="0" y="403298"/>
            <a:ext cx="12192000" cy="10674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Bookman Old Style" panose="02050604050505020204" pitchFamily="18" charset="0"/>
              </a:rPr>
              <a:t>Future research</a:t>
            </a:r>
          </a:p>
        </p:txBody>
      </p:sp>
      <p:pic>
        <p:nvPicPr>
          <p:cNvPr id="35" name="Graphic 34" descr="Tick with solid fill">
            <a:extLst>
              <a:ext uri="{FF2B5EF4-FFF2-40B4-BE49-F238E27FC236}">
                <a16:creationId xmlns:a16="http://schemas.microsoft.com/office/drawing/2014/main" id="{61A99316-7EBE-30CD-429E-F5AACCAD29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35598" y="3022217"/>
            <a:ext cx="504000" cy="504000"/>
          </a:xfrm>
          <a:prstGeom prst="rect">
            <a:avLst/>
          </a:prstGeom>
        </p:spPr>
      </p:pic>
      <p:pic>
        <p:nvPicPr>
          <p:cNvPr id="36" name="Graphic 35" descr="Tick with solid fill">
            <a:extLst>
              <a:ext uri="{FF2B5EF4-FFF2-40B4-BE49-F238E27FC236}">
                <a16:creationId xmlns:a16="http://schemas.microsoft.com/office/drawing/2014/main" id="{A4175246-A6AB-C39D-7213-FAF3431F03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98971" y="2978687"/>
            <a:ext cx="504000" cy="504000"/>
          </a:xfrm>
          <a:prstGeom prst="rect">
            <a:avLst/>
          </a:prstGeom>
        </p:spPr>
      </p:pic>
    </p:spTree>
    <p:extLst>
      <p:ext uri="{BB962C8B-B14F-4D97-AF65-F5344CB8AC3E}">
        <p14:creationId xmlns:p14="http://schemas.microsoft.com/office/powerpoint/2010/main" val="517604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FB17-FFAF-07DC-E8EB-7C40955668B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3F5E9A2-1777-51DF-099F-E6636D5F41C8}"/>
              </a:ext>
            </a:extLst>
          </p:cNvPr>
          <p:cNvSpPr txBox="1"/>
          <p:nvPr/>
        </p:nvSpPr>
        <p:spPr>
          <a:xfrm>
            <a:off x="881269" y="1030288"/>
            <a:ext cx="10429461" cy="477054"/>
          </a:xfrm>
          <a:prstGeom prst="rect">
            <a:avLst/>
          </a:prstGeom>
          <a:noFill/>
        </p:spPr>
        <p:txBody>
          <a:bodyPr wrap="square" rtlCol="0">
            <a:spAutoFit/>
          </a:bodyPr>
          <a:lstStyle/>
          <a:p>
            <a:pPr algn="ctr"/>
            <a:r>
              <a:rPr lang="en-ES" sz="2500" b="1" dirty="0">
                <a:latin typeface="Bookman Old Style" panose="02050604050505020204" pitchFamily="18" charset="0"/>
                <a:ea typeface="Helvetica Neue" panose="02000503000000020004" pitchFamily="2" charset="0"/>
                <a:cs typeface="Helvetica Neue" panose="02000503000000020004" pitchFamily="2" charset="0"/>
              </a:rPr>
              <a:t>Thank you!</a:t>
            </a:r>
            <a:endParaRPr lang="en-ES" sz="2200" b="1" dirty="0">
              <a:latin typeface="Bookman Old Style" panose="02050604050505020204" pitchFamily="18" charset="0"/>
              <a:ea typeface="Helvetica Neue" panose="02000503000000020004" pitchFamily="2" charset="0"/>
              <a:cs typeface="Helvetica Neue" panose="02000503000000020004" pitchFamily="2" charset="0"/>
            </a:endParaRPr>
          </a:p>
        </p:txBody>
      </p:sp>
      <p:pic>
        <p:nvPicPr>
          <p:cNvPr id="12" name="Picture 11" descr="https://moralsciencelab.com/assets/img/workshop/knobe.jpg">
            <a:extLst>
              <a:ext uri="{FF2B5EF4-FFF2-40B4-BE49-F238E27FC236}">
                <a16:creationId xmlns:a16="http://schemas.microsoft.com/office/drawing/2014/main" id="{0FDB2DA2-8DAB-A93E-741D-C6B372B00F2D}"/>
              </a:ext>
            </a:extLst>
          </p:cNvPr>
          <p:cNvPicPr>
            <a:picLocks noChangeAspect="1"/>
          </p:cNvPicPr>
          <p:nvPr/>
        </p:nvPicPr>
        <p:blipFill>
          <a:blip r:embed="rId2"/>
          <a:stretch>
            <a:fillRect/>
          </a:stretch>
        </p:blipFill>
        <p:spPr>
          <a:xfrm>
            <a:off x="4654124" y="2349000"/>
            <a:ext cx="2883750" cy="2160000"/>
          </a:xfrm>
          <a:prstGeom prst="rect">
            <a:avLst/>
          </a:prstGeom>
        </p:spPr>
      </p:pic>
      <p:sp>
        <p:nvSpPr>
          <p:cNvPr id="14" name="TextBox 13">
            <a:extLst>
              <a:ext uri="{FF2B5EF4-FFF2-40B4-BE49-F238E27FC236}">
                <a16:creationId xmlns:a16="http://schemas.microsoft.com/office/drawing/2014/main" id="{06BA52DF-0B88-FE46-9271-419BFDBCB5C2}"/>
              </a:ext>
            </a:extLst>
          </p:cNvPr>
          <p:cNvSpPr txBox="1"/>
          <p:nvPr/>
        </p:nvSpPr>
        <p:spPr>
          <a:xfrm>
            <a:off x="4654123" y="4626900"/>
            <a:ext cx="2883751" cy="477054"/>
          </a:xfrm>
          <a:prstGeom prst="rect">
            <a:avLst/>
          </a:prstGeom>
          <a:noFill/>
        </p:spPr>
        <p:txBody>
          <a:bodyPr wrap="square">
            <a:spAutoFit/>
          </a:bodyPr>
          <a:lstStyle/>
          <a:p>
            <a:pPr algn="ctr"/>
            <a:r>
              <a:rPr lang="en-ES" sz="2500" dirty="0">
                <a:latin typeface="Bookman Old Style" panose="02050604050505020204" pitchFamily="18" charset="0"/>
                <a:ea typeface="Helvetica Neue" panose="02000503000000020004" pitchFamily="2" charset="0"/>
                <a:cs typeface="Helvetica Neue" panose="02000503000000020004" pitchFamily="2" charset="0"/>
              </a:rPr>
              <a:t>Joshua Knobe</a:t>
            </a:r>
            <a:endParaRPr lang="en-ES" sz="2200" dirty="0">
              <a:latin typeface="Bookman Old Style" panose="02050604050505020204" pitchFamily="18"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946100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3AC41-6ADA-8392-3AD1-01B7B0F077AE}"/>
            </a:ext>
          </a:extLst>
        </p:cNvPr>
        <p:cNvGrpSpPr/>
        <p:nvPr/>
      </p:nvGrpSpPr>
      <p:grpSpPr>
        <a:xfrm>
          <a:off x="0" y="0"/>
          <a:ext cx="0" cy="0"/>
          <a:chOff x="0" y="0"/>
          <a:chExt cx="0" cy="0"/>
        </a:xfrm>
      </p:grpSpPr>
      <p:pic>
        <p:nvPicPr>
          <p:cNvPr id="7" name="Picture 6" descr="https://cdn.sanity.io/images/nxpteyfv/goguides/8fcc7aed7ed3b5d0ecb04916ee3adfa76e2cd9e2-1600x1066.jpg">
            <a:extLst>
              <a:ext uri="{FF2B5EF4-FFF2-40B4-BE49-F238E27FC236}">
                <a16:creationId xmlns:a16="http://schemas.microsoft.com/office/drawing/2014/main" id="{67B8BCD0-C151-4E09-125D-ABE63D886152}"/>
              </a:ext>
            </a:extLst>
          </p:cNvPr>
          <p:cNvPicPr>
            <a:picLocks noChangeAspect="1"/>
          </p:cNvPicPr>
          <p:nvPr/>
        </p:nvPicPr>
        <p:blipFill>
          <a:blip r:embed="rId2">
            <a:alphaModFix amt="68000"/>
            <a:extLst>
              <a:ext uri="{BEBA8EAE-BF5A-486C-A8C5-ECC9F3942E4B}">
                <a14:imgProps xmlns:a14="http://schemas.microsoft.com/office/drawing/2010/main">
                  <a14:imgLayer r:embed="rId3">
                    <a14:imgEffect>
                      <a14:artisticBlur radius="30"/>
                    </a14:imgEffect>
                    <a14:imgEffect>
                      <a14:colorTemperature colorTemp="4984"/>
                    </a14:imgEffect>
                    <a14:imgEffect>
                      <a14:brightnessContrast bright="-34000" contrast="1000"/>
                    </a14:imgEffect>
                  </a14:imgLayer>
                </a14:imgProps>
              </a:ext>
            </a:extLst>
          </a:blip>
          <a:srcRect l="3125" t="10953" r="5583" b="10834"/>
          <a:stretch>
            <a:fillRect/>
          </a:stretch>
        </p:blipFill>
        <p:spPr>
          <a:xfrm>
            <a:off x="0" y="-45315"/>
            <a:ext cx="12192000" cy="6959262"/>
          </a:xfrm>
          <a:prstGeom prst="rect">
            <a:avLst/>
          </a:prstGeom>
        </p:spPr>
      </p:pic>
      <p:sp>
        <p:nvSpPr>
          <p:cNvPr id="2" name="Title 1">
            <a:extLst>
              <a:ext uri="{FF2B5EF4-FFF2-40B4-BE49-F238E27FC236}">
                <a16:creationId xmlns:a16="http://schemas.microsoft.com/office/drawing/2014/main" id="{EB66FAC8-3BCD-A745-C7B7-F7466D5EC5CE}"/>
              </a:ext>
            </a:extLst>
          </p:cNvPr>
          <p:cNvSpPr>
            <a:spLocks noGrp="1"/>
          </p:cNvSpPr>
          <p:nvPr>
            <p:ph type="ctrTitle"/>
          </p:nvPr>
        </p:nvSpPr>
        <p:spPr/>
        <p:txBody>
          <a:bodyPr/>
          <a:lstStyle/>
          <a:p>
            <a:endParaRPr lang="en-ES"/>
          </a:p>
        </p:txBody>
      </p:sp>
      <p:sp>
        <p:nvSpPr>
          <p:cNvPr id="3" name="Subtitle 2">
            <a:extLst>
              <a:ext uri="{FF2B5EF4-FFF2-40B4-BE49-F238E27FC236}">
                <a16:creationId xmlns:a16="http://schemas.microsoft.com/office/drawing/2014/main" id="{0E96AC11-C640-E9BF-87E1-6D45BF81F95B}"/>
              </a:ext>
            </a:extLst>
          </p:cNvPr>
          <p:cNvSpPr>
            <a:spLocks noGrp="1"/>
          </p:cNvSpPr>
          <p:nvPr>
            <p:ph type="subTitle" idx="1"/>
          </p:nvPr>
        </p:nvSpPr>
        <p:spPr/>
        <p:txBody>
          <a:bodyPr/>
          <a:lstStyle/>
          <a:p>
            <a:endParaRPr lang="en-ES"/>
          </a:p>
        </p:txBody>
      </p:sp>
      <p:pic>
        <p:nvPicPr>
          <p:cNvPr id="6" name="Picture 5" descr="https://cdn.sanity.io/images/nxpteyfv/goguides/8fcc7aed7ed3b5d0ecb04916ee3adfa76e2cd9e2-1600x1066.jpg">
            <a:extLst>
              <a:ext uri="{FF2B5EF4-FFF2-40B4-BE49-F238E27FC236}">
                <a16:creationId xmlns:a16="http://schemas.microsoft.com/office/drawing/2014/main" id="{596F0860-D4D5-6C4B-BF16-F45A4C16C7BF}"/>
              </a:ext>
            </a:extLst>
          </p:cNvPr>
          <p:cNvPicPr>
            <a:picLocks noChangeAspect="1"/>
          </p:cNvPicPr>
          <p:nvPr/>
        </p:nvPicPr>
        <p:blipFill>
          <a:blip r:embed="rId4"/>
          <a:stretch>
            <a:fillRect/>
          </a:stretch>
        </p:blipFill>
        <p:spPr>
          <a:xfrm>
            <a:off x="881269" y="-45315"/>
            <a:ext cx="10429461" cy="6948629"/>
          </a:xfrm>
          <a:prstGeom prst="rect">
            <a:avLst/>
          </a:prstGeom>
        </p:spPr>
      </p:pic>
      <p:sp>
        <p:nvSpPr>
          <p:cNvPr id="8" name="TextBox 7">
            <a:extLst>
              <a:ext uri="{FF2B5EF4-FFF2-40B4-BE49-F238E27FC236}">
                <a16:creationId xmlns:a16="http://schemas.microsoft.com/office/drawing/2014/main" id="{F3753BBA-6454-557F-7649-C80EF621EF47}"/>
              </a:ext>
            </a:extLst>
          </p:cNvPr>
          <p:cNvSpPr txBox="1"/>
          <p:nvPr/>
        </p:nvSpPr>
        <p:spPr>
          <a:xfrm>
            <a:off x="881269" y="1030288"/>
            <a:ext cx="10429461" cy="477054"/>
          </a:xfrm>
          <a:prstGeom prst="rect">
            <a:avLst/>
          </a:prstGeom>
          <a:noFill/>
        </p:spPr>
        <p:txBody>
          <a:bodyPr wrap="square" rtlCol="0">
            <a:spAutoFit/>
          </a:bodyPr>
          <a:lstStyle/>
          <a:p>
            <a:pPr algn="ctr"/>
            <a:r>
              <a:rPr lang="en-ES" sz="2500" dirty="0">
                <a:latin typeface="Bookman Old Style" panose="02050604050505020204" pitchFamily="18" charset="0"/>
                <a:ea typeface="Helvetica Neue" panose="02000503000000020004" pitchFamily="2" charset="0"/>
                <a:cs typeface="Helvetica Neue" panose="02000503000000020004" pitchFamily="2" charset="0"/>
              </a:rPr>
              <a:t>Thank you!</a:t>
            </a:r>
            <a:endParaRPr lang="en-ES" sz="2200" dirty="0">
              <a:latin typeface="Bookman Old Style" panose="02050604050505020204" pitchFamily="18" charset="0"/>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759E3CED-CBE1-C2BB-0B32-18291CD81EF8}"/>
              </a:ext>
            </a:extLst>
          </p:cNvPr>
          <p:cNvSpPr/>
          <p:nvPr/>
        </p:nvSpPr>
        <p:spPr>
          <a:xfrm>
            <a:off x="881269" y="6092455"/>
            <a:ext cx="10429461" cy="789593"/>
          </a:xfrm>
          <a:prstGeom prst="rect">
            <a:avLst/>
          </a:prstGeom>
          <a:solidFill>
            <a:srgbClr val="9DA7DE">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Bookman Old Style" panose="02050604050505020204" pitchFamily="18" charset="0"/>
              </a:rPr>
              <a:t>6th European Experimental Philosophy Conference </a:t>
            </a:r>
          </a:p>
          <a:p>
            <a:r>
              <a:rPr lang="en-ES" sz="1600" dirty="0">
                <a:solidFill>
                  <a:schemeClr val="tx1"/>
                </a:solidFill>
                <a:latin typeface="Bookman Old Style" panose="02050604050505020204" pitchFamily="18" charset="0"/>
              </a:rPr>
              <a:t>University of Cagliari, </a:t>
            </a:r>
          </a:p>
          <a:p>
            <a:r>
              <a:rPr lang="en-GB" sz="1600" dirty="0">
                <a:solidFill>
                  <a:schemeClr val="tx1"/>
                </a:solidFill>
                <a:latin typeface="Bookman Old Style" panose="02050604050505020204" pitchFamily="18" charset="0"/>
              </a:rPr>
              <a:t>September 8–11, 2026</a:t>
            </a:r>
            <a:endParaRPr lang="en-ES" sz="1600" dirty="0">
              <a:solidFill>
                <a:schemeClr val="tx1"/>
              </a:solidFill>
              <a:latin typeface="Bookman Old Style" panose="02050604050505020204" pitchFamily="18" charset="0"/>
            </a:endParaRPr>
          </a:p>
        </p:txBody>
      </p:sp>
      <p:sp>
        <p:nvSpPr>
          <p:cNvPr id="10" name="Rectangle 9">
            <a:extLst>
              <a:ext uri="{FF2B5EF4-FFF2-40B4-BE49-F238E27FC236}">
                <a16:creationId xmlns:a16="http://schemas.microsoft.com/office/drawing/2014/main" id="{F1DC09C4-70F8-F66F-B241-D9CFDA40D0E9}"/>
              </a:ext>
            </a:extLst>
          </p:cNvPr>
          <p:cNvSpPr/>
          <p:nvPr/>
        </p:nvSpPr>
        <p:spPr>
          <a:xfrm>
            <a:off x="6522180" y="6092456"/>
            <a:ext cx="4788549" cy="8214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9" name="Picture 8" descr="Convocatoria 2024 de becas Leonardo a Investigadores y Creadores Culturales">
            <a:extLst>
              <a:ext uri="{FF2B5EF4-FFF2-40B4-BE49-F238E27FC236}">
                <a16:creationId xmlns:a16="http://schemas.microsoft.com/office/drawing/2014/main" id="{0E6DDBA2-3DA4-1A96-DDD2-F5AD1DA54390}"/>
              </a:ext>
            </a:extLst>
          </p:cNvPr>
          <p:cNvPicPr>
            <a:picLocks noChangeAspect="1"/>
          </p:cNvPicPr>
          <p:nvPr/>
        </p:nvPicPr>
        <p:blipFill>
          <a:blip r:embed="rId5"/>
          <a:stretch>
            <a:fillRect/>
          </a:stretch>
        </p:blipFill>
        <p:spPr>
          <a:xfrm>
            <a:off x="6993782" y="6135462"/>
            <a:ext cx="2225158" cy="704054"/>
          </a:xfrm>
          <a:prstGeom prst="rect">
            <a:avLst/>
          </a:prstGeom>
        </p:spPr>
      </p:pic>
      <p:pic>
        <p:nvPicPr>
          <p:cNvPr id="5" name="Picture 4" descr="https://encrypted-tbn0.gstatic.com/images?q=tbn:ANd9GcQzhU5-nMKqO5ICUtJ4clwKMECMH77j5h_CAH__j7Z6kyVJeSpiIYcUmcc&amp;s=10">
            <a:extLst>
              <a:ext uri="{FF2B5EF4-FFF2-40B4-BE49-F238E27FC236}">
                <a16:creationId xmlns:a16="http://schemas.microsoft.com/office/drawing/2014/main" id="{C29B6637-4700-B7C9-806F-96757896D0D1}"/>
              </a:ext>
            </a:extLst>
          </p:cNvPr>
          <p:cNvPicPr>
            <a:picLocks noChangeAspect="1"/>
          </p:cNvPicPr>
          <p:nvPr/>
        </p:nvPicPr>
        <p:blipFill>
          <a:blip r:embed="rId6"/>
          <a:srcRect t="5882"/>
          <a:stretch>
            <a:fillRect/>
          </a:stretch>
        </p:blipFill>
        <p:spPr>
          <a:xfrm>
            <a:off x="9500592" y="6087139"/>
            <a:ext cx="1540050" cy="821492"/>
          </a:xfrm>
          <a:prstGeom prst="rect">
            <a:avLst/>
          </a:prstGeom>
        </p:spPr>
      </p:pic>
    </p:spTree>
    <p:extLst>
      <p:ext uri="{BB962C8B-B14F-4D97-AF65-F5344CB8AC3E}">
        <p14:creationId xmlns:p14="http://schemas.microsoft.com/office/powerpoint/2010/main" val="4275809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92F4C2-0B29-884A-0736-6B445ED12E95}"/>
              </a:ext>
            </a:extLst>
          </p:cNvPr>
          <p:cNvPicPr>
            <a:picLocks noChangeAspect="1"/>
          </p:cNvPicPr>
          <p:nvPr/>
        </p:nvPicPr>
        <p:blipFill>
          <a:blip r:embed="rId2"/>
          <a:stretch>
            <a:fillRect/>
          </a:stretch>
        </p:blipFill>
        <p:spPr>
          <a:xfrm>
            <a:off x="2320206" y="410923"/>
            <a:ext cx="7551587" cy="6036153"/>
          </a:xfrm>
          <a:prstGeom prst="rect">
            <a:avLst/>
          </a:prstGeom>
        </p:spPr>
      </p:pic>
    </p:spTree>
    <p:extLst>
      <p:ext uri="{BB962C8B-B14F-4D97-AF65-F5344CB8AC3E}">
        <p14:creationId xmlns:p14="http://schemas.microsoft.com/office/powerpoint/2010/main" val="2268125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8DC7C7-CAF7-E3AE-2577-3645EA69E540}"/>
              </a:ext>
            </a:extLst>
          </p:cNvPr>
          <p:cNvPicPr>
            <a:picLocks noChangeAspect="1"/>
          </p:cNvPicPr>
          <p:nvPr/>
        </p:nvPicPr>
        <p:blipFill>
          <a:blip r:embed="rId2"/>
          <a:stretch>
            <a:fillRect/>
          </a:stretch>
        </p:blipFill>
        <p:spPr>
          <a:xfrm>
            <a:off x="2501921" y="344031"/>
            <a:ext cx="7188158" cy="5990131"/>
          </a:xfrm>
          <a:prstGeom prst="rect">
            <a:avLst/>
          </a:prstGeom>
        </p:spPr>
      </p:pic>
    </p:spTree>
    <p:extLst>
      <p:ext uri="{BB962C8B-B14F-4D97-AF65-F5344CB8AC3E}">
        <p14:creationId xmlns:p14="http://schemas.microsoft.com/office/powerpoint/2010/main" val="90126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171C-C3B9-EB90-D1DD-AE14F1A432D8}"/>
              </a:ext>
            </a:extLst>
          </p:cNvPr>
          <p:cNvSpPr>
            <a:spLocks noGrp="1"/>
          </p:cNvSpPr>
          <p:nvPr>
            <p:ph type="title"/>
          </p:nvPr>
        </p:nvSpPr>
        <p:spPr/>
        <p:txBody>
          <a:bodyPr/>
          <a:lstStyle/>
          <a:p>
            <a:r>
              <a:rPr lang="en-ES" dirty="0"/>
              <a:t>Trial-Level Analyses</a:t>
            </a:r>
          </a:p>
        </p:txBody>
      </p:sp>
      <p:sp>
        <p:nvSpPr>
          <p:cNvPr id="4" name="TextBox 3">
            <a:extLst>
              <a:ext uri="{FF2B5EF4-FFF2-40B4-BE49-F238E27FC236}">
                <a16:creationId xmlns:a16="http://schemas.microsoft.com/office/drawing/2014/main" id="{93F84A0B-F37B-4876-0EEA-F1100B52EF11}"/>
              </a:ext>
            </a:extLst>
          </p:cNvPr>
          <p:cNvSpPr txBox="1"/>
          <p:nvPr/>
        </p:nvSpPr>
        <p:spPr>
          <a:xfrm>
            <a:off x="8259252" y="2276231"/>
            <a:ext cx="2069301" cy="369332"/>
          </a:xfrm>
          <a:prstGeom prst="rect">
            <a:avLst/>
          </a:prstGeom>
          <a:noFill/>
        </p:spPr>
        <p:txBody>
          <a:bodyPr wrap="square">
            <a:spAutoFit/>
          </a:bodyPr>
          <a:lstStyle/>
          <a:p>
            <a:pPr marL="342900" indent="-342900">
              <a:buAutoNum type="arabicParenR"/>
            </a:pPr>
            <a:r>
              <a:rPr lang="en-ES" dirty="0"/>
              <a:t>Reaction time</a:t>
            </a:r>
          </a:p>
        </p:txBody>
      </p:sp>
      <p:pic>
        <p:nvPicPr>
          <p:cNvPr id="5" name="Picture 4">
            <a:extLst>
              <a:ext uri="{FF2B5EF4-FFF2-40B4-BE49-F238E27FC236}">
                <a16:creationId xmlns:a16="http://schemas.microsoft.com/office/drawing/2014/main" id="{83F65745-07DF-D854-28BF-8313CD99621B}"/>
              </a:ext>
            </a:extLst>
          </p:cNvPr>
          <p:cNvPicPr>
            <a:picLocks noChangeAspect="1"/>
          </p:cNvPicPr>
          <p:nvPr/>
        </p:nvPicPr>
        <p:blipFill>
          <a:blip r:embed="rId2"/>
          <a:stretch>
            <a:fillRect/>
          </a:stretch>
        </p:blipFill>
        <p:spPr>
          <a:xfrm>
            <a:off x="3723771" y="1284559"/>
            <a:ext cx="4445000" cy="4445000"/>
          </a:xfrm>
          <a:prstGeom prst="rect">
            <a:avLst/>
          </a:prstGeom>
        </p:spPr>
      </p:pic>
      <p:sp>
        <p:nvSpPr>
          <p:cNvPr id="19" name="Rectangle 18">
            <a:extLst>
              <a:ext uri="{FF2B5EF4-FFF2-40B4-BE49-F238E27FC236}">
                <a16:creationId xmlns:a16="http://schemas.microsoft.com/office/drawing/2014/main" id="{C0216988-9C6C-DD10-8EF9-FED5D8203D78}"/>
              </a:ext>
            </a:extLst>
          </p:cNvPr>
          <p:cNvSpPr/>
          <p:nvPr/>
        </p:nvSpPr>
        <p:spPr>
          <a:xfrm>
            <a:off x="4346263"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0" name="Rectangle 19">
            <a:extLst>
              <a:ext uri="{FF2B5EF4-FFF2-40B4-BE49-F238E27FC236}">
                <a16:creationId xmlns:a16="http://schemas.microsoft.com/office/drawing/2014/main" id="{4AC873CC-B3A4-A80A-8A73-9634B0905A74}"/>
              </a:ext>
            </a:extLst>
          </p:cNvPr>
          <p:cNvSpPr/>
          <p:nvPr/>
        </p:nvSpPr>
        <p:spPr>
          <a:xfrm>
            <a:off x="5141933" y="5282617"/>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1" name="Rectangle 20">
            <a:extLst>
              <a:ext uri="{FF2B5EF4-FFF2-40B4-BE49-F238E27FC236}">
                <a16:creationId xmlns:a16="http://schemas.microsoft.com/office/drawing/2014/main" id="{05A14F63-CABF-49EE-0D24-26868BDD2E42}"/>
              </a:ext>
            </a:extLst>
          </p:cNvPr>
          <p:cNvSpPr/>
          <p:nvPr/>
        </p:nvSpPr>
        <p:spPr>
          <a:xfrm>
            <a:off x="5926971"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2" name="Rectangle 21">
            <a:extLst>
              <a:ext uri="{FF2B5EF4-FFF2-40B4-BE49-F238E27FC236}">
                <a16:creationId xmlns:a16="http://schemas.microsoft.com/office/drawing/2014/main" id="{7C66B30E-5FA5-D84E-D7A7-AFE63381424E}"/>
              </a:ext>
            </a:extLst>
          </p:cNvPr>
          <p:cNvSpPr/>
          <p:nvPr/>
        </p:nvSpPr>
        <p:spPr>
          <a:xfrm>
            <a:off x="6717871" y="5281219"/>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Tree>
    <p:extLst>
      <p:ext uri="{BB962C8B-B14F-4D97-AF65-F5344CB8AC3E}">
        <p14:creationId xmlns:p14="http://schemas.microsoft.com/office/powerpoint/2010/main" val="11934827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6F240-D58C-6D0F-167A-568CC0F1E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6B543-C0AA-5192-0384-2D834510A8C4}"/>
              </a:ext>
            </a:extLst>
          </p:cNvPr>
          <p:cNvSpPr>
            <a:spLocks noGrp="1"/>
          </p:cNvSpPr>
          <p:nvPr>
            <p:ph type="title"/>
          </p:nvPr>
        </p:nvSpPr>
        <p:spPr/>
        <p:txBody>
          <a:bodyPr/>
          <a:lstStyle/>
          <a:p>
            <a:r>
              <a:rPr lang="en-ES" dirty="0"/>
              <a:t>Trial-Level Analyses</a:t>
            </a:r>
          </a:p>
        </p:txBody>
      </p:sp>
      <p:sp>
        <p:nvSpPr>
          <p:cNvPr id="4" name="TextBox 3">
            <a:extLst>
              <a:ext uri="{FF2B5EF4-FFF2-40B4-BE49-F238E27FC236}">
                <a16:creationId xmlns:a16="http://schemas.microsoft.com/office/drawing/2014/main" id="{4BAD9338-52E3-7EC9-2C88-718E6CEE2842}"/>
              </a:ext>
            </a:extLst>
          </p:cNvPr>
          <p:cNvSpPr txBox="1"/>
          <p:nvPr/>
        </p:nvSpPr>
        <p:spPr>
          <a:xfrm>
            <a:off x="8259252" y="2276232"/>
            <a:ext cx="2069301" cy="2031325"/>
          </a:xfrm>
          <a:prstGeom prst="rect">
            <a:avLst/>
          </a:prstGeom>
          <a:noFill/>
        </p:spPr>
        <p:txBody>
          <a:bodyPr wrap="square">
            <a:spAutoFit/>
          </a:bodyPr>
          <a:lstStyle/>
          <a:p>
            <a:pPr marL="342900" indent="-342900">
              <a:buAutoNum type="arabicParenR"/>
            </a:pPr>
            <a:r>
              <a:rPr lang="en-ES" dirty="0"/>
              <a:t>Reaction time</a:t>
            </a:r>
          </a:p>
          <a:p>
            <a:pPr marL="342900" indent="-342900">
              <a:buAutoNum type="arabicParenR"/>
            </a:pPr>
            <a:endParaRPr lang="en-ES" dirty="0"/>
          </a:p>
          <a:p>
            <a:pPr marL="342900" indent="-342900">
              <a:buAutoNum type="arabicParenR"/>
            </a:pPr>
            <a:r>
              <a:rPr lang="en-ES" dirty="0"/>
              <a:t>Maximum absolute deviation (MAD)</a:t>
            </a:r>
          </a:p>
          <a:p>
            <a:pPr marL="342900" indent="-342900">
              <a:buAutoNum type="arabicParenR"/>
            </a:pPr>
            <a:endParaRPr lang="en-ES" dirty="0"/>
          </a:p>
        </p:txBody>
      </p:sp>
      <p:pic>
        <p:nvPicPr>
          <p:cNvPr id="5" name="Picture 4">
            <a:extLst>
              <a:ext uri="{FF2B5EF4-FFF2-40B4-BE49-F238E27FC236}">
                <a16:creationId xmlns:a16="http://schemas.microsoft.com/office/drawing/2014/main" id="{93451D16-E353-4CCF-3F12-5C9F625043D6}"/>
              </a:ext>
            </a:extLst>
          </p:cNvPr>
          <p:cNvPicPr>
            <a:picLocks noChangeAspect="1"/>
          </p:cNvPicPr>
          <p:nvPr/>
        </p:nvPicPr>
        <p:blipFill>
          <a:blip r:embed="rId2"/>
          <a:stretch>
            <a:fillRect/>
          </a:stretch>
        </p:blipFill>
        <p:spPr>
          <a:xfrm>
            <a:off x="3723771" y="1284559"/>
            <a:ext cx="4445000" cy="4445000"/>
          </a:xfrm>
          <a:prstGeom prst="rect">
            <a:avLst/>
          </a:prstGeom>
        </p:spPr>
      </p:pic>
      <p:sp>
        <p:nvSpPr>
          <p:cNvPr id="19" name="Rectangle 18">
            <a:extLst>
              <a:ext uri="{FF2B5EF4-FFF2-40B4-BE49-F238E27FC236}">
                <a16:creationId xmlns:a16="http://schemas.microsoft.com/office/drawing/2014/main" id="{A3130287-2E0E-B515-773A-B4F0213661CC}"/>
              </a:ext>
            </a:extLst>
          </p:cNvPr>
          <p:cNvSpPr/>
          <p:nvPr/>
        </p:nvSpPr>
        <p:spPr>
          <a:xfrm>
            <a:off x="4346263"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0" name="Rectangle 19">
            <a:extLst>
              <a:ext uri="{FF2B5EF4-FFF2-40B4-BE49-F238E27FC236}">
                <a16:creationId xmlns:a16="http://schemas.microsoft.com/office/drawing/2014/main" id="{69497C15-517E-D806-AC15-5FCCE2F7282D}"/>
              </a:ext>
            </a:extLst>
          </p:cNvPr>
          <p:cNvSpPr/>
          <p:nvPr/>
        </p:nvSpPr>
        <p:spPr>
          <a:xfrm>
            <a:off x="5141933" y="5282617"/>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1" name="Rectangle 20">
            <a:extLst>
              <a:ext uri="{FF2B5EF4-FFF2-40B4-BE49-F238E27FC236}">
                <a16:creationId xmlns:a16="http://schemas.microsoft.com/office/drawing/2014/main" id="{6D679618-5712-7B33-563F-2348919AF584}"/>
              </a:ext>
            </a:extLst>
          </p:cNvPr>
          <p:cNvSpPr/>
          <p:nvPr/>
        </p:nvSpPr>
        <p:spPr>
          <a:xfrm>
            <a:off x="5926971"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2" name="Rectangle 21">
            <a:extLst>
              <a:ext uri="{FF2B5EF4-FFF2-40B4-BE49-F238E27FC236}">
                <a16:creationId xmlns:a16="http://schemas.microsoft.com/office/drawing/2014/main" id="{A1A4CCF9-69FB-FFA3-213F-C50C2CAEB4E7}"/>
              </a:ext>
            </a:extLst>
          </p:cNvPr>
          <p:cNvSpPr/>
          <p:nvPr/>
        </p:nvSpPr>
        <p:spPr>
          <a:xfrm>
            <a:off x="6717871" y="5281219"/>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cxnSp>
        <p:nvCxnSpPr>
          <p:cNvPr id="42" name="Straight Connector 41">
            <a:extLst>
              <a:ext uri="{FF2B5EF4-FFF2-40B4-BE49-F238E27FC236}">
                <a16:creationId xmlns:a16="http://schemas.microsoft.com/office/drawing/2014/main" id="{9E8FB43F-21E4-AC00-4252-F03DB9C67DA5}"/>
              </a:ext>
            </a:extLst>
          </p:cNvPr>
          <p:cNvCxnSpPr>
            <a:cxnSpLocks/>
          </p:cNvCxnSpPr>
          <p:nvPr/>
        </p:nvCxnSpPr>
        <p:spPr>
          <a:xfrm flipH="1" flipV="1">
            <a:off x="4448269" y="1846907"/>
            <a:ext cx="3358836" cy="3313568"/>
          </a:xfrm>
          <a:prstGeom prst="line">
            <a:avLst/>
          </a:prstGeom>
          <a:ln>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060E05C1-37C4-894F-6106-6ED631472AEA}"/>
              </a:ext>
            </a:extLst>
          </p:cNvPr>
          <p:cNvCxnSpPr>
            <a:cxnSpLocks/>
          </p:cNvCxnSpPr>
          <p:nvPr/>
        </p:nvCxnSpPr>
        <p:spPr>
          <a:xfrm flipV="1">
            <a:off x="6462890" y="2957689"/>
            <a:ext cx="874889" cy="841022"/>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648334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4AB9-DACA-77E3-8D78-5AC541484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3697A-3012-BDAA-E146-8A6C64F48D31}"/>
              </a:ext>
            </a:extLst>
          </p:cNvPr>
          <p:cNvSpPr>
            <a:spLocks noGrp="1"/>
          </p:cNvSpPr>
          <p:nvPr>
            <p:ph type="title"/>
          </p:nvPr>
        </p:nvSpPr>
        <p:spPr/>
        <p:txBody>
          <a:bodyPr/>
          <a:lstStyle/>
          <a:p>
            <a:r>
              <a:rPr lang="en-ES" dirty="0"/>
              <a:t>Trial-Level Analyses</a:t>
            </a:r>
          </a:p>
        </p:txBody>
      </p:sp>
      <p:sp>
        <p:nvSpPr>
          <p:cNvPr id="4" name="TextBox 3">
            <a:extLst>
              <a:ext uri="{FF2B5EF4-FFF2-40B4-BE49-F238E27FC236}">
                <a16:creationId xmlns:a16="http://schemas.microsoft.com/office/drawing/2014/main" id="{9AE4471E-61E0-B5A1-51E5-0C911D9F2930}"/>
              </a:ext>
            </a:extLst>
          </p:cNvPr>
          <p:cNvSpPr txBox="1"/>
          <p:nvPr/>
        </p:nvSpPr>
        <p:spPr>
          <a:xfrm>
            <a:off x="8259252" y="2276232"/>
            <a:ext cx="2069301" cy="2585323"/>
          </a:xfrm>
          <a:prstGeom prst="rect">
            <a:avLst/>
          </a:prstGeom>
          <a:noFill/>
        </p:spPr>
        <p:txBody>
          <a:bodyPr wrap="square">
            <a:spAutoFit/>
          </a:bodyPr>
          <a:lstStyle/>
          <a:p>
            <a:pPr marL="342900" indent="-342900">
              <a:buAutoNum type="arabicParenR"/>
            </a:pPr>
            <a:r>
              <a:rPr lang="en-ES" dirty="0"/>
              <a:t>Reaction time</a:t>
            </a:r>
          </a:p>
          <a:p>
            <a:pPr marL="342900" indent="-342900">
              <a:buAutoNum type="arabicParenR"/>
            </a:pPr>
            <a:endParaRPr lang="en-ES" dirty="0"/>
          </a:p>
          <a:p>
            <a:pPr marL="342900" indent="-342900">
              <a:buAutoNum type="arabicParenR"/>
            </a:pPr>
            <a:r>
              <a:rPr lang="en-ES" dirty="0"/>
              <a:t>Maximum absolute deviation (MAD)</a:t>
            </a:r>
          </a:p>
          <a:p>
            <a:pPr marL="342900" indent="-342900">
              <a:buAutoNum type="arabicParenR"/>
            </a:pPr>
            <a:endParaRPr lang="en-ES" dirty="0"/>
          </a:p>
          <a:p>
            <a:pPr marL="342900" indent="-342900">
              <a:buAutoNum type="arabicParenR"/>
            </a:pPr>
            <a:r>
              <a:rPr lang="en-ES" dirty="0"/>
              <a:t>Area under the curve (AUC)</a:t>
            </a:r>
          </a:p>
        </p:txBody>
      </p:sp>
      <p:pic>
        <p:nvPicPr>
          <p:cNvPr id="5" name="Picture 4">
            <a:extLst>
              <a:ext uri="{FF2B5EF4-FFF2-40B4-BE49-F238E27FC236}">
                <a16:creationId xmlns:a16="http://schemas.microsoft.com/office/drawing/2014/main" id="{944B955B-31D6-EEF1-C649-DC68AC3DC1CE}"/>
              </a:ext>
            </a:extLst>
          </p:cNvPr>
          <p:cNvPicPr>
            <a:picLocks noChangeAspect="1"/>
          </p:cNvPicPr>
          <p:nvPr/>
        </p:nvPicPr>
        <p:blipFill>
          <a:blip r:embed="rId2"/>
          <a:stretch>
            <a:fillRect/>
          </a:stretch>
        </p:blipFill>
        <p:spPr>
          <a:xfrm>
            <a:off x="3723771" y="1284559"/>
            <a:ext cx="4445000" cy="4445000"/>
          </a:xfrm>
          <a:prstGeom prst="rect">
            <a:avLst/>
          </a:prstGeom>
        </p:spPr>
      </p:pic>
      <p:sp>
        <p:nvSpPr>
          <p:cNvPr id="19" name="Rectangle 18">
            <a:extLst>
              <a:ext uri="{FF2B5EF4-FFF2-40B4-BE49-F238E27FC236}">
                <a16:creationId xmlns:a16="http://schemas.microsoft.com/office/drawing/2014/main" id="{22D4AE19-8550-917E-1A84-B877EA18D43F}"/>
              </a:ext>
            </a:extLst>
          </p:cNvPr>
          <p:cNvSpPr/>
          <p:nvPr/>
        </p:nvSpPr>
        <p:spPr>
          <a:xfrm>
            <a:off x="4346263"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0" name="Rectangle 19">
            <a:extLst>
              <a:ext uri="{FF2B5EF4-FFF2-40B4-BE49-F238E27FC236}">
                <a16:creationId xmlns:a16="http://schemas.microsoft.com/office/drawing/2014/main" id="{891FC5E6-FADF-A103-9215-0AD4D455E733}"/>
              </a:ext>
            </a:extLst>
          </p:cNvPr>
          <p:cNvSpPr/>
          <p:nvPr/>
        </p:nvSpPr>
        <p:spPr>
          <a:xfrm>
            <a:off x="5141933" y="5282617"/>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1" name="Rectangle 20">
            <a:extLst>
              <a:ext uri="{FF2B5EF4-FFF2-40B4-BE49-F238E27FC236}">
                <a16:creationId xmlns:a16="http://schemas.microsoft.com/office/drawing/2014/main" id="{9F688892-BD65-1C3A-8766-45BE3521AFA6}"/>
              </a:ext>
            </a:extLst>
          </p:cNvPr>
          <p:cNvSpPr/>
          <p:nvPr/>
        </p:nvSpPr>
        <p:spPr>
          <a:xfrm>
            <a:off x="5926971" y="5277480"/>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sp>
        <p:nvSpPr>
          <p:cNvPr id="22" name="Rectangle 21">
            <a:extLst>
              <a:ext uri="{FF2B5EF4-FFF2-40B4-BE49-F238E27FC236}">
                <a16:creationId xmlns:a16="http://schemas.microsoft.com/office/drawing/2014/main" id="{F88EE11A-8253-5549-3859-BDEF6A98F5EC}"/>
              </a:ext>
            </a:extLst>
          </p:cNvPr>
          <p:cNvSpPr/>
          <p:nvPr/>
        </p:nvSpPr>
        <p:spPr>
          <a:xfrm>
            <a:off x="6717871" y="5281219"/>
            <a:ext cx="240323" cy="96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dirty="0"/>
          </a:p>
        </p:txBody>
      </p:sp>
      <p:cxnSp>
        <p:nvCxnSpPr>
          <p:cNvPr id="42" name="Straight Connector 41">
            <a:extLst>
              <a:ext uri="{FF2B5EF4-FFF2-40B4-BE49-F238E27FC236}">
                <a16:creationId xmlns:a16="http://schemas.microsoft.com/office/drawing/2014/main" id="{600162FA-BB38-DB13-0060-6E5C789AD5B4}"/>
              </a:ext>
            </a:extLst>
          </p:cNvPr>
          <p:cNvCxnSpPr>
            <a:cxnSpLocks/>
          </p:cNvCxnSpPr>
          <p:nvPr/>
        </p:nvCxnSpPr>
        <p:spPr>
          <a:xfrm flipH="1" flipV="1">
            <a:off x="4448269" y="1846907"/>
            <a:ext cx="3358836" cy="3313568"/>
          </a:xfrm>
          <a:prstGeom prst="line">
            <a:avLst/>
          </a:prstGeom>
          <a:ln>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B846F30D-C306-8F01-297D-9557000E9C19}"/>
              </a:ext>
            </a:extLst>
          </p:cNvPr>
          <p:cNvSpPr/>
          <p:nvPr/>
        </p:nvSpPr>
        <p:spPr>
          <a:xfrm>
            <a:off x="4476045" y="1840091"/>
            <a:ext cx="3341511" cy="3313289"/>
          </a:xfrm>
          <a:custGeom>
            <a:avLst/>
            <a:gdLst>
              <a:gd name="csX0" fmla="*/ 0 w 3341511"/>
              <a:gd name="csY0" fmla="*/ 0 h 3313289"/>
              <a:gd name="csX1" fmla="*/ 3341511 w 3341511"/>
              <a:gd name="csY1" fmla="*/ 3313289 h 3313289"/>
              <a:gd name="csX2" fmla="*/ 3335867 w 3341511"/>
              <a:gd name="csY2" fmla="*/ 3268133 h 3313289"/>
              <a:gd name="csX3" fmla="*/ 3330222 w 3341511"/>
              <a:gd name="csY3" fmla="*/ 3160889 h 3313289"/>
              <a:gd name="csX4" fmla="*/ 3324578 w 3341511"/>
              <a:gd name="csY4" fmla="*/ 3132666 h 3313289"/>
              <a:gd name="csX5" fmla="*/ 3318933 w 3341511"/>
              <a:gd name="csY5" fmla="*/ 3093155 h 3313289"/>
              <a:gd name="csX6" fmla="*/ 3307644 w 3341511"/>
              <a:gd name="csY6" fmla="*/ 3002844 h 3313289"/>
              <a:gd name="csX7" fmla="*/ 3296356 w 3341511"/>
              <a:gd name="csY7" fmla="*/ 2946400 h 3313289"/>
              <a:gd name="csX8" fmla="*/ 3290711 w 3341511"/>
              <a:gd name="csY8" fmla="*/ 2918178 h 3313289"/>
              <a:gd name="csX9" fmla="*/ 3279422 w 3341511"/>
              <a:gd name="csY9" fmla="*/ 2810933 h 3313289"/>
              <a:gd name="csX10" fmla="*/ 3273778 w 3341511"/>
              <a:gd name="csY10" fmla="*/ 2681111 h 3313289"/>
              <a:gd name="csX11" fmla="*/ 3268133 w 3341511"/>
              <a:gd name="csY11" fmla="*/ 2647244 h 3313289"/>
              <a:gd name="csX12" fmla="*/ 3262489 w 3341511"/>
              <a:gd name="csY12" fmla="*/ 2596444 h 3313289"/>
              <a:gd name="csX13" fmla="*/ 3256844 w 3341511"/>
              <a:gd name="csY13" fmla="*/ 2568222 h 3313289"/>
              <a:gd name="csX14" fmla="*/ 3251200 w 3341511"/>
              <a:gd name="csY14" fmla="*/ 2528711 h 3313289"/>
              <a:gd name="csX15" fmla="*/ 3256844 w 3341511"/>
              <a:gd name="csY15" fmla="*/ 2466622 h 3313289"/>
              <a:gd name="csX16" fmla="*/ 3239911 w 3341511"/>
              <a:gd name="csY16" fmla="*/ 2404533 h 3313289"/>
              <a:gd name="csX17" fmla="*/ 3228622 w 3341511"/>
              <a:gd name="csY17" fmla="*/ 2218266 h 3313289"/>
              <a:gd name="csX18" fmla="*/ 3217333 w 3341511"/>
              <a:gd name="csY18" fmla="*/ 2173111 h 3313289"/>
              <a:gd name="csX19" fmla="*/ 3194756 w 3341511"/>
              <a:gd name="csY19" fmla="*/ 2043289 h 3313289"/>
              <a:gd name="csX20" fmla="*/ 3189111 w 3341511"/>
              <a:gd name="csY20" fmla="*/ 1958622 h 3313289"/>
              <a:gd name="csX21" fmla="*/ 3177822 w 3341511"/>
              <a:gd name="csY21" fmla="*/ 1936044 h 3313289"/>
              <a:gd name="csX22" fmla="*/ 3172178 w 3341511"/>
              <a:gd name="csY22" fmla="*/ 1913466 h 3313289"/>
              <a:gd name="csX23" fmla="*/ 3166533 w 3341511"/>
              <a:gd name="csY23" fmla="*/ 1896533 h 3313289"/>
              <a:gd name="csX24" fmla="*/ 3155244 w 3341511"/>
              <a:gd name="csY24" fmla="*/ 1845733 h 3313289"/>
              <a:gd name="csX25" fmla="*/ 3149600 w 3341511"/>
              <a:gd name="csY25" fmla="*/ 1823155 h 3313289"/>
              <a:gd name="csX26" fmla="*/ 3143956 w 3341511"/>
              <a:gd name="csY26" fmla="*/ 1761066 h 3313289"/>
              <a:gd name="csX27" fmla="*/ 3132667 w 3341511"/>
              <a:gd name="csY27" fmla="*/ 1727200 h 3313289"/>
              <a:gd name="csX28" fmla="*/ 3121378 w 3341511"/>
              <a:gd name="csY28" fmla="*/ 1693333 h 3313289"/>
              <a:gd name="csX29" fmla="*/ 3115733 w 3341511"/>
              <a:gd name="csY29" fmla="*/ 1670755 h 3313289"/>
              <a:gd name="csX30" fmla="*/ 3110089 w 3341511"/>
              <a:gd name="csY30" fmla="*/ 1653822 h 3313289"/>
              <a:gd name="csX31" fmla="*/ 3098800 w 3341511"/>
              <a:gd name="csY31" fmla="*/ 1569155 h 3313289"/>
              <a:gd name="csX32" fmla="*/ 3087511 w 3341511"/>
              <a:gd name="csY32" fmla="*/ 1535289 h 3313289"/>
              <a:gd name="csX33" fmla="*/ 3081867 w 3341511"/>
              <a:gd name="csY33" fmla="*/ 1518355 h 3313289"/>
              <a:gd name="csX34" fmla="*/ 3076222 w 3341511"/>
              <a:gd name="csY34" fmla="*/ 1501422 h 3313289"/>
              <a:gd name="csX35" fmla="*/ 3064933 w 3341511"/>
              <a:gd name="csY35" fmla="*/ 1461911 h 3313289"/>
              <a:gd name="csX36" fmla="*/ 3036711 w 3341511"/>
              <a:gd name="csY36" fmla="*/ 1382889 h 3313289"/>
              <a:gd name="csX37" fmla="*/ 3025422 w 3341511"/>
              <a:gd name="csY37" fmla="*/ 1365955 h 3313289"/>
              <a:gd name="csX38" fmla="*/ 3014133 w 3341511"/>
              <a:gd name="csY38" fmla="*/ 1349022 h 3313289"/>
              <a:gd name="csX39" fmla="*/ 3002844 w 3341511"/>
              <a:gd name="csY39" fmla="*/ 1315155 h 3313289"/>
              <a:gd name="csX40" fmla="*/ 2997200 w 3341511"/>
              <a:gd name="csY40" fmla="*/ 1298222 h 3313289"/>
              <a:gd name="csX41" fmla="*/ 2985911 w 3341511"/>
              <a:gd name="csY41" fmla="*/ 1281289 h 3313289"/>
              <a:gd name="csX42" fmla="*/ 2974622 w 3341511"/>
              <a:gd name="csY42" fmla="*/ 1247422 h 3313289"/>
              <a:gd name="csX43" fmla="*/ 2935111 w 3341511"/>
              <a:gd name="csY43" fmla="*/ 1196622 h 3313289"/>
              <a:gd name="csX44" fmla="*/ 2923822 w 3341511"/>
              <a:gd name="csY44" fmla="*/ 1179689 h 3313289"/>
              <a:gd name="csX45" fmla="*/ 2889956 w 3341511"/>
              <a:gd name="csY45" fmla="*/ 1157111 h 3313289"/>
              <a:gd name="csX46" fmla="*/ 2873022 w 3341511"/>
              <a:gd name="csY46" fmla="*/ 1145822 h 3313289"/>
              <a:gd name="csX47" fmla="*/ 2844800 w 3341511"/>
              <a:gd name="csY47" fmla="*/ 1117600 h 3313289"/>
              <a:gd name="csX48" fmla="*/ 2810933 w 3341511"/>
              <a:gd name="csY48" fmla="*/ 1083733 h 3313289"/>
              <a:gd name="csX49" fmla="*/ 2794000 w 3341511"/>
              <a:gd name="csY49" fmla="*/ 1066800 h 3313289"/>
              <a:gd name="csX50" fmla="*/ 2760133 w 3341511"/>
              <a:gd name="csY50" fmla="*/ 1044222 h 3313289"/>
              <a:gd name="csX51" fmla="*/ 2703689 w 3341511"/>
              <a:gd name="csY51" fmla="*/ 1010355 h 3313289"/>
              <a:gd name="csX52" fmla="*/ 2686756 w 3341511"/>
              <a:gd name="csY52" fmla="*/ 993422 h 3313289"/>
              <a:gd name="csX53" fmla="*/ 2641600 w 3341511"/>
              <a:gd name="csY53" fmla="*/ 953911 h 3313289"/>
              <a:gd name="csX54" fmla="*/ 2590800 w 3341511"/>
              <a:gd name="csY54" fmla="*/ 936978 h 3313289"/>
              <a:gd name="csX55" fmla="*/ 2573867 w 3341511"/>
              <a:gd name="csY55" fmla="*/ 931333 h 3313289"/>
              <a:gd name="csX56" fmla="*/ 2517422 w 3341511"/>
              <a:gd name="csY56" fmla="*/ 903111 h 3313289"/>
              <a:gd name="csX57" fmla="*/ 2483556 w 3341511"/>
              <a:gd name="csY57" fmla="*/ 874889 h 3313289"/>
              <a:gd name="csX58" fmla="*/ 2449689 w 3341511"/>
              <a:gd name="csY58" fmla="*/ 852311 h 3313289"/>
              <a:gd name="csX59" fmla="*/ 2415822 w 3341511"/>
              <a:gd name="csY59" fmla="*/ 829733 h 3313289"/>
              <a:gd name="csX60" fmla="*/ 2365022 w 3341511"/>
              <a:gd name="csY60" fmla="*/ 807155 h 3313289"/>
              <a:gd name="csX61" fmla="*/ 2348089 w 3341511"/>
              <a:gd name="csY61" fmla="*/ 801511 h 3313289"/>
              <a:gd name="csX62" fmla="*/ 2291644 w 3341511"/>
              <a:gd name="csY62" fmla="*/ 790222 h 3313289"/>
              <a:gd name="csX63" fmla="*/ 2240844 w 3341511"/>
              <a:gd name="csY63" fmla="*/ 773289 h 3313289"/>
              <a:gd name="csX64" fmla="*/ 2223911 w 3341511"/>
              <a:gd name="csY64" fmla="*/ 767644 h 3313289"/>
              <a:gd name="csX65" fmla="*/ 2206978 w 3341511"/>
              <a:gd name="csY65" fmla="*/ 756355 h 3313289"/>
              <a:gd name="csX66" fmla="*/ 2173111 w 3341511"/>
              <a:gd name="csY66" fmla="*/ 745066 h 3313289"/>
              <a:gd name="csX67" fmla="*/ 2156178 w 3341511"/>
              <a:gd name="csY67" fmla="*/ 739422 h 3313289"/>
              <a:gd name="csX68" fmla="*/ 2105378 w 3341511"/>
              <a:gd name="csY68" fmla="*/ 705555 h 3313289"/>
              <a:gd name="csX69" fmla="*/ 2088444 w 3341511"/>
              <a:gd name="csY69" fmla="*/ 694266 h 3313289"/>
              <a:gd name="csX70" fmla="*/ 2037644 w 3341511"/>
              <a:gd name="csY70" fmla="*/ 677333 h 3313289"/>
              <a:gd name="csX71" fmla="*/ 2020711 w 3341511"/>
              <a:gd name="csY71" fmla="*/ 671689 h 3313289"/>
              <a:gd name="csX72" fmla="*/ 1975556 w 3341511"/>
              <a:gd name="csY72" fmla="*/ 666044 h 3313289"/>
              <a:gd name="csX73" fmla="*/ 1958622 w 3341511"/>
              <a:gd name="csY73" fmla="*/ 654755 h 3313289"/>
              <a:gd name="csX74" fmla="*/ 1919111 w 3341511"/>
              <a:gd name="csY74" fmla="*/ 643466 h 3313289"/>
              <a:gd name="csX75" fmla="*/ 1902178 w 3341511"/>
              <a:gd name="csY75" fmla="*/ 632178 h 3313289"/>
              <a:gd name="csX76" fmla="*/ 1868311 w 3341511"/>
              <a:gd name="csY76" fmla="*/ 620889 h 3313289"/>
              <a:gd name="csX77" fmla="*/ 1834444 w 3341511"/>
              <a:gd name="csY77" fmla="*/ 609600 h 3313289"/>
              <a:gd name="csX78" fmla="*/ 1783644 w 3341511"/>
              <a:gd name="csY78" fmla="*/ 592666 h 3313289"/>
              <a:gd name="csX79" fmla="*/ 1766711 w 3341511"/>
              <a:gd name="csY79" fmla="*/ 587022 h 3313289"/>
              <a:gd name="csX80" fmla="*/ 1749778 w 3341511"/>
              <a:gd name="csY80" fmla="*/ 581378 h 3313289"/>
              <a:gd name="csX81" fmla="*/ 1710267 w 3341511"/>
              <a:gd name="csY81" fmla="*/ 575733 h 3313289"/>
              <a:gd name="csX82" fmla="*/ 1659467 w 3341511"/>
              <a:gd name="csY82" fmla="*/ 541866 h 3313289"/>
              <a:gd name="csX83" fmla="*/ 1642533 w 3341511"/>
              <a:gd name="csY83" fmla="*/ 530578 h 3313289"/>
              <a:gd name="csX84" fmla="*/ 1625600 w 3341511"/>
              <a:gd name="csY84" fmla="*/ 524933 h 3313289"/>
              <a:gd name="csX85" fmla="*/ 1591733 w 3341511"/>
              <a:gd name="csY85" fmla="*/ 508000 h 3313289"/>
              <a:gd name="csX86" fmla="*/ 1574800 w 3341511"/>
              <a:gd name="csY86" fmla="*/ 496711 h 3313289"/>
              <a:gd name="csX87" fmla="*/ 1512711 w 3341511"/>
              <a:gd name="csY87" fmla="*/ 485422 h 3313289"/>
              <a:gd name="csX88" fmla="*/ 1478844 w 3341511"/>
              <a:gd name="csY88" fmla="*/ 468489 h 3313289"/>
              <a:gd name="csX89" fmla="*/ 1461911 w 3341511"/>
              <a:gd name="csY89" fmla="*/ 462844 h 3313289"/>
              <a:gd name="csX90" fmla="*/ 1444978 w 3341511"/>
              <a:gd name="csY90" fmla="*/ 451555 h 3313289"/>
              <a:gd name="csX91" fmla="*/ 1411111 w 3341511"/>
              <a:gd name="csY91" fmla="*/ 440266 h 3313289"/>
              <a:gd name="csX92" fmla="*/ 1394178 w 3341511"/>
              <a:gd name="csY92" fmla="*/ 434622 h 3313289"/>
              <a:gd name="csX93" fmla="*/ 1377244 w 3341511"/>
              <a:gd name="csY93" fmla="*/ 428978 h 3313289"/>
              <a:gd name="csX94" fmla="*/ 1360311 w 3341511"/>
              <a:gd name="csY94" fmla="*/ 417689 h 3313289"/>
              <a:gd name="csX95" fmla="*/ 1326444 w 3341511"/>
              <a:gd name="csY95" fmla="*/ 406400 h 3313289"/>
              <a:gd name="csX96" fmla="*/ 1309511 w 3341511"/>
              <a:gd name="csY96" fmla="*/ 400755 h 3313289"/>
              <a:gd name="csX97" fmla="*/ 1292578 w 3341511"/>
              <a:gd name="csY97" fmla="*/ 395111 h 3313289"/>
              <a:gd name="csX98" fmla="*/ 1275644 w 3341511"/>
              <a:gd name="csY98" fmla="*/ 389466 h 3313289"/>
              <a:gd name="csX99" fmla="*/ 1241778 w 3341511"/>
              <a:gd name="csY99" fmla="*/ 366889 h 3313289"/>
              <a:gd name="csX100" fmla="*/ 1196622 w 3341511"/>
              <a:gd name="csY100" fmla="*/ 333022 h 3313289"/>
              <a:gd name="csX101" fmla="*/ 1157111 w 3341511"/>
              <a:gd name="csY101" fmla="*/ 310444 h 3313289"/>
              <a:gd name="csX102" fmla="*/ 1140178 w 3341511"/>
              <a:gd name="csY102" fmla="*/ 299155 h 3313289"/>
              <a:gd name="csX103" fmla="*/ 1106311 w 3341511"/>
              <a:gd name="csY103" fmla="*/ 287866 h 3313289"/>
              <a:gd name="csX104" fmla="*/ 1072444 w 3341511"/>
              <a:gd name="csY104" fmla="*/ 276578 h 3313289"/>
              <a:gd name="csX105" fmla="*/ 1055511 w 3341511"/>
              <a:gd name="csY105" fmla="*/ 270933 h 3313289"/>
              <a:gd name="csX106" fmla="*/ 999067 w 3341511"/>
              <a:gd name="csY106" fmla="*/ 265289 h 3313289"/>
              <a:gd name="csX107" fmla="*/ 801511 w 3341511"/>
              <a:gd name="csY107" fmla="*/ 254000 h 3313289"/>
              <a:gd name="csX108" fmla="*/ 778933 w 3341511"/>
              <a:gd name="csY108" fmla="*/ 248355 h 3313289"/>
              <a:gd name="csX109" fmla="*/ 745067 w 3341511"/>
              <a:gd name="csY109" fmla="*/ 237066 h 3313289"/>
              <a:gd name="csX110" fmla="*/ 682978 w 3341511"/>
              <a:gd name="csY110" fmla="*/ 220133 h 3313289"/>
              <a:gd name="csX111" fmla="*/ 649111 w 3341511"/>
              <a:gd name="csY111" fmla="*/ 208844 h 3313289"/>
              <a:gd name="csX112" fmla="*/ 598311 w 3341511"/>
              <a:gd name="csY112" fmla="*/ 186266 h 3313289"/>
              <a:gd name="csX113" fmla="*/ 581378 w 3341511"/>
              <a:gd name="csY113" fmla="*/ 180622 h 3313289"/>
              <a:gd name="csX114" fmla="*/ 564444 w 3341511"/>
              <a:gd name="csY114" fmla="*/ 169333 h 3313289"/>
              <a:gd name="csX115" fmla="*/ 536222 w 3341511"/>
              <a:gd name="csY115" fmla="*/ 163689 h 3313289"/>
              <a:gd name="csX116" fmla="*/ 496711 w 3341511"/>
              <a:gd name="csY116" fmla="*/ 152400 h 3313289"/>
              <a:gd name="csX117" fmla="*/ 479778 w 3341511"/>
              <a:gd name="csY117" fmla="*/ 141111 h 3313289"/>
              <a:gd name="csX118" fmla="*/ 445911 w 3341511"/>
              <a:gd name="csY118" fmla="*/ 129822 h 3313289"/>
              <a:gd name="csX119" fmla="*/ 428978 w 3341511"/>
              <a:gd name="csY119" fmla="*/ 118533 h 3313289"/>
              <a:gd name="csX120" fmla="*/ 338667 w 3341511"/>
              <a:gd name="csY120" fmla="*/ 107244 h 3313289"/>
              <a:gd name="csX121" fmla="*/ 321733 w 3341511"/>
              <a:gd name="csY121" fmla="*/ 101600 h 3313289"/>
              <a:gd name="csX122" fmla="*/ 299156 w 3341511"/>
              <a:gd name="csY122" fmla="*/ 95955 h 3313289"/>
              <a:gd name="csX123" fmla="*/ 248356 w 3341511"/>
              <a:gd name="csY123" fmla="*/ 73378 h 3313289"/>
              <a:gd name="csX124" fmla="*/ 203200 w 3341511"/>
              <a:gd name="csY124" fmla="*/ 67733 h 3313289"/>
              <a:gd name="csX125" fmla="*/ 169333 w 3341511"/>
              <a:gd name="csY125" fmla="*/ 56444 h 3313289"/>
              <a:gd name="csX126" fmla="*/ 146756 w 3341511"/>
              <a:gd name="csY126" fmla="*/ 50800 h 3313289"/>
              <a:gd name="csX127" fmla="*/ 112889 w 3341511"/>
              <a:gd name="csY127" fmla="*/ 39511 h 3313289"/>
              <a:gd name="csX128" fmla="*/ 95956 w 3341511"/>
              <a:gd name="csY128" fmla="*/ 28222 h 3313289"/>
              <a:gd name="csX129" fmla="*/ 28222 w 3341511"/>
              <a:gd name="csY129" fmla="*/ 16933 h 3313289"/>
              <a:gd name="csX130" fmla="*/ 0 w 3341511"/>
              <a:gd name="csY130" fmla="*/ 0 h 33132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3341511" h="3313289">
                <a:moveTo>
                  <a:pt x="0" y="0"/>
                </a:moveTo>
                <a:lnTo>
                  <a:pt x="3341511" y="3313289"/>
                </a:lnTo>
                <a:lnTo>
                  <a:pt x="3335867" y="3268133"/>
                </a:lnTo>
                <a:cubicBezTo>
                  <a:pt x="3333985" y="3232385"/>
                  <a:pt x="3333195" y="3196563"/>
                  <a:pt x="3330222" y="3160889"/>
                </a:cubicBezTo>
                <a:cubicBezTo>
                  <a:pt x="3329425" y="3151328"/>
                  <a:pt x="3326155" y="3142129"/>
                  <a:pt x="3324578" y="3132666"/>
                </a:cubicBezTo>
                <a:cubicBezTo>
                  <a:pt x="3322391" y="3119543"/>
                  <a:pt x="3320583" y="3106356"/>
                  <a:pt x="3318933" y="3093155"/>
                </a:cubicBezTo>
                <a:cubicBezTo>
                  <a:pt x="3314660" y="3058972"/>
                  <a:pt x="3313481" y="3035920"/>
                  <a:pt x="3307644" y="3002844"/>
                </a:cubicBezTo>
                <a:cubicBezTo>
                  <a:pt x="3304310" y="2983949"/>
                  <a:pt x="3300119" y="2965215"/>
                  <a:pt x="3296356" y="2946400"/>
                </a:cubicBezTo>
                <a:cubicBezTo>
                  <a:pt x="3294475" y="2936993"/>
                  <a:pt x="3291770" y="2927713"/>
                  <a:pt x="3290711" y="2918178"/>
                </a:cubicBezTo>
                <a:cubicBezTo>
                  <a:pt x="3282979" y="2848585"/>
                  <a:pt x="3286762" y="2884331"/>
                  <a:pt x="3279422" y="2810933"/>
                </a:cubicBezTo>
                <a:cubicBezTo>
                  <a:pt x="3277541" y="2767659"/>
                  <a:pt x="3276758" y="2724323"/>
                  <a:pt x="3273778" y="2681111"/>
                </a:cubicBezTo>
                <a:cubicBezTo>
                  <a:pt x="3272991" y="2669693"/>
                  <a:pt x="3269646" y="2658588"/>
                  <a:pt x="3268133" y="2647244"/>
                </a:cubicBezTo>
                <a:cubicBezTo>
                  <a:pt x="3265881" y="2630356"/>
                  <a:pt x="3264898" y="2613310"/>
                  <a:pt x="3262489" y="2596444"/>
                </a:cubicBezTo>
                <a:cubicBezTo>
                  <a:pt x="3261132" y="2586947"/>
                  <a:pt x="3258421" y="2577685"/>
                  <a:pt x="3256844" y="2568222"/>
                </a:cubicBezTo>
                <a:cubicBezTo>
                  <a:pt x="3254657" y="2555099"/>
                  <a:pt x="3253081" y="2541881"/>
                  <a:pt x="3251200" y="2528711"/>
                </a:cubicBezTo>
                <a:cubicBezTo>
                  <a:pt x="3253081" y="2508015"/>
                  <a:pt x="3257936" y="2487375"/>
                  <a:pt x="3256844" y="2466622"/>
                </a:cubicBezTo>
                <a:cubicBezTo>
                  <a:pt x="3256048" y="2451494"/>
                  <a:pt x="3245886" y="2422456"/>
                  <a:pt x="3239911" y="2404533"/>
                </a:cubicBezTo>
                <a:cubicBezTo>
                  <a:pt x="3224408" y="2311506"/>
                  <a:pt x="3241365" y="2422153"/>
                  <a:pt x="3228622" y="2218266"/>
                </a:cubicBezTo>
                <a:cubicBezTo>
                  <a:pt x="3226633" y="2186441"/>
                  <a:pt x="3223022" y="2197762"/>
                  <a:pt x="3217333" y="2173111"/>
                </a:cubicBezTo>
                <a:cubicBezTo>
                  <a:pt x="3207432" y="2130208"/>
                  <a:pt x="3200976" y="2086829"/>
                  <a:pt x="3194756" y="2043289"/>
                </a:cubicBezTo>
                <a:cubicBezTo>
                  <a:pt x="3192874" y="2015067"/>
                  <a:pt x="3193523" y="1986561"/>
                  <a:pt x="3189111" y="1958622"/>
                </a:cubicBezTo>
                <a:cubicBezTo>
                  <a:pt x="3187799" y="1950311"/>
                  <a:pt x="3180776" y="1943923"/>
                  <a:pt x="3177822" y="1936044"/>
                </a:cubicBezTo>
                <a:cubicBezTo>
                  <a:pt x="3175098" y="1928780"/>
                  <a:pt x="3174309" y="1920925"/>
                  <a:pt x="3172178" y="1913466"/>
                </a:cubicBezTo>
                <a:cubicBezTo>
                  <a:pt x="3170543" y="1907745"/>
                  <a:pt x="3168168" y="1902254"/>
                  <a:pt x="3166533" y="1896533"/>
                </a:cubicBezTo>
                <a:cubicBezTo>
                  <a:pt x="3159656" y="1872465"/>
                  <a:pt x="3161058" y="1871895"/>
                  <a:pt x="3155244" y="1845733"/>
                </a:cubicBezTo>
                <a:cubicBezTo>
                  <a:pt x="3153561" y="1838160"/>
                  <a:pt x="3151481" y="1830681"/>
                  <a:pt x="3149600" y="1823155"/>
                </a:cubicBezTo>
                <a:cubicBezTo>
                  <a:pt x="3147719" y="1802459"/>
                  <a:pt x="3147568" y="1781531"/>
                  <a:pt x="3143956" y="1761066"/>
                </a:cubicBezTo>
                <a:cubicBezTo>
                  <a:pt x="3141888" y="1749348"/>
                  <a:pt x="3136430" y="1738489"/>
                  <a:pt x="3132667" y="1727200"/>
                </a:cubicBezTo>
                <a:cubicBezTo>
                  <a:pt x="3132664" y="1727190"/>
                  <a:pt x="3121381" y="1693344"/>
                  <a:pt x="3121378" y="1693333"/>
                </a:cubicBezTo>
                <a:cubicBezTo>
                  <a:pt x="3119496" y="1685807"/>
                  <a:pt x="3117864" y="1678214"/>
                  <a:pt x="3115733" y="1670755"/>
                </a:cubicBezTo>
                <a:cubicBezTo>
                  <a:pt x="3114098" y="1665034"/>
                  <a:pt x="3111380" y="1659630"/>
                  <a:pt x="3110089" y="1653822"/>
                </a:cubicBezTo>
                <a:cubicBezTo>
                  <a:pt x="3089848" y="1562738"/>
                  <a:pt x="3123267" y="1691489"/>
                  <a:pt x="3098800" y="1569155"/>
                </a:cubicBezTo>
                <a:cubicBezTo>
                  <a:pt x="3096466" y="1557487"/>
                  <a:pt x="3091274" y="1546578"/>
                  <a:pt x="3087511" y="1535289"/>
                </a:cubicBezTo>
                <a:lnTo>
                  <a:pt x="3081867" y="1518355"/>
                </a:lnTo>
                <a:cubicBezTo>
                  <a:pt x="3079986" y="1512711"/>
                  <a:pt x="3077665" y="1507194"/>
                  <a:pt x="3076222" y="1501422"/>
                </a:cubicBezTo>
                <a:cubicBezTo>
                  <a:pt x="3069135" y="1473072"/>
                  <a:pt x="3073031" y="1486203"/>
                  <a:pt x="3064933" y="1461911"/>
                </a:cubicBezTo>
                <a:cubicBezTo>
                  <a:pt x="3057606" y="1403291"/>
                  <a:pt x="3067704" y="1429377"/>
                  <a:pt x="3036711" y="1382889"/>
                </a:cubicBezTo>
                <a:lnTo>
                  <a:pt x="3025422" y="1365955"/>
                </a:lnTo>
                <a:lnTo>
                  <a:pt x="3014133" y="1349022"/>
                </a:lnTo>
                <a:lnTo>
                  <a:pt x="3002844" y="1315155"/>
                </a:lnTo>
                <a:cubicBezTo>
                  <a:pt x="3000963" y="1309511"/>
                  <a:pt x="3000500" y="1303172"/>
                  <a:pt x="2997200" y="1298222"/>
                </a:cubicBezTo>
                <a:lnTo>
                  <a:pt x="2985911" y="1281289"/>
                </a:lnTo>
                <a:cubicBezTo>
                  <a:pt x="2982148" y="1270000"/>
                  <a:pt x="2981223" y="1257323"/>
                  <a:pt x="2974622" y="1247422"/>
                </a:cubicBezTo>
                <a:cubicBezTo>
                  <a:pt x="2917561" y="1161830"/>
                  <a:pt x="2979320" y="1249672"/>
                  <a:pt x="2935111" y="1196622"/>
                </a:cubicBezTo>
                <a:cubicBezTo>
                  <a:pt x="2930768" y="1191411"/>
                  <a:pt x="2928927" y="1184156"/>
                  <a:pt x="2923822" y="1179689"/>
                </a:cubicBezTo>
                <a:cubicBezTo>
                  <a:pt x="2913612" y="1170755"/>
                  <a:pt x="2901245" y="1164637"/>
                  <a:pt x="2889956" y="1157111"/>
                </a:cubicBezTo>
                <a:lnTo>
                  <a:pt x="2873022" y="1145822"/>
                </a:lnTo>
                <a:cubicBezTo>
                  <a:pt x="2849760" y="1110930"/>
                  <a:pt x="2875588" y="1144967"/>
                  <a:pt x="2844800" y="1117600"/>
                </a:cubicBezTo>
                <a:cubicBezTo>
                  <a:pt x="2832868" y="1106993"/>
                  <a:pt x="2822222" y="1095022"/>
                  <a:pt x="2810933" y="1083733"/>
                </a:cubicBezTo>
                <a:cubicBezTo>
                  <a:pt x="2805289" y="1078089"/>
                  <a:pt x="2800642" y="1071228"/>
                  <a:pt x="2794000" y="1066800"/>
                </a:cubicBezTo>
                <a:cubicBezTo>
                  <a:pt x="2782711" y="1059274"/>
                  <a:pt x="2772268" y="1050290"/>
                  <a:pt x="2760133" y="1044222"/>
                </a:cubicBezTo>
                <a:cubicBezTo>
                  <a:pt x="2742318" y="1035314"/>
                  <a:pt x="2717310" y="1023976"/>
                  <a:pt x="2703689" y="1010355"/>
                </a:cubicBezTo>
                <a:cubicBezTo>
                  <a:pt x="2698045" y="1004711"/>
                  <a:pt x="2691866" y="999554"/>
                  <a:pt x="2686756" y="993422"/>
                </a:cubicBezTo>
                <a:cubicBezTo>
                  <a:pt x="2669027" y="972147"/>
                  <a:pt x="2678939" y="966357"/>
                  <a:pt x="2641600" y="953911"/>
                </a:cubicBezTo>
                <a:lnTo>
                  <a:pt x="2590800" y="936978"/>
                </a:lnTo>
                <a:cubicBezTo>
                  <a:pt x="2585156" y="935096"/>
                  <a:pt x="2578817" y="934633"/>
                  <a:pt x="2573867" y="931333"/>
                </a:cubicBezTo>
                <a:cubicBezTo>
                  <a:pt x="2533545" y="904452"/>
                  <a:pt x="2553163" y="912045"/>
                  <a:pt x="2517422" y="903111"/>
                </a:cubicBezTo>
                <a:cubicBezTo>
                  <a:pt x="2456906" y="862766"/>
                  <a:pt x="2548754" y="925599"/>
                  <a:pt x="2483556" y="874889"/>
                </a:cubicBezTo>
                <a:cubicBezTo>
                  <a:pt x="2472846" y="866559"/>
                  <a:pt x="2460978" y="859837"/>
                  <a:pt x="2449689" y="852311"/>
                </a:cubicBezTo>
                <a:lnTo>
                  <a:pt x="2415822" y="829733"/>
                </a:lnTo>
                <a:cubicBezTo>
                  <a:pt x="2328445" y="800607"/>
                  <a:pt x="2418695" y="833991"/>
                  <a:pt x="2365022" y="807155"/>
                </a:cubicBezTo>
                <a:cubicBezTo>
                  <a:pt x="2359700" y="804494"/>
                  <a:pt x="2353810" y="803146"/>
                  <a:pt x="2348089" y="801511"/>
                </a:cubicBezTo>
                <a:cubicBezTo>
                  <a:pt x="2324506" y="794773"/>
                  <a:pt x="2318267" y="794659"/>
                  <a:pt x="2291644" y="790222"/>
                </a:cubicBezTo>
                <a:lnTo>
                  <a:pt x="2240844" y="773289"/>
                </a:lnTo>
                <a:cubicBezTo>
                  <a:pt x="2235200" y="771408"/>
                  <a:pt x="2228861" y="770944"/>
                  <a:pt x="2223911" y="767644"/>
                </a:cubicBezTo>
                <a:cubicBezTo>
                  <a:pt x="2218267" y="763881"/>
                  <a:pt x="2213177" y="759110"/>
                  <a:pt x="2206978" y="756355"/>
                </a:cubicBezTo>
                <a:cubicBezTo>
                  <a:pt x="2196104" y="751522"/>
                  <a:pt x="2184400" y="748829"/>
                  <a:pt x="2173111" y="745066"/>
                </a:cubicBezTo>
                <a:lnTo>
                  <a:pt x="2156178" y="739422"/>
                </a:lnTo>
                <a:lnTo>
                  <a:pt x="2105378" y="705555"/>
                </a:lnTo>
                <a:cubicBezTo>
                  <a:pt x="2099733" y="701792"/>
                  <a:pt x="2094880" y="696411"/>
                  <a:pt x="2088444" y="694266"/>
                </a:cubicBezTo>
                <a:lnTo>
                  <a:pt x="2037644" y="677333"/>
                </a:lnTo>
                <a:cubicBezTo>
                  <a:pt x="2032000" y="675452"/>
                  <a:pt x="2026615" y="672427"/>
                  <a:pt x="2020711" y="671689"/>
                </a:cubicBezTo>
                <a:lnTo>
                  <a:pt x="1975556" y="666044"/>
                </a:lnTo>
                <a:cubicBezTo>
                  <a:pt x="1969911" y="662281"/>
                  <a:pt x="1964690" y="657789"/>
                  <a:pt x="1958622" y="654755"/>
                </a:cubicBezTo>
                <a:cubicBezTo>
                  <a:pt x="1950527" y="650708"/>
                  <a:pt x="1926341" y="645274"/>
                  <a:pt x="1919111" y="643466"/>
                </a:cubicBezTo>
                <a:cubicBezTo>
                  <a:pt x="1913467" y="639703"/>
                  <a:pt x="1908377" y="634933"/>
                  <a:pt x="1902178" y="632178"/>
                </a:cubicBezTo>
                <a:cubicBezTo>
                  <a:pt x="1891304" y="627345"/>
                  <a:pt x="1879600" y="624652"/>
                  <a:pt x="1868311" y="620889"/>
                </a:cubicBezTo>
                <a:lnTo>
                  <a:pt x="1834444" y="609600"/>
                </a:lnTo>
                <a:lnTo>
                  <a:pt x="1783644" y="592666"/>
                </a:lnTo>
                <a:lnTo>
                  <a:pt x="1766711" y="587022"/>
                </a:lnTo>
                <a:cubicBezTo>
                  <a:pt x="1761067" y="585141"/>
                  <a:pt x="1755668" y="582219"/>
                  <a:pt x="1749778" y="581378"/>
                </a:cubicBezTo>
                <a:lnTo>
                  <a:pt x="1710267" y="575733"/>
                </a:lnTo>
                <a:lnTo>
                  <a:pt x="1659467" y="541866"/>
                </a:lnTo>
                <a:cubicBezTo>
                  <a:pt x="1653822" y="538103"/>
                  <a:pt x="1648969" y="532723"/>
                  <a:pt x="1642533" y="530578"/>
                </a:cubicBezTo>
                <a:cubicBezTo>
                  <a:pt x="1636889" y="528696"/>
                  <a:pt x="1630922" y="527594"/>
                  <a:pt x="1625600" y="524933"/>
                </a:cubicBezTo>
                <a:cubicBezTo>
                  <a:pt x="1581843" y="503053"/>
                  <a:pt x="1634288" y="522183"/>
                  <a:pt x="1591733" y="508000"/>
                </a:cubicBezTo>
                <a:cubicBezTo>
                  <a:pt x="1586089" y="504237"/>
                  <a:pt x="1580867" y="499745"/>
                  <a:pt x="1574800" y="496711"/>
                </a:cubicBezTo>
                <a:cubicBezTo>
                  <a:pt x="1557396" y="488008"/>
                  <a:pt x="1528283" y="487368"/>
                  <a:pt x="1512711" y="485422"/>
                </a:cubicBezTo>
                <a:cubicBezTo>
                  <a:pt x="1470157" y="471238"/>
                  <a:pt x="1522604" y="490370"/>
                  <a:pt x="1478844" y="468489"/>
                </a:cubicBezTo>
                <a:cubicBezTo>
                  <a:pt x="1473522" y="465828"/>
                  <a:pt x="1467233" y="465505"/>
                  <a:pt x="1461911" y="462844"/>
                </a:cubicBezTo>
                <a:cubicBezTo>
                  <a:pt x="1455844" y="459810"/>
                  <a:pt x="1451177" y="454310"/>
                  <a:pt x="1444978" y="451555"/>
                </a:cubicBezTo>
                <a:cubicBezTo>
                  <a:pt x="1434104" y="446722"/>
                  <a:pt x="1422400" y="444029"/>
                  <a:pt x="1411111" y="440266"/>
                </a:cubicBezTo>
                <a:lnTo>
                  <a:pt x="1394178" y="434622"/>
                </a:lnTo>
                <a:lnTo>
                  <a:pt x="1377244" y="428978"/>
                </a:lnTo>
                <a:cubicBezTo>
                  <a:pt x="1371600" y="425215"/>
                  <a:pt x="1366510" y="420444"/>
                  <a:pt x="1360311" y="417689"/>
                </a:cubicBezTo>
                <a:cubicBezTo>
                  <a:pt x="1349437" y="412856"/>
                  <a:pt x="1337733" y="410163"/>
                  <a:pt x="1326444" y="406400"/>
                </a:cubicBezTo>
                <a:lnTo>
                  <a:pt x="1309511" y="400755"/>
                </a:lnTo>
                <a:lnTo>
                  <a:pt x="1292578" y="395111"/>
                </a:lnTo>
                <a:lnTo>
                  <a:pt x="1275644" y="389466"/>
                </a:lnTo>
                <a:cubicBezTo>
                  <a:pt x="1227104" y="340926"/>
                  <a:pt x="1286706" y="395479"/>
                  <a:pt x="1241778" y="366889"/>
                </a:cubicBezTo>
                <a:cubicBezTo>
                  <a:pt x="1225904" y="356788"/>
                  <a:pt x="1212277" y="343459"/>
                  <a:pt x="1196622" y="333022"/>
                </a:cubicBezTo>
                <a:cubicBezTo>
                  <a:pt x="1155368" y="305518"/>
                  <a:pt x="1207240" y="339090"/>
                  <a:pt x="1157111" y="310444"/>
                </a:cubicBezTo>
                <a:cubicBezTo>
                  <a:pt x="1151221" y="307078"/>
                  <a:pt x="1146377" y="301910"/>
                  <a:pt x="1140178" y="299155"/>
                </a:cubicBezTo>
                <a:cubicBezTo>
                  <a:pt x="1129304" y="294322"/>
                  <a:pt x="1117600" y="291629"/>
                  <a:pt x="1106311" y="287866"/>
                </a:cubicBezTo>
                <a:lnTo>
                  <a:pt x="1072444" y="276578"/>
                </a:lnTo>
                <a:cubicBezTo>
                  <a:pt x="1066800" y="274697"/>
                  <a:pt x="1061431" y="271525"/>
                  <a:pt x="1055511" y="270933"/>
                </a:cubicBezTo>
                <a:cubicBezTo>
                  <a:pt x="1036696" y="269052"/>
                  <a:pt x="1017934" y="266547"/>
                  <a:pt x="999067" y="265289"/>
                </a:cubicBezTo>
                <a:lnTo>
                  <a:pt x="801511" y="254000"/>
                </a:lnTo>
                <a:cubicBezTo>
                  <a:pt x="793985" y="252118"/>
                  <a:pt x="786363" y="250584"/>
                  <a:pt x="778933" y="248355"/>
                </a:cubicBezTo>
                <a:cubicBezTo>
                  <a:pt x="767536" y="244936"/>
                  <a:pt x="756735" y="239399"/>
                  <a:pt x="745067" y="237066"/>
                </a:cubicBezTo>
                <a:cubicBezTo>
                  <a:pt x="705171" y="229088"/>
                  <a:pt x="725951" y="234457"/>
                  <a:pt x="682978" y="220133"/>
                </a:cubicBezTo>
                <a:cubicBezTo>
                  <a:pt x="682973" y="220131"/>
                  <a:pt x="649116" y="208848"/>
                  <a:pt x="649111" y="208844"/>
                </a:cubicBezTo>
                <a:cubicBezTo>
                  <a:pt x="622277" y="190954"/>
                  <a:pt x="638613" y="199700"/>
                  <a:pt x="598311" y="186266"/>
                </a:cubicBezTo>
                <a:lnTo>
                  <a:pt x="581378" y="180622"/>
                </a:lnTo>
                <a:cubicBezTo>
                  <a:pt x="575733" y="176859"/>
                  <a:pt x="570796" y="171715"/>
                  <a:pt x="564444" y="169333"/>
                </a:cubicBezTo>
                <a:cubicBezTo>
                  <a:pt x="555461" y="165965"/>
                  <a:pt x="545587" y="165770"/>
                  <a:pt x="536222" y="163689"/>
                </a:cubicBezTo>
                <a:cubicBezTo>
                  <a:pt x="514966" y="158965"/>
                  <a:pt x="515563" y="158684"/>
                  <a:pt x="496711" y="152400"/>
                </a:cubicBezTo>
                <a:cubicBezTo>
                  <a:pt x="491067" y="148637"/>
                  <a:pt x="485977" y="143866"/>
                  <a:pt x="479778" y="141111"/>
                </a:cubicBezTo>
                <a:cubicBezTo>
                  <a:pt x="468904" y="136278"/>
                  <a:pt x="445911" y="129822"/>
                  <a:pt x="445911" y="129822"/>
                </a:cubicBezTo>
                <a:cubicBezTo>
                  <a:pt x="440267" y="126059"/>
                  <a:pt x="435046" y="121567"/>
                  <a:pt x="428978" y="118533"/>
                </a:cubicBezTo>
                <a:cubicBezTo>
                  <a:pt x="404614" y="106351"/>
                  <a:pt x="352660" y="108320"/>
                  <a:pt x="338667" y="107244"/>
                </a:cubicBezTo>
                <a:cubicBezTo>
                  <a:pt x="333022" y="105363"/>
                  <a:pt x="327454" y="103235"/>
                  <a:pt x="321733" y="101600"/>
                </a:cubicBezTo>
                <a:cubicBezTo>
                  <a:pt x="314274" y="99469"/>
                  <a:pt x="306286" y="99011"/>
                  <a:pt x="299156" y="95955"/>
                </a:cubicBezTo>
                <a:cubicBezTo>
                  <a:pt x="267044" y="82192"/>
                  <a:pt x="297914" y="79573"/>
                  <a:pt x="248356" y="73378"/>
                </a:cubicBezTo>
                <a:lnTo>
                  <a:pt x="203200" y="67733"/>
                </a:lnTo>
                <a:cubicBezTo>
                  <a:pt x="191911" y="63970"/>
                  <a:pt x="180877" y="59330"/>
                  <a:pt x="169333" y="56444"/>
                </a:cubicBezTo>
                <a:cubicBezTo>
                  <a:pt x="161807" y="54563"/>
                  <a:pt x="154186" y="53029"/>
                  <a:pt x="146756" y="50800"/>
                </a:cubicBezTo>
                <a:cubicBezTo>
                  <a:pt x="135358" y="47381"/>
                  <a:pt x="112889" y="39511"/>
                  <a:pt x="112889" y="39511"/>
                </a:cubicBezTo>
                <a:cubicBezTo>
                  <a:pt x="107245" y="35748"/>
                  <a:pt x="102191" y="30894"/>
                  <a:pt x="95956" y="28222"/>
                </a:cubicBezTo>
                <a:cubicBezTo>
                  <a:pt x="80603" y="21642"/>
                  <a:pt x="38172" y="18177"/>
                  <a:pt x="28222" y="16933"/>
                </a:cubicBezTo>
                <a:lnTo>
                  <a:pt x="0" y="0"/>
                </a:lnTo>
                <a:close/>
              </a:path>
            </a:pathLst>
          </a:custGeom>
          <a:solidFill>
            <a:schemeClr val="accent2">
              <a:lumMod val="60000"/>
              <a:lumOff val="40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3500009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98701F6-9088-0EC4-8FC4-D87CF207BCD6}"/>
              </a:ext>
            </a:extLst>
          </p:cNvPr>
          <p:cNvSpPr/>
          <p:nvPr/>
        </p:nvSpPr>
        <p:spPr>
          <a:xfrm>
            <a:off x="3159164" y="1071519"/>
            <a:ext cx="5837352" cy="47149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cxnSp>
        <p:nvCxnSpPr>
          <p:cNvPr id="26" name="Straight Connector 25">
            <a:extLst>
              <a:ext uri="{FF2B5EF4-FFF2-40B4-BE49-F238E27FC236}">
                <a16:creationId xmlns:a16="http://schemas.microsoft.com/office/drawing/2014/main" id="{DEEAFBA3-44AF-4D91-FF33-206A0E8073F6}"/>
              </a:ext>
            </a:extLst>
          </p:cNvPr>
          <p:cNvCxnSpPr/>
          <p:nvPr/>
        </p:nvCxnSpPr>
        <p:spPr>
          <a:xfrm flipV="1">
            <a:off x="3813875" y="1236821"/>
            <a:ext cx="4651250" cy="3903218"/>
          </a:xfrm>
          <a:prstGeom prst="line">
            <a:avLst/>
          </a:prstGeom>
          <a:ln w="381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242CEC2-E7E7-1B37-C133-2AE86AB28B19}"/>
              </a:ext>
            </a:extLst>
          </p:cNvPr>
          <p:cNvCxnSpPr/>
          <p:nvPr/>
        </p:nvCxnSpPr>
        <p:spPr>
          <a:xfrm>
            <a:off x="3462728" y="1184222"/>
            <a:ext cx="0" cy="4320000"/>
          </a:xfrm>
          <a:prstGeom prst="line">
            <a:avLst/>
          </a:prstGeom>
          <a:ln w="50800">
            <a:solidFill>
              <a:schemeClr val="tx1"/>
            </a:solidFill>
            <a:headEnd type="triangle"/>
            <a:tailEnd type="none"/>
          </a:ln>
        </p:spPr>
        <p:style>
          <a:lnRef idx="3">
            <a:schemeClr val="accent3"/>
          </a:lnRef>
          <a:fillRef idx="0">
            <a:schemeClr val="accent3"/>
          </a:fillRef>
          <a:effectRef idx="2">
            <a:schemeClr val="accent3"/>
          </a:effectRef>
          <a:fontRef idx="minor">
            <a:schemeClr val="tx1"/>
          </a:fontRef>
        </p:style>
      </p:cxnSp>
      <p:cxnSp>
        <p:nvCxnSpPr>
          <p:cNvPr id="6" name="Straight Connector 5">
            <a:extLst>
              <a:ext uri="{FF2B5EF4-FFF2-40B4-BE49-F238E27FC236}">
                <a16:creationId xmlns:a16="http://schemas.microsoft.com/office/drawing/2014/main" id="{970433C3-1CAE-6B0F-5464-12414C0988C1}"/>
              </a:ext>
            </a:extLst>
          </p:cNvPr>
          <p:cNvCxnSpPr>
            <a:cxnSpLocks/>
          </p:cNvCxnSpPr>
          <p:nvPr/>
        </p:nvCxnSpPr>
        <p:spPr>
          <a:xfrm rot="5400000">
            <a:off x="6150202" y="2776798"/>
            <a:ext cx="0" cy="5400000"/>
          </a:xfrm>
          <a:prstGeom prst="line">
            <a:avLst/>
          </a:prstGeom>
          <a:ln w="50800">
            <a:solidFill>
              <a:schemeClr val="tx1"/>
            </a:solidFill>
            <a:headEnd type="triangle"/>
          </a:ln>
        </p:spPr>
        <p:style>
          <a:lnRef idx="3">
            <a:schemeClr val="accent3"/>
          </a:lnRef>
          <a:fillRef idx="0">
            <a:schemeClr val="accent3"/>
          </a:fillRef>
          <a:effectRef idx="2">
            <a:schemeClr val="accent3"/>
          </a:effectRef>
          <a:fontRef idx="minor">
            <a:schemeClr val="tx1"/>
          </a:fontRef>
        </p:style>
      </p:cxnSp>
      <p:sp>
        <p:nvSpPr>
          <p:cNvPr id="9" name="Oval 8">
            <a:extLst>
              <a:ext uri="{FF2B5EF4-FFF2-40B4-BE49-F238E27FC236}">
                <a16:creationId xmlns:a16="http://schemas.microsoft.com/office/drawing/2014/main" id="{0AD62C31-5FC3-A745-CF36-073708D3BDA7}"/>
              </a:ext>
            </a:extLst>
          </p:cNvPr>
          <p:cNvSpPr/>
          <p:nvPr/>
        </p:nvSpPr>
        <p:spPr>
          <a:xfrm>
            <a:off x="6719362" y="1637127"/>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0" name="Oval 9">
            <a:extLst>
              <a:ext uri="{FF2B5EF4-FFF2-40B4-BE49-F238E27FC236}">
                <a16:creationId xmlns:a16="http://schemas.microsoft.com/office/drawing/2014/main" id="{B2373AC6-205A-339B-1D35-CF71857D2C8E}"/>
              </a:ext>
            </a:extLst>
          </p:cNvPr>
          <p:cNvSpPr/>
          <p:nvPr/>
        </p:nvSpPr>
        <p:spPr>
          <a:xfrm>
            <a:off x="6096000" y="3108278"/>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1" name="Oval 10">
            <a:extLst>
              <a:ext uri="{FF2B5EF4-FFF2-40B4-BE49-F238E27FC236}">
                <a16:creationId xmlns:a16="http://schemas.microsoft.com/office/drawing/2014/main" id="{81B4C507-B1BF-7950-8161-6600C383FC9C}"/>
              </a:ext>
            </a:extLst>
          </p:cNvPr>
          <p:cNvSpPr/>
          <p:nvPr/>
        </p:nvSpPr>
        <p:spPr>
          <a:xfrm>
            <a:off x="5189289" y="3329958"/>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2" name="Oval 11">
            <a:extLst>
              <a:ext uri="{FF2B5EF4-FFF2-40B4-BE49-F238E27FC236}">
                <a16:creationId xmlns:a16="http://schemas.microsoft.com/office/drawing/2014/main" id="{86B799B7-F271-835A-1C6F-BC029349707D}"/>
              </a:ext>
            </a:extLst>
          </p:cNvPr>
          <p:cNvSpPr/>
          <p:nvPr/>
        </p:nvSpPr>
        <p:spPr>
          <a:xfrm>
            <a:off x="5007821" y="4447316"/>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3" name="Oval 12">
            <a:extLst>
              <a:ext uri="{FF2B5EF4-FFF2-40B4-BE49-F238E27FC236}">
                <a16:creationId xmlns:a16="http://schemas.microsoft.com/office/drawing/2014/main" id="{59C1E3A9-9F7E-525C-A367-8D27AF1B8347}"/>
              </a:ext>
            </a:extLst>
          </p:cNvPr>
          <p:cNvSpPr/>
          <p:nvPr/>
        </p:nvSpPr>
        <p:spPr>
          <a:xfrm>
            <a:off x="4101110" y="4447316"/>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4" name="Oval 13">
            <a:extLst>
              <a:ext uri="{FF2B5EF4-FFF2-40B4-BE49-F238E27FC236}">
                <a16:creationId xmlns:a16="http://schemas.microsoft.com/office/drawing/2014/main" id="{79501382-D516-E2FA-4B2B-BF22AE36CD10}"/>
              </a:ext>
            </a:extLst>
          </p:cNvPr>
          <p:cNvSpPr/>
          <p:nvPr/>
        </p:nvSpPr>
        <p:spPr>
          <a:xfrm>
            <a:off x="6871854" y="2541731"/>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5" name="Oval 14">
            <a:extLst>
              <a:ext uri="{FF2B5EF4-FFF2-40B4-BE49-F238E27FC236}">
                <a16:creationId xmlns:a16="http://schemas.microsoft.com/office/drawing/2014/main" id="{2A1E4F80-68DA-ED17-6B71-532DCEA6AF33}"/>
              </a:ext>
            </a:extLst>
          </p:cNvPr>
          <p:cNvSpPr/>
          <p:nvPr/>
        </p:nvSpPr>
        <p:spPr>
          <a:xfrm>
            <a:off x="6043297" y="2393255"/>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6" name="Oval 15">
            <a:extLst>
              <a:ext uri="{FF2B5EF4-FFF2-40B4-BE49-F238E27FC236}">
                <a16:creationId xmlns:a16="http://schemas.microsoft.com/office/drawing/2014/main" id="{69A81F79-C366-22A4-5085-B92721DE66FA}"/>
              </a:ext>
            </a:extLst>
          </p:cNvPr>
          <p:cNvSpPr/>
          <p:nvPr/>
        </p:nvSpPr>
        <p:spPr>
          <a:xfrm>
            <a:off x="5981473" y="3908477"/>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7" name="Oval 16">
            <a:extLst>
              <a:ext uri="{FF2B5EF4-FFF2-40B4-BE49-F238E27FC236}">
                <a16:creationId xmlns:a16="http://schemas.microsoft.com/office/drawing/2014/main" id="{BA90529B-2D90-8CA9-AB57-F0692969FCB3}"/>
              </a:ext>
            </a:extLst>
          </p:cNvPr>
          <p:cNvSpPr/>
          <p:nvPr/>
        </p:nvSpPr>
        <p:spPr>
          <a:xfrm>
            <a:off x="7833891" y="1516980"/>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8" name="Oval 17">
            <a:extLst>
              <a:ext uri="{FF2B5EF4-FFF2-40B4-BE49-F238E27FC236}">
                <a16:creationId xmlns:a16="http://schemas.microsoft.com/office/drawing/2014/main" id="{94E750A8-70B9-64F4-3E32-E0690EAB954B}"/>
              </a:ext>
            </a:extLst>
          </p:cNvPr>
          <p:cNvSpPr/>
          <p:nvPr/>
        </p:nvSpPr>
        <p:spPr>
          <a:xfrm>
            <a:off x="7707891" y="2142561"/>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19" name="Oval 18">
            <a:extLst>
              <a:ext uri="{FF2B5EF4-FFF2-40B4-BE49-F238E27FC236}">
                <a16:creationId xmlns:a16="http://schemas.microsoft.com/office/drawing/2014/main" id="{831C1741-5A1E-B4B8-730F-A3425F4445F1}"/>
              </a:ext>
            </a:extLst>
          </p:cNvPr>
          <p:cNvSpPr/>
          <p:nvPr/>
        </p:nvSpPr>
        <p:spPr>
          <a:xfrm>
            <a:off x="8210487" y="1744039"/>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20" name="Oval 19">
            <a:extLst>
              <a:ext uri="{FF2B5EF4-FFF2-40B4-BE49-F238E27FC236}">
                <a16:creationId xmlns:a16="http://schemas.microsoft.com/office/drawing/2014/main" id="{5750C263-D714-1115-7F5A-57ACBAF91385}"/>
              </a:ext>
            </a:extLst>
          </p:cNvPr>
          <p:cNvSpPr/>
          <p:nvPr/>
        </p:nvSpPr>
        <p:spPr>
          <a:xfrm>
            <a:off x="3686568" y="3747569"/>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21" name="Oval 20">
            <a:extLst>
              <a:ext uri="{FF2B5EF4-FFF2-40B4-BE49-F238E27FC236}">
                <a16:creationId xmlns:a16="http://schemas.microsoft.com/office/drawing/2014/main" id="{ECE79CFE-541F-C67E-AFBB-712E5DD086C9}"/>
              </a:ext>
            </a:extLst>
          </p:cNvPr>
          <p:cNvSpPr/>
          <p:nvPr/>
        </p:nvSpPr>
        <p:spPr>
          <a:xfrm>
            <a:off x="4660220" y="3430410"/>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22" name="Oval 21">
            <a:extLst>
              <a:ext uri="{FF2B5EF4-FFF2-40B4-BE49-F238E27FC236}">
                <a16:creationId xmlns:a16="http://schemas.microsoft.com/office/drawing/2014/main" id="{832DEE12-9F58-9840-C6A6-FAFC2D4556A8}"/>
              </a:ext>
            </a:extLst>
          </p:cNvPr>
          <p:cNvSpPr/>
          <p:nvPr/>
        </p:nvSpPr>
        <p:spPr>
          <a:xfrm>
            <a:off x="7126472" y="3146392"/>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23" name="Oval 22">
            <a:extLst>
              <a:ext uri="{FF2B5EF4-FFF2-40B4-BE49-F238E27FC236}">
                <a16:creationId xmlns:a16="http://schemas.microsoft.com/office/drawing/2014/main" id="{805AC342-4D77-97F5-127A-7889C9739CEF}"/>
              </a:ext>
            </a:extLst>
          </p:cNvPr>
          <p:cNvSpPr/>
          <p:nvPr/>
        </p:nvSpPr>
        <p:spPr>
          <a:xfrm>
            <a:off x="5334226" y="2667731"/>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24" name="Oval 23">
            <a:extLst>
              <a:ext uri="{FF2B5EF4-FFF2-40B4-BE49-F238E27FC236}">
                <a16:creationId xmlns:a16="http://schemas.microsoft.com/office/drawing/2014/main" id="{D4086BA1-56C7-CA76-F52B-25849BA73A8E}"/>
              </a:ext>
            </a:extLst>
          </p:cNvPr>
          <p:cNvSpPr/>
          <p:nvPr/>
        </p:nvSpPr>
        <p:spPr>
          <a:xfrm>
            <a:off x="7367887" y="1599163"/>
            <a:ext cx="252000" cy="25200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cxnSp>
        <p:nvCxnSpPr>
          <p:cNvPr id="32" name="Straight Connector 31">
            <a:extLst>
              <a:ext uri="{FF2B5EF4-FFF2-40B4-BE49-F238E27FC236}">
                <a16:creationId xmlns:a16="http://schemas.microsoft.com/office/drawing/2014/main" id="{EC7CD7EC-26D2-5287-E6FF-D89CA6BD7493}"/>
              </a:ext>
            </a:extLst>
          </p:cNvPr>
          <p:cNvCxnSpPr/>
          <p:nvPr/>
        </p:nvCxnSpPr>
        <p:spPr>
          <a:xfrm>
            <a:off x="3460918" y="2917966"/>
            <a:ext cx="0" cy="540000"/>
          </a:xfrm>
          <a:prstGeom prst="line">
            <a:avLst/>
          </a:prstGeom>
          <a:ln w="63500">
            <a:solidFill>
              <a:schemeClr val="bg1"/>
            </a:solidFill>
            <a:headEnd type="none"/>
            <a:tailEnd type="none"/>
          </a:ln>
        </p:spPr>
        <p:style>
          <a:lnRef idx="3">
            <a:schemeClr val="accent3"/>
          </a:lnRef>
          <a:fillRef idx="0">
            <a:schemeClr val="accent3"/>
          </a:fillRef>
          <a:effectRef idx="2">
            <a:schemeClr val="accent3"/>
          </a:effectRef>
          <a:fontRef idx="minor">
            <a:schemeClr val="tx1"/>
          </a:fontRef>
        </p:style>
      </p:cxnSp>
      <p:pic>
        <p:nvPicPr>
          <p:cNvPr id="8" name="Graphic 7" descr="Fork In Road with solid fill">
            <a:extLst>
              <a:ext uri="{FF2B5EF4-FFF2-40B4-BE49-F238E27FC236}">
                <a16:creationId xmlns:a16="http://schemas.microsoft.com/office/drawing/2014/main" id="{A7B404CE-5A08-82E1-32E8-57A491D71E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59164" y="2813318"/>
            <a:ext cx="612000" cy="612000"/>
          </a:xfrm>
          <a:prstGeom prst="rect">
            <a:avLst/>
          </a:prstGeom>
        </p:spPr>
      </p:pic>
      <p:cxnSp>
        <p:nvCxnSpPr>
          <p:cNvPr id="33" name="Straight Connector 32">
            <a:extLst>
              <a:ext uri="{FF2B5EF4-FFF2-40B4-BE49-F238E27FC236}">
                <a16:creationId xmlns:a16="http://schemas.microsoft.com/office/drawing/2014/main" id="{34C47BE5-9332-4D7D-DCA9-4E754FDA0AD8}"/>
              </a:ext>
            </a:extLst>
          </p:cNvPr>
          <p:cNvCxnSpPr>
            <a:cxnSpLocks/>
          </p:cNvCxnSpPr>
          <p:nvPr/>
        </p:nvCxnSpPr>
        <p:spPr>
          <a:xfrm rot="5400000">
            <a:off x="6134050" y="5114913"/>
            <a:ext cx="0" cy="720000"/>
          </a:xfrm>
          <a:prstGeom prst="line">
            <a:avLst/>
          </a:prstGeom>
          <a:ln w="63500">
            <a:solidFill>
              <a:schemeClr val="bg1"/>
            </a:solidFill>
            <a:headEnd type="none"/>
            <a:tailEnd type="none"/>
          </a:ln>
        </p:spPr>
        <p:style>
          <a:lnRef idx="3">
            <a:schemeClr val="accent3"/>
          </a:lnRef>
          <a:fillRef idx="0">
            <a:schemeClr val="accent3"/>
          </a:fillRef>
          <a:effectRef idx="2">
            <a:schemeClr val="accent3"/>
          </a:effectRef>
          <a:fontRef idx="minor">
            <a:schemeClr val="tx1"/>
          </a:fontRef>
        </p:style>
      </p:cxnSp>
      <p:pic>
        <p:nvPicPr>
          <p:cNvPr id="7" name="Graphic 6" descr="Users with solid fill">
            <a:extLst>
              <a:ext uri="{FF2B5EF4-FFF2-40B4-BE49-F238E27FC236}">
                <a16:creationId xmlns:a16="http://schemas.microsoft.com/office/drawing/2014/main" id="{99114EA9-2F00-A980-1841-00B21E3E5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97500" y="5102481"/>
            <a:ext cx="684000" cy="684000"/>
          </a:xfrm>
          <a:prstGeom prst="rect">
            <a:avLst/>
          </a:prstGeom>
        </p:spPr>
      </p:pic>
    </p:spTree>
    <p:extLst>
      <p:ext uri="{BB962C8B-B14F-4D97-AF65-F5344CB8AC3E}">
        <p14:creationId xmlns:p14="http://schemas.microsoft.com/office/powerpoint/2010/main" val="215378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9177</TotalTime>
  <Words>986</Words>
  <Application>Microsoft Macintosh PowerPoint</Application>
  <PresentationFormat>Widescreen</PresentationFormat>
  <Paragraphs>156</Paragraphs>
  <Slides>53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Aptos Display</vt:lpstr>
      <vt:lpstr>Arial</vt:lpstr>
      <vt:lpstr>Bookman Old Style</vt:lpstr>
      <vt:lpstr>Office Theme</vt:lpstr>
      <vt:lpstr>PowerPoint Presentation</vt:lpstr>
      <vt:lpstr>PowerPoint Presentation</vt:lpstr>
      <vt:lpstr>PowerPoint Presentation</vt:lpstr>
      <vt:lpstr>PowerPoint Presentation</vt:lpstr>
      <vt:lpstr>PowerPoint Presentation</vt:lpstr>
      <vt:lpstr>Split responses among philosophers</vt:lpstr>
      <vt:lpstr>Split responses among non-philosophers</vt:lpstr>
      <vt:lpstr>PowerPoint Presentation</vt:lpstr>
      <vt:lpstr>Split responses among non-philosophers</vt:lpstr>
      <vt:lpstr>Why?</vt:lpstr>
      <vt:lpstr>Why?</vt:lpstr>
      <vt:lpstr>The ‘both’ question</vt:lpstr>
      <vt:lpstr>The ‘both’ question</vt:lpstr>
      <vt:lpstr>How prevalent are conflicting intuitions?</vt:lpstr>
      <vt:lpstr>How prevalent are conflicting intuitions?</vt:lpstr>
      <vt:lpstr>Per-issue analyses</vt:lpstr>
      <vt:lpstr>Per-issue analyses</vt:lpstr>
      <vt:lpstr>PowerPoint Presentation</vt:lpstr>
      <vt:lpstr>PowerPoint Presentation</vt:lpstr>
      <vt:lpstr>PowerPoint Presentation</vt:lpstr>
      <vt:lpstr>PowerPoint Presentation</vt:lpstr>
      <vt:lpstr>PowerPoint Presentation</vt:lpstr>
      <vt:lpstr>PowerPoint Presentation</vt:lpstr>
      <vt:lpstr>Intuitions of Philosophers</vt:lpstr>
      <vt:lpstr>Intuitions of Philosophers</vt:lpstr>
      <vt:lpstr>Intuitions of Philosophers</vt:lpstr>
      <vt:lpstr>Why?</vt:lpstr>
      <vt:lpstr>PowerPoint Presentation</vt:lpstr>
      <vt:lpstr>Beyond self-report</vt:lpstr>
      <vt:lpstr>Curvature as conflict</vt:lpstr>
      <vt:lpstr>Curvature as conflict</vt:lpstr>
      <vt:lpstr>PowerPoint Presentation</vt:lpstr>
      <vt:lpstr>PowerPoint Presentation</vt:lpstr>
      <vt:lpstr>Time-resolved analyses</vt:lpstr>
      <vt:lpstr>PowerPoint Presentation</vt:lpstr>
      <vt:lpstr>PowerPoint Presentation</vt:lpstr>
      <vt:lpstr>PowerPoint Presentation</vt:lpstr>
      <vt:lpstr>PowerPoint Presentation</vt:lpstr>
      <vt:lpstr>PowerPoint Presentation</vt:lpstr>
      <vt:lpstr>Core results</vt:lpstr>
      <vt:lpstr>Extreme negative 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Trial-Level Analyses</vt:lpstr>
      <vt:lpstr>Trial-Level Analyses</vt:lpstr>
      <vt:lpstr>Trial-Level Analyses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IVAR ALLAN RODRIGUEZ HANNIKAINEN</dc:creator>
  <cp:lastModifiedBy>IVAR ALLAN RODRIGUEZ HANNIKAINEN</cp:lastModifiedBy>
  <cp:revision>19</cp:revision>
  <dcterms:created xsi:type="dcterms:W3CDTF">2026-09-02T16:52:21Z</dcterms:created>
  <dcterms:modified xsi:type="dcterms:W3CDTF">2026-09-27T17:19:49Z</dcterms:modified>
</cp:coreProperties>
</file>