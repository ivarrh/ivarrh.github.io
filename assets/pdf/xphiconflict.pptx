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org&amp;utm_campaign=parser&amp;utm_content=thumbnail"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1567" r:id="rId3"/>
    <p:sldId id="1440" r:id="rId4"/>
    <p:sldId id="1568" r:id="rId5"/>
    <p:sldId id="1569" r:id="rId6"/>
    <p:sldId id="1285" r:id="rId7"/>
    <p:sldId id="1570" r:id="rId8"/>
    <p:sldId id="1513" r:id="rId9"/>
    <p:sldId id="1571" r:id="rId10"/>
    <p:sldId id="1361" r:id="rId11"/>
    <p:sldId id="1607" r:id="rId12"/>
    <p:sldId id="1411" r:id="rId13"/>
    <p:sldId id="1595" r:id="rId14"/>
    <p:sldId id="1580" r:id="rId15"/>
    <p:sldId id="1608" r:id="rId16"/>
    <p:sldId id="1597" r:id="rId17"/>
    <p:sldId id="1609" r:id="rId18"/>
    <p:sldId id="1579" r:id="rId19"/>
    <p:sldId id="1584" r:id="rId20"/>
    <p:sldId id="1598" r:id="rId21"/>
    <p:sldId id="1585" r:id="rId22"/>
    <p:sldId id="1599" r:id="rId23"/>
    <p:sldId id="1600" r:id="rId24"/>
    <p:sldId id="1589" r:id="rId25"/>
    <p:sldId id="1601" r:id="rId26"/>
    <p:sldId id="1591" r:id="rId27"/>
    <p:sldId id="1611" r:id="rId28"/>
    <p:sldId id="1613" r:id="rId29"/>
    <p:sldId id="1451" r:id="rId30"/>
    <p:sldId id="1606" r:id="rId31"/>
    <p:sldId id="1625" r:id="rId32"/>
    <p:sldId id="1448" r:id="rId33"/>
    <p:sldId id="1556" r:id="rId34"/>
    <p:sldId id="1529" r:id="rId35"/>
    <p:sldId id="1558" r:id="rId36"/>
    <p:sldId id="1616" r:id="rId37"/>
    <p:sldId id="1626" r:id="rId38"/>
    <p:sldId id="1614" r:id="rId39"/>
    <p:sldId id="1618" r:id="rId40"/>
    <p:sldId id="1525" r:id="rId41"/>
    <p:sldId id="1604" r:id="rId42"/>
    <p:sldId id="1620" r:id="rId43"/>
    <p:sldId id="1621" r:id="rId44"/>
    <p:sldId id="1623" r:id="rId45"/>
    <p:sldId id="1622" r:id="rId46"/>
    <p:sldId id="1592" r:id="rId47"/>
    <p:sldId id="1624" r:id="rId48"/>
    <p:sldId id="1565" r:id="rId49"/>
    <p:sldId id="1566" r:id="rId50"/>
    <p:sldId id="1557" r:id="rId51"/>
    <p:sldId id="1546" r:id="rId52"/>
    <p:sldId id="1530" r:id="rId53"/>
    <p:sldId id="1610" r:id="rId54"/>
  </p:sldIdLst>
  <p:sldSz cx="12192000" cy="6858000"/>
  <p:notesSz cx="6858000" cy="9144000"/>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26D7E"/>
    <a:srgbClr val="EAEAF1"/>
    <a:srgbClr val="F4E6D2"/>
    <a:srgbClr val="E6D6BC"/>
    <a:srgbClr val="9DA7DE"/>
    <a:srgbClr val="EEEEF3"/>
    <a:srgbClr val="CCD6E0"/>
    <a:srgbClr val="F9E5C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30"/>
    <p:restoredTop sz="94658"/>
  </p:normalViewPr>
  <p:slideViewPr>
    <p:cSldViewPr snapToGrid="0" showGuides="1">
      <p:cViewPr>
        <p:scale>
          <a:sx n="94" d="100"/>
          <a:sy n="94" d="100"/>
        </p:scale>
        <p:origin x="200" y="75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9T07:27:48.234"/>
    </inkml:context>
    <inkml:brush xml:id="br0">
      <inkml:brushProperty name="width" value="0.2" units="cm"/>
      <inkml:brushProperty name="height" value="0.2" units="cm"/>
      <inkml:brushProperty name="color" value="#E71224"/>
    </inkml:brush>
  </inkml:definitions>
  <inkml:trace contextRef="#ctx0" brushRef="#br0">0 872 24575,'90'-7'0,"0"0"0,0 1 0,0-1 0,-2-6 0,0-2 0,2-3 0,8 0-469,-16 5 1,7-2 0,4 0 0,2 0 0,-1-1 0,-1-1 0,-5 0-79,0-3 1,-3 0 0,-2-2 0,0 1 0,0-1 0,1 1-1,2 1 1,2-1 0,1 1 0,-2 0 0,-3 0 0,-3 1 268,15-4 0,-5 1 0,-2 0 0,-1 0 88,-4 2 0,-1 0 0,-1 0 0,-2 2 190,14-3 0,-2 1 0,-1 1 69,-1-1 0,0 1 1,-3 1-70,-8 2 0,-3 1 0,-3 1-237,20-4 0,-6 1 237,-15 3 0,-7 2 0,30-5 3276,-27 9-2592,-23 4 2592,-15 4-3196,-13-3 0,-11 2 0,-4-2 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9T07:27:49.283"/>
    </inkml:context>
    <inkml:brush xml:id="br0">
      <inkml:brushProperty name="width" value="0.2" units="cm"/>
      <inkml:brushProperty name="height" value="0.2" units="cm"/>
      <inkml:brushProperty name="color" value="#E71224"/>
    </inkml:brush>
  </inkml:definitions>
  <inkml:trace contextRef="#ctx0" brushRef="#br0">0 1 24575,'42'4'0,"25"14"0,-9-1 0,11 4 0,6 2-820,2 1 1,6 2 0,4 1 0,1 0 163,-9-2 1,2 0-1,2 0 1,1 0 0,2 1 108,-4-2 1,2 0 0,1 1 0,1-1 0,1 1 0,0 0 318,3 2 1,1 0-1,0-1 1,1 2 0,-1-1-1,1 0 228,1 1 0,-1 0 0,1-1 0,0 1 0,-1 1 0,1-1 0,-1 0 0,1 2 0,0-1 0,-2 0 0,-1 0 0,-3-1-104,1 1 0,0 1 0,-4-1 0,-3-2 0,-4 0 104,18 6 0,-6-2 0,-6-1 0,14 7 0,-9-2-202,-22-10 0,-4-2 202,-11-3 0,-3-1 3276,29 10-2833,-25-12 2609,-15-5-3052,-14-7 3276,-5-1-2994,-11-3 0,-3-1 0,-3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9T07:29:36.807"/>
    </inkml:context>
    <inkml:brush xml:id="br0">
      <inkml:brushProperty name="width" value="0.2" units="cm"/>
      <inkml:brushProperty name="height" value="0.2" units="cm"/>
      <inkml:brushProperty name="color" value="#E71224"/>
    </inkml:brush>
  </inkml:definitions>
  <inkml:trace contextRef="#ctx0" brushRef="#br0">0 388 24575,'64'0'0,"-9"0"0,14 0-773,13-1 0,2 0 773,-2-1 0,12 0 0,-2-1 0,-22-5 0,21 1 378,-18-2-378,1-1 285,-6 2-285,-1-1 0,0 0 0,0-2 0,0-1 0,0-1 785,3 0-785,5-1 0,12 0-493,7-1 493,2 0 0,-6 3 0,-6 0 0,0 1 0,1 2 0,6-2 0,-11 4 0,1-1 0,-4 1 0,0 0 0,10 0 0,-7 0 0,1-2 0,-5 1 0,7-2 0,6 2 0,-36 5 0,3 1 0,11-1 0,3-1 0,4 0 0,3 0 0,8-2 0,-1-2 0,-15 1 0,-3-1 295,-11 2 1,-3 0-296,40-3 0,-23 6 0,-2 0 0,-13 2 0,-19 1 0,3 0 0,-2 0 0,2 0 0,0-1 0,3 1 0,0 0 0,-2 0 0,-3 0 0,-5 0 0,-5 0 0,-4 0 0,-3 0 0,-2 0 0,-2 0 0,-3 1 0,1 1 0,-1 2 0,3 1 0,1-1 0,-1 2 0,1 0 0,-1 0 0,-1-1 0,2 0 0,0 0 0,2 0 0,1 2 0,2 1 0,2 2 0,1 1 0,8 2 0,8 0 0,4 1 0,3-1 0,-8-1 0,-11-1 0,-8-2 0,-7 0 0,-3-4 0,-1 2 0,-1-2 0,-1 1 0,-1-1 0,-1 0 0,-2-2 0,0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9T07:29:41.196"/>
    </inkml:context>
    <inkml:brush xml:id="br0">
      <inkml:brushProperty name="width" value="0.2" units="cm"/>
      <inkml:brushProperty name="height" value="0.2" units="cm"/>
      <inkml:brushProperty name="color" value="#E71224"/>
    </inkml:brush>
  </inkml:definitions>
  <inkml:trace contextRef="#ctx0" brushRef="#br0">0 108 24575,'38'0'0,"7"0"0,5 0 0,5 0-680,-1 0 0,1 0 680,13 0 0,2 0 0,0 0 0,-2 0 0,-16 0 0,-1 0 0,17 0 0,0 0 0,-8 0 0,-2 0 0,-1 0 0,0 0 0,-5 0 0,-1 0 0,39 0 0,7 0 0,1 0 0,-3 0 0,-45 1 0,1 1 0,48 6 0,-43-2 0,2 0 63,17 2 0,5-1-63,-15-2 0,3-1 0,1 0 0,-1-1 0,1-1 0,0 1-546,0-2 0,0 0 0,-2 0 546,21-1 0,-3 0 0,-10 0 0,-1 0 0,7 0 0,1 0 0,-1 0 0,0 0 0,1 0 0,0 0 0,-1 0 0,-1 0 0,0 0 0,0 0 0,0 0 0,-1 0-480,-6 0 1,-1 0 479,2 0 0,-1 0 0,-2 0 0,0 0 0,-3 0 0,0 0 0,3 0 0,0 0 0,-6 0 0,0 0 0,-1 0 0,1 0 0,-1 0 0,1 0 0,0 0 0,1 0 0,3 0 0,1 0 0,3 0 0,1 0 0,2 0 0,1 0 0,0 0 0,-2 0 0,-5 0 0,-2 0 0,-4 0 0,-2 0 0,-4 0 0,-3 0 0,-3 0 0,-1 0 291,0 0 0,-1 0-291,40 0 0,-9 0 0,-1 0 0,2 3 0,4 1 213,3 2-213,4 1 0,-5-3 0,1 3 960,-37-5 1,1 0-961,6 0 0,1 0 557,9 1 1,0-1-558,4 0 0,0 0 0,-2 0 0,-3 0 0,-9-1 0,-3 1 0,40-2 0,-19 0 0,-16 0 0,5 0 0,2 0 0,2 0 0,2 0 0,2 0 0,-2 0 0,4 0 0,2 0 0,0 0 0,0 0 0,-5 0 0,-8 0 0,-5 0 0,-7 0 0,-7 0 0,-3 0 0,-5 0 0,-2 0 0,2 0 0,2 0 0,3 0 0,7 0 0,5 0 0,2 0 0,0 0 0,-3 0 0,-6-2 0,-2-1 0,-2-3 0,-3 0 0,-5 0 0,-3-2 0,0-1 0,3-4 0,8-7 0,19-6 0,15 3 0,16 6-347,-41 12 0,1 3 347,0 0 0,-1 1 0,-1-1 0,0 0 0,45-2 0,-1 0 0,-40 3 0,4 1 0,23 0 0,7-1 0,-18 1 0,4 0 0,2 0 0,8 0 0,3 0 0,0 0 0,2-1 0,0 0 0,0-1 0,-5 1 0,-1-1 0,-1 0 0,-1-1 0,-1 1 0,-3-1-745,24-1 1,-6 1 744,-15 1 0,-5 0 0,-14 0 0,-4 1 0,34 1 0,5-2 0,-45 0 0,0 1-284,1-1 0,0 0 284,2 1 0,0-1 0,-1 0 0,1 1 0,-3-1 0,1 0 0,1 0 0,1 0 0,-1 0 0,1 0 0,1 1 0,0 1 0,-4-1 0,-1 1 0,-2 0 0,0 0 0,50-1 0,-3 1 0,-43 0 0,0 0 0,-2 0 0,-1 0 0,5 0 0,0 0 0,0 0 0,0-1 0,-2 1 0,0 0 0,1 0 0,0 0 0,39 0 0,-5 0 0,-6 0 0,-4 0 0,1 0 584,-5 0-584,-6 0 0,6 0 0,6 0 0,8 0 902,9 0-902,-47 0 0,1 0-42,19 2 0,4 0 42,16 3 0,3 1 0,-25-1 0,0 0 0,0 1 0,-1 1 0,0 0 0,-4 1 0,12 2 0,-7 0 0,24 3 614,-43-5-614,-24-6 40,-12-2-40,3 0 605,1 0-605,2 0 90,0 0-90,1 0 0,-4 0 0,-2-1 0,4-1 0,20-1 0,21 1 0,25 1 0,9 1 0,-44 0 0,2 0 0,12 0 0,5 0 0,16 0 0,6 0 0,-19 1 0,2 0 0,2 0-756,6 1 1,1-1-1,-1 1 756,-9-1 0,-2 1 0,-3-1 0,17 1 0,-6 0-105,-17-2 1,-5 1 104,30 2 0,2 0 0,-8 0 0,-9-2 0,-5 0 0,-1 0 0,0-1 0,2 0 2240,-2 0-2240,-1 0 236,3 0-236,-3 0 0,-4 0 0,-6 0 0,-8 0 0,-4 0 0,-4 0 0,-4 0 0,-3 0 0,-1 0 0,-2 0 0,2 0 0,-2 0 0,-1 0 0,-1 0 0,-5 0 0,-2 0 0,-5 0 0,-2 0 0,-1 2 0,-1 0 0,-2 1 0,0-1 0,-1-2 0,0 0 0,1 0 0,0 0 0,-5 0 0,0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E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B131A68-3BF7-1C4A-BD99-B47A8EF33F17}" type="datetimeFigureOut">
              <a:rPr lang="en-ES" smtClean="0"/>
              <a:t>7/9/26</a:t>
            </a:fld>
            <a:endParaRPr lang="en-E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E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E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E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352FAA-0DBC-C548-937B-52BCF8326A45}" type="slidenum">
              <a:rPr lang="en-ES" smtClean="0"/>
              <a:t>‹#›</a:t>
            </a:fld>
            <a:endParaRPr lang="en-ES"/>
          </a:p>
        </p:txBody>
      </p:sp>
    </p:spTree>
    <p:extLst>
      <p:ext uri="{BB962C8B-B14F-4D97-AF65-F5344CB8AC3E}">
        <p14:creationId xmlns:p14="http://schemas.microsoft.com/office/powerpoint/2010/main" val="2307699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ES"/>
          </a:p>
        </p:txBody>
      </p:sp>
      <p:sp>
        <p:nvSpPr>
          <p:cNvPr id="4" name="Slide Number Placeholder 3"/>
          <p:cNvSpPr>
            <a:spLocks noGrp="1"/>
          </p:cNvSpPr>
          <p:nvPr>
            <p:ph type="sldNum" sz="quarter" idx="5"/>
          </p:nvPr>
        </p:nvSpPr>
        <p:spPr/>
        <p:txBody>
          <a:bodyPr/>
          <a:lstStyle/>
          <a:p>
            <a:fld id="{9D352FAA-0DBC-C548-937B-52BCF8326A45}" type="slidenum">
              <a:rPr lang="en-ES" smtClean="0"/>
              <a:t>1</a:t>
            </a:fld>
            <a:endParaRPr lang="en-ES"/>
          </a:p>
        </p:txBody>
      </p:sp>
    </p:spTree>
    <p:extLst>
      <p:ext uri="{BB962C8B-B14F-4D97-AF65-F5344CB8AC3E}">
        <p14:creationId xmlns:p14="http://schemas.microsoft.com/office/powerpoint/2010/main" val="31413415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ES" dirty="0"/>
          </a:p>
        </p:txBody>
      </p:sp>
      <p:sp>
        <p:nvSpPr>
          <p:cNvPr id="4" name="Slide Number Placeholder 3"/>
          <p:cNvSpPr>
            <a:spLocks noGrp="1"/>
          </p:cNvSpPr>
          <p:nvPr>
            <p:ph type="sldNum" sz="quarter" idx="5"/>
          </p:nvPr>
        </p:nvSpPr>
        <p:spPr/>
        <p:txBody>
          <a:bodyPr/>
          <a:lstStyle/>
          <a:p>
            <a:fld id="{9D352FAA-0DBC-C548-937B-52BCF8326A45}" type="slidenum">
              <a:rPr lang="en-ES" smtClean="0"/>
              <a:t>3</a:t>
            </a:fld>
            <a:endParaRPr lang="en-ES"/>
          </a:p>
        </p:txBody>
      </p:sp>
    </p:spTree>
    <p:extLst>
      <p:ext uri="{BB962C8B-B14F-4D97-AF65-F5344CB8AC3E}">
        <p14:creationId xmlns:p14="http://schemas.microsoft.com/office/powerpoint/2010/main" val="3751567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653BD-E1DB-DCCB-3AD7-36DFEF0D4D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116B21-B9FA-36E9-76D3-D0B4832CB1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84080B-1844-D482-A331-629E928B7787}"/>
              </a:ext>
            </a:extLst>
          </p:cNvPr>
          <p:cNvSpPr>
            <a:spLocks noGrp="1"/>
          </p:cNvSpPr>
          <p:nvPr>
            <p:ph type="body" idx="1"/>
          </p:nvPr>
        </p:nvSpPr>
        <p:spPr/>
        <p:txBody>
          <a:bodyPr/>
          <a:lstStyle/>
          <a:p>
            <a:endParaRPr lang="en-ES" dirty="0"/>
          </a:p>
        </p:txBody>
      </p:sp>
      <p:sp>
        <p:nvSpPr>
          <p:cNvPr id="4" name="Slide Number Placeholder 3">
            <a:extLst>
              <a:ext uri="{FF2B5EF4-FFF2-40B4-BE49-F238E27FC236}">
                <a16:creationId xmlns:a16="http://schemas.microsoft.com/office/drawing/2014/main" id="{6CCBB059-217F-13F6-5E54-D54947880B32}"/>
              </a:ext>
            </a:extLst>
          </p:cNvPr>
          <p:cNvSpPr>
            <a:spLocks noGrp="1"/>
          </p:cNvSpPr>
          <p:nvPr>
            <p:ph type="sldNum" sz="quarter" idx="5"/>
          </p:nvPr>
        </p:nvSpPr>
        <p:spPr/>
        <p:txBody>
          <a:bodyPr/>
          <a:lstStyle/>
          <a:p>
            <a:fld id="{9D352FAA-0DBC-C548-937B-52BCF8326A45}" type="slidenum">
              <a:rPr lang="en-ES" smtClean="0"/>
              <a:t>4</a:t>
            </a:fld>
            <a:endParaRPr lang="en-ES"/>
          </a:p>
        </p:txBody>
      </p:sp>
    </p:spTree>
    <p:extLst>
      <p:ext uri="{BB962C8B-B14F-4D97-AF65-F5344CB8AC3E}">
        <p14:creationId xmlns:p14="http://schemas.microsoft.com/office/powerpoint/2010/main" val="4255448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69E80-DED9-CCEB-BE56-6CEE40D991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B43EFA-5443-302F-54F0-EC5466E9C3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A3B21C-10EE-7AFC-CC33-006A70F86256}"/>
              </a:ext>
            </a:extLst>
          </p:cNvPr>
          <p:cNvSpPr>
            <a:spLocks noGrp="1"/>
          </p:cNvSpPr>
          <p:nvPr>
            <p:ph type="body" idx="1"/>
          </p:nvPr>
        </p:nvSpPr>
        <p:spPr/>
        <p:txBody>
          <a:bodyPr/>
          <a:lstStyle/>
          <a:p>
            <a:endParaRPr lang="en-ES" dirty="0"/>
          </a:p>
        </p:txBody>
      </p:sp>
      <p:sp>
        <p:nvSpPr>
          <p:cNvPr id="4" name="Slide Number Placeholder 3">
            <a:extLst>
              <a:ext uri="{FF2B5EF4-FFF2-40B4-BE49-F238E27FC236}">
                <a16:creationId xmlns:a16="http://schemas.microsoft.com/office/drawing/2014/main" id="{44785BFA-A1FF-FAE2-48F5-8876CD7844A9}"/>
              </a:ext>
            </a:extLst>
          </p:cNvPr>
          <p:cNvSpPr>
            <a:spLocks noGrp="1"/>
          </p:cNvSpPr>
          <p:nvPr>
            <p:ph type="sldNum" sz="quarter" idx="5"/>
          </p:nvPr>
        </p:nvSpPr>
        <p:spPr/>
        <p:txBody>
          <a:bodyPr/>
          <a:lstStyle/>
          <a:p>
            <a:fld id="{9D352FAA-0DBC-C548-937B-52BCF8326A45}" type="slidenum">
              <a:rPr lang="en-ES" smtClean="0"/>
              <a:t>5</a:t>
            </a:fld>
            <a:endParaRPr lang="en-ES"/>
          </a:p>
        </p:txBody>
      </p:sp>
    </p:spTree>
    <p:extLst>
      <p:ext uri="{BB962C8B-B14F-4D97-AF65-F5344CB8AC3E}">
        <p14:creationId xmlns:p14="http://schemas.microsoft.com/office/powerpoint/2010/main" val="2956896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63C391-953F-61F2-137A-2642E721BB7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ES"/>
          </a:p>
        </p:txBody>
      </p:sp>
      <p:sp>
        <p:nvSpPr>
          <p:cNvPr id="3" name="Subtitle 2">
            <a:extLst>
              <a:ext uri="{FF2B5EF4-FFF2-40B4-BE49-F238E27FC236}">
                <a16:creationId xmlns:a16="http://schemas.microsoft.com/office/drawing/2014/main" id="{4D1DB43D-6F24-BBEF-A9F0-185B6C5715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ES"/>
          </a:p>
        </p:txBody>
      </p:sp>
      <p:sp>
        <p:nvSpPr>
          <p:cNvPr id="4" name="Date Placeholder 3">
            <a:extLst>
              <a:ext uri="{FF2B5EF4-FFF2-40B4-BE49-F238E27FC236}">
                <a16:creationId xmlns:a16="http://schemas.microsoft.com/office/drawing/2014/main" id="{D8DC8265-5347-D3DA-2DDD-0B201B3202C0}"/>
              </a:ext>
            </a:extLst>
          </p:cNvPr>
          <p:cNvSpPr>
            <a:spLocks noGrp="1"/>
          </p:cNvSpPr>
          <p:nvPr>
            <p:ph type="dt" sz="half" idx="10"/>
          </p:nvPr>
        </p:nvSpPr>
        <p:spPr/>
        <p:txBody>
          <a:bodyPr/>
          <a:lstStyle/>
          <a:p>
            <a:fld id="{633498F9-230D-104D-8822-4698C37D8FDD}" type="datetimeFigureOut">
              <a:rPr lang="en-ES" smtClean="0"/>
              <a:t>7/9/26</a:t>
            </a:fld>
            <a:endParaRPr lang="en-ES"/>
          </a:p>
        </p:txBody>
      </p:sp>
      <p:sp>
        <p:nvSpPr>
          <p:cNvPr id="5" name="Footer Placeholder 4">
            <a:extLst>
              <a:ext uri="{FF2B5EF4-FFF2-40B4-BE49-F238E27FC236}">
                <a16:creationId xmlns:a16="http://schemas.microsoft.com/office/drawing/2014/main" id="{3C46A71C-0267-3BFC-6181-BE901E690940}"/>
              </a:ext>
            </a:extLst>
          </p:cNvPr>
          <p:cNvSpPr>
            <a:spLocks noGrp="1"/>
          </p:cNvSpPr>
          <p:nvPr>
            <p:ph type="ftr" sz="quarter" idx="11"/>
          </p:nvPr>
        </p:nvSpPr>
        <p:spPr/>
        <p:txBody>
          <a:bodyPr/>
          <a:lstStyle/>
          <a:p>
            <a:endParaRPr lang="en-ES"/>
          </a:p>
        </p:txBody>
      </p:sp>
      <p:sp>
        <p:nvSpPr>
          <p:cNvPr id="6" name="Slide Number Placeholder 5">
            <a:extLst>
              <a:ext uri="{FF2B5EF4-FFF2-40B4-BE49-F238E27FC236}">
                <a16:creationId xmlns:a16="http://schemas.microsoft.com/office/drawing/2014/main" id="{1ED74798-F9E8-6186-8E75-0B3D5383A333}"/>
              </a:ext>
            </a:extLst>
          </p:cNvPr>
          <p:cNvSpPr>
            <a:spLocks noGrp="1"/>
          </p:cNvSpPr>
          <p:nvPr>
            <p:ph type="sldNum" sz="quarter" idx="12"/>
          </p:nvPr>
        </p:nvSpPr>
        <p:spPr/>
        <p:txBody>
          <a:bodyPr/>
          <a:lstStyle/>
          <a:p>
            <a:fld id="{FC4E38E7-265D-304E-A4DC-93FB8037BA42}" type="slidenum">
              <a:rPr lang="en-ES" smtClean="0"/>
              <a:t>‹#›</a:t>
            </a:fld>
            <a:endParaRPr lang="en-ES"/>
          </a:p>
        </p:txBody>
      </p:sp>
    </p:spTree>
    <p:extLst>
      <p:ext uri="{BB962C8B-B14F-4D97-AF65-F5344CB8AC3E}">
        <p14:creationId xmlns:p14="http://schemas.microsoft.com/office/powerpoint/2010/main" val="10033817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23F24-17BF-A780-243A-1D10FCC4A0FD}"/>
              </a:ext>
            </a:extLst>
          </p:cNvPr>
          <p:cNvSpPr>
            <a:spLocks noGrp="1"/>
          </p:cNvSpPr>
          <p:nvPr>
            <p:ph type="title"/>
          </p:nvPr>
        </p:nvSpPr>
        <p:spPr/>
        <p:txBody>
          <a:bodyPr/>
          <a:lstStyle/>
          <a:p>
            <a:r>
              <a:rPr lang="en-GB"/>
              <a:t>Click to edit Master title style</a:t>
            </a:r>
            <a:endParaRPr lang="en-ES"/>
          </a:p>
        </p:txBody>
      </p:sp>
      <p:sp>
        <p:nvSpPr>
          <p:cNvPr id="3" name="Content Placeholder 2">
            <a:extLst>
              <a:ext uri="{FF2B5EF4-FFF2-40B4-BE49-F238E27FC236}">
                <a16:creationId xmlns:a16="http://schemas.microsoft.com/office/drawing/2014/main" id="{2D289498-BCB2-2B88-1514-7EB3F14D388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ES"/>
          </a:p>
        </p:txBody>
      </p:sp>
      <p:sp>
        <p:nvSpPr>
          <p:cNvPr id="4" name="Date Placeholder 3">
            <a:extLst>
              <a:ext uri="{FF2B5EF4-FFF2-40B4-BE49-F238E27FC236}">
                <a16:creationId xmlns:a16="http://schemas.microsoft.com/office/drawing/2014/main" id="{1207D072-C35B-7696-5064-F92FC65C7428}"/>
              </a:ext>
            </a:extLst>
          </p:cNvPr>
          <p:cNvSpPr>
            <a:spLocks noGrp="1"/>
          </p:cNvSpPr>
          <p:nvPr>
            <p:ph type="dt" sz="half" idx="10"/>
          </p:nvPr>
        </p:nvSpPr>
        <p:spPr/>
        <p:txBody>
          <a:bodyPr/>
          <a:lstStyle/>
          <a:p>
            <a:fld id="{633498F9-230D-104D-8822-4698C37D8FDD}" type="datetimeFigureOut">
              <a:rPr lang="en-ES" smtClean="0"/>
              <a:t>7/9/26</a:t>
            </a:fld>
            <a:endParaRPr lang="en-ES"/>
          </a:p>
        </p:txBody>
      </p:sp>
      <p:sp>
        <p:nvSpPr>
          <p:cNvPr id="5" name="Footer Placeholder 4">
            <a:extLst>
              <a:ext uri="{FF2B5EF4-FFF2-40B4-BE49-F238E27FC236}">
                <a16:creationId xmlns:a16="http://schemas.microsoft.com/office/drawing/2014/main" id="{9261397A-8717-F155-DDE7-2B762A09BE4B}"/>
              </a:ext>
            </a:extLst>
          </p:cNvPr>
          <p:cNvSpPr>
            <a:spLocks noGrp="1"/>
          </p:cNvSpPr>
          <p:nvPr>
            <p:ph type="ftr" sz="quarter" idx="11"/>
          </p:nvPr>
        </p:nvSpPr>
        <p:spPr/>
        <p:txBody>
          <a:bodyPr/>
          <a:lstStyle/>
          <a:p>
            <a:endParaRPr lang="en-ES"/>
          </a:p>
        </p:txBody>
      </p:sp>
      <p:sp>
        <p:nvSpPr>
          <p:cNvPr id="6" name="Slide Number Placeholder 5">
            <a:extLst>
              <a:ext uri="{FF2B5EF4-FFF2-40B4-BE49-F238E27FC236}">
                <a16:creationId xmlns:a16="http://schemas.microsoft.com/office/drawing/2014/main" id="{F6F01456-4CBE-874A-91D8-3C1EFFD9E8C3}"/>
              </a:ext>
            </a:extLst>
          </p:cNvPr>
          <p:cNvSpPr>
            <a:spLocks noGrp="1"/>
          </p:cNvSpPr>
          <p:nvPr>
            <p:ph type="sldNum" sz="quarter" idx="12"/>
          </p:nvPr>
        </p:nvSpPr>
        <p:spPr/>
        <p:txBody>
          <a:bodyPr/>
          <a:lstStyle/>
          <a:p>
            <a:fld id="{FC4E38E7-265D-304E-A4DC-93FB8037BA42}" type="slidenum">
              <a:rPr lang="en-ES" smtClean="0"/>
              <a:t>‹#›</a:t>
            </a:fld>
            <a:endParaRPr lang="en-ES"/>
          </a:p>
        </p:txBody>
      </p:sp>
    </p:spTree>
    <p:extLst>
      <p:ext uri="{BB962C8B-B14F-4D97-AF65-F5344CB8AC3E}">
        <p14:creationId xmlns:p14="http://schemas.microsoft.com/office/powerpoint/2010/main" val="6604250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562BE2-2988-69BA-6C05-11055E352FF2}"/>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ES"/>
          </a:p>
        </p:txBody>
      </p:sp>
      <p:sp>
        <p:nvSpPr>
          <p:cNvPr id="3" name="Text Placeholder 2">
            <a:extLst>
              <a:ext uri="{FF2B5EF4-FFF2-40B4-BE49-F238E27FC236}">
                <a16:creationId xmlns:a16="http://schemas.microsoft.com/office/drawing/2014/main" id="{2C7E81FA-FE65-B64E-ED1F-EB3F22BBDC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4C78299-6478-D645-FEBD-208CBB7A6AEE}"/>
              </a:ext>
            </a:extLst>
          </p:cNvPr>
          <p:cNvSpPr>
            <a:spLocks noGrp="1"/>
          </p:cNvSpPr>
          <p:nvPr>
            <p:ph type="dt" sz="half" idx="10"/>
          </p:nvPr>
        </p:nvSpPr>
        <p:spPr/>
        <p:txBody>
          <a:bodyPr/>
          <a:lstStyle/>
          <a:p>
            <a:fld id="{633498F9-230D-104D-8822-4698C37D8FDD}" type="datetimeFigureOut">
              <a:rPr lang="en-ES" smtClean="0"/>
              <a:t>7/9/26</a:t>
            </a:fld>
            <a:endParaRPr lang="en-ES"/>
          </a:p>
        </p:txBody>
      </p:sp>
      <p:sp>
        <p:nvSpPr>
          <p:cNvPr id="5" name="Footer Placeholder 4">
            <a:extLst>
              <a:ext uri="{FF2B5EF4-FFF2-40B4-BE49-F238E27FC236}">
                <a16:creationId xmlns:a16="http://schemas.microsoft.com/office/drawing/2014/main" id="{0B69E115-2E4F-E0E6-57CA-4817214B9955}"/>
              </a:ext>
            </a:extLst>
          </p:cNvPr>
          <p:cNvSpPr>
            <a:spLocks noGrp="1"/>
          </p:cNvSpPr>
          <p:nvPr>
            <p:ph type="ftr" sz="quarter" idx="11"/>
          </p:nvPr>
        </p:nvSpPr>
        <p:spPr/>
        <p:txBody>
          <a:bodyPr/>
          <a:lstStyle/>
          <a:p>
            <a:endParaRPr lang="en-ES"/>
          </a:p>
        </p:txBody>
      </p:sp>
      <p:sp>
        <p:nvSpPr>
          <p:cNvPr id="6" name="Slide Number Placeholder 5">
            <a:extLst>
              <a:ext uri="{FF2B5EF4-FFF2-40B4-BE49-F238E27FC236}">
                <a16:creationId xmlns:a16="http://schemas.microsoft.com/office/drawing/2014/main" id="{56449F85-2C4E-B692-2C7A-7015D2FE0285}"/>
              </a:ext>
            </a:extLst>
          </p:cNvPr>
          <p:cNvSpPr>
            <a:spLocks noGrp="1"/>
          </p:cNvSpPr>
          <p:nvPr>
            <p:ph type="sldNum" sz="quarter" idx="12"/>
          </p:nvPr>
        </p:nvSpPr>
        <p:spPr/>
        <p:txBody>
          <a:bodyPr/>
          <a:lstStyle/>
          <a:p>
            <a:fld id="{FC4E38E7-265D-304E-A4DC-93FB8037BA42}" type="slidenum">
              <a:rPr lang="en-ES" smtClean="0"/>
              <a:t>‹#›</a:t>
            </a:fld>
            <a:endParaRPr lang="en-ES"/>
          </a:p>
        </p:txBody>
      </p:sp>
    </p:spTree>
    <p:extLst>
      <p:ext uri="{BB962C8B-B14F-4D97-AF65-F5344CB8AC3E}">
        <p14:creationId xmlns:p14="http://schemas.microsoft.com/office/powerpoint/2010/main" val="7864378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053CD-3FE1-20E5-3535-D0918F70AC2B}"/>
              </a:ext>
            </a:extLst>
          </p:cNvPr>
          <p:cNvSpPr>
            <a:spLocks noGrp="1"/>
          </p:cNvSpPr>
          <p:nvPr>
            <p:ph type="title"/>
          </p:nvPr>
        </p:nvSpPr>
        <p:spPr/>
        <p:txBody>
          <a:bodyPr/>
          <a:lstStyle/>
          <a:p>
            <a:r>
              <a:rPr lang="en-GB"/>
              <a:t>Click to edit Master title style</a:t>
            </a:r>
            <a:endParaRPr lang="en-ES"/>
          </a:p>
        </p:txBody>
      </p:sp>
      <p:sp>
        <p:nvSpPr>
          <p:cNvPr id="3" name="Content Placeholder 2">
            <a:extLst>
              <a:ext uri="{FF2B5EF4-FFF2-40B4-BE49-F238E27FC236}">
                <a16:creationId xmlns:a16="http://schemas.microsoft.com/office/drawing/2014/main" id="{ABFFDBCF-1C7A-221A-AB1A-A740B967CAA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ES"/>
          </a:p>
        </p:txBody>
      </p:sp>
      <p:sp>
        <p:nvSpPr>
          <p:cNvPr id="4" name="Content Placeholder 3">
            <a:extLst>
              <a:ext uri="{FF2B5EF4-FFF2-40B4-BE49-F238E27FC236}">
                <a16:creationId xmlns:a16="http://schemas.microsoft.com/office/drawing/2014/main" id="{017A1392-956D-0019-1971-D184756B8B2C}"/>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ES"/>
          </a:p>
        </p:txBody>
      </p:sp>
      <p:sp>
        <p:nvSpPr>
          <p:cNvPr id="5" name="Date Placeholder 4">
            <a:extLst>
              <a:ext uri="{FF2B5EF4-FFF2-40B4-BE49-F238E27FC236}">
                <a16:creationId xmlns:a16="http://schemas.microsoft.com/office/drawing/2014/main" id="{65155EA2-71AC-A3C9-9DFF-523603108436}"/>
              </a:ext>
            </a:extLst>
          </p:cNvPr>
          <p:cNvSpPr>
            <a:spLocks noGrp="1"/>
          </p:cNvSpPr>
          <p:nvPr>
            <p:ph type="dt" sz="half" idx="10"/>
          </p:nvPr>
        </p:nvSpPr>
        <p:spPr/>
        <p:txBody>
          <a:bodyPr/>
          <a:lstStyle/>
          <a:p>
            <a:fld id="{633498F9-230D-104D-8822-4698C37D8FDD}" type="datetimeFigureOut">
              <a:rPr lang="en-ES" smtClean="0"/>
              <a:t>7/9/26</a:t>
            </a:fld>
            <a:endParaRPr lang="en-ES"/>
          </a:p>
        </p:txBody>
      </p:sp>
      <p:sp>
        <p:nvSpPr>
          <p:cNvPr id="6" name="Footer Placeholder 5">
            <a:extLst>
              <a:ext uri="{FF2B5EF4-FFF2-40B4-BE49-F238E27FC236}">
                <a16:creationId xmlns:a16="http://schemas.microsoft.com/office/drawing/2014/main" id="{B1069593-8D89-5494-A08A-885B1DFAB35A}"/>
              </a:ext>
            </a:extLst>
          </p:cNvPr>
          <p:cNvSpPr>
            <a:spLocks noGrp="1"/>
          </p:cNvSpPr>
          <p:nvPr>
            <p:ph type="ftr" sz="quarter" idx="11"/>
          </p:nvPr>
        </p:nvSpPr>
        <p:spPr/>
        <p:txBody>
          <a:bodyPr/>
          <a:lstStyle/>
          <a:p>
            <a:endParaRPr lang="en-ES"/>
          </a:p>
        </p:txBody>
      </p:sp>
      <p:sp>
        <p:nvSpPr>
          <p:cNvPr id="7" name="Slide Number Placeholder 6">
            <a:extLst>
              <a:ext uri="{FF2B5EF4-FFF2-40B4-BE49-F238E27FC236}">
                <a16:creationId xmlns:a16="http://schemas.microsoft.com/office/drawing/2014/main" id="{3868151B-DEE5-7F14-9BBF-F79EED74ACC6}"/>
              </a:ext>
            </a:extLst>
          </p:cNvPr>
          <p:cNvSpPr>
            <a:spLocks noGrp="1"/>
          </p:cNvSpPr>
          <p:nvPr>
            <p:ph type="sldNum" sz="quarter" idx="12"/>
          </p:nvPr>
        </p:nvSpPr>
        <p:spPr/>
        <p:txBody>
          <a:bodyPr/>
          <a:lstStyle/>
          <a:p>
            <a:fld id="{FC4E38E7-265D-304E-A4DC-93FB8037BA42}" type="slidenum">
              <a:rPr lang="en-ES" smtClean="0"/>
              <a:t>‹#›</a:t>
            </a:fld>
            <a:endParaRPr lang="en-ES"/>
          </a:p>
        </p:txBody>
      </p:sp>
    </p:spTree>
    <p:extLst>
      <p:ext uri="{BB962C8B-B14F-4D97-AF65-F5344CB8AC3E}">
        <p14:creationId xmlns:p14="http://schemas.microsoft.com/office/powerpoint/2010/main" val="8356157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FFD7D-15B1-CF55-96D7-5653F47FC8A5}"/>
              </a:ext>
            </a:extLst>
          </p:cNvPr>
          <p:cNvSpPr>
            <a:spLocks noGrp="1"/>
          </p:cNvSpPr>
          <p:nvPr>
            <p:ph type="title"/>
          </p:nvPr>
        </p:nvSpPr>
        <p:spPr>
          <a:xfrm>
            <a:off x="839788" y="365125"/>
            <a:ext cx="10515600" cy="1325563"/>
          </a:xfrm>
        </p:spPr>
        <p:txBody>
          <a:bodyPr/>
          <a:lstStyle/>
          <a:p>
            <a:r>
              <a:rPr lang="en-GB"/>
              <a:t>Click to edit Master title style</a:t>
            </a:r>
            <a:endParaRPr lang="en-ES"/>
          </a:p>
        </p:txBody>
      </p:sp>
      <p:sp>
        <p:nvSpPr>
          <p:cNvPr id="3" name="Text Placeholder 2">
            <a:extLst>
              <a:ext uri="{FF2B5EF4-FFF2-40B4-BE49-F238E27FC236}">
                <a16:creationId xmlns:a16="http://schemas.microsoft.com/office/drawing/2014/main" id="{CC58A625-2BF2-036E-36B2-514236FAFC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3E68D67-94A8-64A0-684B-FB34ADC5BBAA}"/>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ES"/>
          </a:p>
        </p:txBody>
      </p:sp>
      <p:sp>
        <p:nvSpPr>
          <p:cNvPr id="5" name="Text Placeholder 4">
            <a:extLst>
              <a:ext uri="{FF2B5EF4-FFF2-40B4-BE49-F238E27FC236}">
                <a16:creationId xmlns:a16="http://schemas.microsoft.com/office/drawing/2014/main" id="{E6B75267-176D-77E8-447B-80459CDB1E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10B7BA9-420D-3B10-0DDE-1A701673137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ES"/>
          </a:p>
        </p:txBody>
      </p:sp>
      <p:sp>
        <p:nvSpPr>
          <p:cNvPr id="7" name="Date Placeholder 6">
            <a:extLst>
              <a:ext uri="{FF2B5EF4-FFF2-40B4-BE49-F238E27FC236}">
                <a16:creationId xmlns:a16="http://schemas.microsoft.com/office/drawing/2014/main" id="{A354E191-7E43-8187-FFE6-1F433DF0B665}"/>
              </a:ext>
            </a:extLst>
          </p:cNvPr>
          <p:cNvSpPr>
            <a:spLocks noGrp="1"/>
          </p:cNvSpPr>
          <p:nvPr>
            <p:ph type="dt" sz="half" idx="10"/>
          </p:nvPr>
        </p:nvSpPr>
        <p:spPr/>
        <p:txBody>
          <a:bodyPr/>
          <a:lstStyle/>
          <a:p>
            <a:fld id="{633498F9-230D-104D-8822-4698C37D8FDD}" type="datetimeFigureOut">
              <a:rPr lang="en-ES" smtClean="0"/>
              <a:t>7/9/26</a:t>
            </a:fld>
            <a:endParaRPr lang="en-ES"/>
          </a:p>
        </p:txBody>
      </p:sp>
      <p:sp>
        <p:nvSpPr>
          <p:cNvPr id="8" name="Footer Placeholder 7">
            <a:extLst>
              <a:ext uri="{FF2B5EF4-FFF2-40B4-BE49-F238E27FC236}">
                <a16:creationId xmlns:a16="http://schemas.microsoft.com/office/drawing/2014/main" id="{DDC934B8-F887-6321-F52D-6FA7FE49E857}"/>
              </a:ext>
            </a:extLst>
          </p:cNvPr>
          <p:cNvSpPr>
            <a:spLocks noGrp="1"/>
          </p:cNvSpPr>
          <p:nvPr>
            <p:ph type="ftr" sz="quarter" idx="11"/>
          </p:nvPr>
        </p:nvSpPr>
        <p:spPr/>
        <p:txBody>
          <a:bodyPr/>
          <a:lstStyle/>
          <a:p>
            <a:endParaRPr lang="en-ES"/>
          </a:p>
        </p:txBody>
      </p:sp>
      <p:sp>
        <p:nvSpPr>
          <p:cNvPr id="9" name="Slide Number Placeholder 8">
            <a:extLst>
              <a:ext uri="{FF2B5EF4-FFF2-40B4-BE49-F238E27FC236}">
                <a16:creationId xmlns:a16="http://schemas.microsoft.com/office/drawing/2014/main" id="{F6DC31D0-367E-8BB3-F1C7-A71A15FD6B9A}"/>
              </a:ext>
            </a:extLst>
          </p:cNvPr>
          <p:cNvSpPr>
            <a:spLocks noGrp="1"/>
          </p:cNvSpPr>
          <p:nvPr>
            <p:ph type="sldNum" sz="quarter" idx="12"/>
          </p:nvPr>
        </p:nvSpPr>
        <p:spPr/>
        <p:txBody>
          <a:bodyPr/>
          <a:lstStyle/>
          <a:p>
            <a:fld id="{FC4E38E7-265D-304E-A4DC-93FB8037BA42}" type="slidenum">
              <a:rPr lang="en-ES" smtClean="0"/>
              <a:t>‹#›</a:t>
            </a:fld>
            <a:endParaRPr lang="en-ES"/>
          </a:p>
        </p:txBody>
      </p:sp>
    </p:spTree>
    <p:extLst>
      <p:ext uri="{BB962C8B-B14F-4D97-AF65-F5344CB8AC3E}">
        <p14:creationId xmlns:p14="http://schemas.microsoft.com/office/powerpoint/2010/main" val="13475171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39EFD-E3BE-7997-B2B5-1E1D54D2B87C}"/>
              </a:ext>
            </a:extLst>
          </p:cNvPr>
          <p:cNvSpPr>
            <a:spLocks noGrp="1"/>
          </p:cNvSpPr>
          <p:nvPr>
            <p:ph type="title"/>
          </p:nvPr>
        </p:nvSpPr>
        <p:spPr/>
        <p:txBody>
          <a:bodyPr/>
          <a:lstStyle/>
          <a:p>
            <a:r>
              <a:rPr lang="en-GB"/>
              <a:t>Click to edit Master title style</a:t>
            </a:r>
            <a:endParaRPr lang="en-ES"/>
          </a:p>
        </p:txBody>
      </p:sp>
      <p:sp>
        <p:nvSpPr>
          <p:cNvPr id="3" name="Date Placeholder 2">
            <a:extLst>
              <a:ext uri="{FF2B5EF4-FFF2-40B4-BE49-F238E27FC236}">
                <a16:creationId xmlns:a16="http://schemas.microsoft.com/office/drawing/2014/main" id="{E0788DC5-C82A-7619-E254-EC900BE0FF7A}"/>
              </a:ext>
            </a:extLst>
          </p:cNvPr>
          <p:cNvSpPr>
            <a:spLocks noGrp="1"/>
          </p:cNvSpPr>
          <p:nvPr>
            <p:ph type="dt" sz="half" idx="10"/>
          </p:nvPr>
        </p:nvSpPr>
        <p:spPr/>
        <p:txBody>
          <a:bodyPr/>
          <a:lstStyle/>
          <a:p>
            <a:fld id="{633498F9-230D-104D-8822-4698C37D8FDD}" type="datetimeFigureOut">
              <a:rPr lang="en-ES" smtClean="0"/>
              <a:t>7/9/26</a:t>
            </a:fld>
            <a:endParaRPr lang="en-ES"/>
          </a:p>
        </p:txBody>
      </p:sp>
      <p:sp>
        <p:nvSpPr>
          <p:cNvPr id="4" name="Footer Placeholder 3">
            <a:extLst>
              <a:ext uri="{FF2B5EF4-FFF2-40B4-BE49-F238E27FC236}">
                <a16:creationId xmlns:a16="http://schemas.microsoft.com/office/drawing/2014/main" id="{ADAF7C5B-1307-F589-8C0A-01FDA7FC33BE}"/>
              </a:ext>
            </a:extLst>
          </p:cNvPr>
          <p:cNvSpPr>
            <a:spLocks noGrp="1"/>
          </p:cNvSpPr>
          <p:nvPr>
            <p:ph type="ftr" sz="quarter" idx="11"/>
          </p:nvPr>
        </p:nvSpPr>
        <p:spPr/>
        <p:txBody>
          <a:bodyPr/>
          <a:lstStyle/>
          <a:p>
            <a:endParaRPr lang="en-ES"/>
          </a:p>
        </p:txBody>
      </p:sp>
      <p:sp>
        <p:nvSpPr>
          <p:cNvPr id="5" name="Slide Number Placeholder 4">
            <a:extLst>
              <a:ext uri="{FF2B5EF4-FFF2-40B4-BE49-F238E27FC236}">
                <a16:creationId xmlns:a16="http://schemas.microsoft.com/office/drawing/2014/main" id="{7388FE70-073A-C845-B92B-58DDCA51D7C0}"/>
              </a:ext>
            </a:extLst>
          </p:cNvPr>
          <p:cNvSpPr>
            <a:spLocks noGrp="1"/>
          </p:cNvSpPr>
          <p:nvPr>
            <p:ph type="sldNum" sz="quarter" idx="12"/>
          </p:nvPr>
        </p:nvSpPr>
        <p:spPr/>
        <p:txBody>
          <a:bodyPr/>
          <a:lstStyle/>
          <a:p>
            <a:fld id="{FC4E38E7-265D-304E-A4DC-93FB8037BA42}" type="slidenum">
              <a:rPr lang="en-ES" smtClean="0"/>
              <a:t>‹#›</a:t>
            </a:fld>
            <a:endParaRPr lang="en-ES"/>
          </a:p>
        </p:txBody>
      </p:sp>
    </p:spTree>
    <p:extLst>
      <p:ext uri="{BB962C8B-B14F-4D97-AF65-F5344CB8AC3E}">
        <p14:creationId xmlns:p14="http://schemas.microsoft.com/office/powerpoint/2010/main" val="19315405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B940A1-0B46-2751-B151-5A878D517A4B}"/>
              </a:ext>
            </a:extLst>
          </p:cNvPr>
          <p:cNvSpPr>
            <a:spLocks noGrp="1"/>
          </p:cNvSpPr>
          <p:nvPr>
            <p:ph type="dt" sz="half" idx="10"/>
          </p:nvPr>
        </p:nvSpPr>
        <p:spPr/>
        <p:txBody>
          <a:bodyPr/>
          <a:lstStyle/>
          <a:p>
            <a:fld id="{633498F9-230D-104D-8822-4698C37D8FDD}" type="datetimeFigureOut">
              <a:rPr lang="en-ES" smtClean="0"/>
              <a:t>7/9/26</a:t>
            </a:fld>
            <a:endParaRPr lang="en-ES"/>
          </a:p>
        </p:txBody>
      </p:sp>
      <p:sp>
        <p:nvSpPr>
          <p:cNvPr id="3" name="Footer Placeholder 2">
            <a:extLst>
              <a:ext uri="{FF2B5EF4-FFF2-40B4-BE49-F238E27FC236}">
                <a16:creationId xmlns:a16="http://schemas.microsoft.com/office/drawing/2014/main" id="{243DE5ED-D6C9-6A41-6E6E-A3E80E2DA353}"/>
              </a:ext>
            </a:extLst>
          </p:cNvPr>
          <p:cNvSpPr>
            <a:spLocks noGrp="1"/>
          </p:cNvSpPr>
          <p:nvPr>
            <p:ph type="ftr" sz="quarter" idx="11"/>
          </p:nvPr>
        </p:nvSpPr>
        <p:spPr/>
        <p:txBody>
          <a:bodyPr/>
          <a:lstStyle/>
          <a:p>
            <a:endParaRPr lang="en-ES"/>
          </a:p>
        </p:txBody>
      </p:sp>
      <p:sp>
        <p:nvSpPr>
          <p:cNvPr id="4" name="Slide Number Placeholder 3">
            <a:extLst>
              <a:ext uri="{FF2B5EF4-FFF2-40B4-BE49-F238E27FC236}">
                <a16:creationId xmlns:a16="http://schemas.microsoft.com/office/drawing/2014/main" id="{CD7EFBE6-3CFB-1FF2-DB8F-C8862816C39E}"/>
              </a:ext>
            </a:extLst>
          </p:cNvPr>
          <p:cNvSpPr>
            <a:spLocks noGrp="1"/>
          </p:cNvSpPr>
          <p:nvPr>
            <p:ph type="sldNum" sz="quarter" idx="12"/>
          </p:nvPr>
        </p:nvSpPr>
        <p:spPr/>
        <p:txBody>
          <a:bodyPr/>
          <a:lstStyle/>
          <a:p>
            <a:fld id="{FC4E38E7-265D-304E-A4DC-93FB8037BA42}" type="slidenum">
              <a:rPr lang="en-ES" smtClean="0"/>
              <a:t>‹#›</a:t>
            </a:fld>
            <a:endParaRPr lang="en-ES"/>
          </a:p>
        </p:txBody>
      </p:sp>
    </p:spTree>
    <p:extLst>
      <p:ext uri="{BB962C8B-B14F-4D97-AF65-F5344CB8AC3E}">
        <p14:creationId xmlns:p14="http://schemas.microsoft.com/office/powerpoint/2010/main" val="39994272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AC35A-80DC-0ED3-063E-F41829948B2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ES"/>
          </a:p>
        </p:txBody>
      </p:sp>
      <p:sp>
        <p:nvSpPr>
          <p:cNvPr id="3" name="Content Placeholder 2">
            <a:extLst>
              <a:ext uri="{FF2B5EF4-FFF2-40B4-BE49-F238E27FC236}">
                <a16:creationId xmlns:a16="http://schemas.microsoft.com/office/drawing/2014/main" id="{116948FB-EFF5-97B1-274E-89A273A33B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ES"/>
          </a:p>
        </p:txBody>
      </p:sp>
      <p:sp>
        <p:nvSpPr>
          <p:cNvPr id="4" name="Text Placeholder 3">
            <a:extLst>
              <a:ext uri="{FF2B5EF4-FFF2-40B4-BE49-F238E27FC236}">
                <a16:creationId xmlns:a16="http://schemas.microsoft.com/office/drawing/2014/main" id="{98DDB077-0CCF-FD1B-77FF-6EED8D29C3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203E3BC-BC95-1734-0B7F-8C69B8858D9A}"/>
              </a:ext>
            </a:extLst>
          </p:cNvPr>
          <p:cNvSpPr>
            <a:spLocks noGrp="1"/>
          </p:cNvSpPr>
          <p:nvPr>
            <p:ph type="dt" sz="half" idx="10"/>
          </p:nvPr>
        </p:nvSpPr>
        <p:spPr/>
        <p:txBody>
          <a:bodyPr/>
          <a:lstStyle/>
          <a:p>
            <a:fld id="{633498F9-230D-104D-8822-4698C37D8FDD}" type="datetimeFigureOut">
              <a:rPr lang="en-ES" smtClean="0"/>
              <a:t>7/9/26</a:t>
            </a:fld>
            <a:endParaRPr lang="en-ES"/>
          </a:p>
        </p:txBody>
      </p:sp>
      <p:sp>
        <p:nvSpPr>
          <p:cNvPr id="6" name="Footer Placeholder 5">
            <a:extLst>
              <a:ext uri="{FF2B5EF4-FFF2-40B4-BE49-F238E27FC236}">
                <a16:creationId xmlns:a16="http://schemas.microsoft.com/office/drawing/2014/main" id="{C07E4038-27BA-E708-E979-CB0172515B79}"/>
              </a:ext>
            </a:extLst>
          </p:cNvPr>
          <p:cNvSpPr>
            <a:spLocks noGrp="1"/>
          </p:cNvSpPr>
          <p:nvPr>
            <p:ph type="ftr" sz="quarter" idx="11"/>
          </p:nvPr>
        </p:nvSpPr>
        <p:spPr/>
        <p:txBody>
          <a:bodyPr/>
          <a:lstStyle/>
          <a:p>
            <a:endParaRPr lang="en-ES"/>
          </a:p>
        </p:txBody>
      </p:sp>
      <p:sp>
        <p:nvSpPr>
          <p:cNvPr id="7" name="Slide Number Placeholder 6">
            <a:extLst>
              <a:ext uri="{FF2B5EF4-FFF2-40B4-BE49-F238E27FC236}">
                <a16:creationId xmlns:a16="http://schemas.microsoft.com/office/drawing/2014/main" id="{2B7DF0E9-AF18-83D1-0C06-E2E8C3903128}"/>
              </a:ext>
            </a:extLst>
          </p:cNvPr>
          <p:cNvSpPr>
            <a:spLocks noGrp="1"/>
          </p:cNvSpPr>
          <p:nvPr>
            <p:ph type="sldNum" sz="quarter" idx="12"/>
          </p:nvPr>
        </p:nvSpPr>
        <p:spPr/>
        <p:txBody>
          <a:bodyPr/>
          <a:lstStyle/>
          <a:p>
            <a:fld id="{FC4E38E7-265D-304E-A4DC-93FB8037BA42}" type="slidenum">
              <a:rPr lang="en-ES" smtClean="0"/>
              <a:t>‹#›</a:t>
            </a:fld>
            <a:endParaRPr lang="en-ES"/>
          </a:p>
        </p:txBody>
      </p:sp>
    </p:spTree>
    <p:extLst>
      <p:ext uri="{BB962C8B-B14F-4D97-AF65-F5344CB8AC3E}">
        <p14:creationId xmlns:p14="http://schemas.microsoft.com/office/powerpoint/2010/main" val="4228531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FD8D8-4BD9-7976-6391-05F12C600DA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ES"/>
          </a:p>
        </p:txBody>
      </p:sp>
      <p:sp>
        <p:nvSpPr>
          <p:cNvPr id="3" name="Picture Placeholder 2">
            <a:extLst>
              <a:ext uri="{FF2B5EF4-FFF2-40B4-BE49-F238E27FC236}">
                <a16:creationId xmlns:a16="http://schemas.microsoft.com/office/drawing/2014/main" id="{F7968095-992D-4E08-6781-C91206E44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ES"/>
          </a:p>
        </p:txBody>
      </p:sp>
      <p:sp>
        <p:nvSpPr>
          <p:cNvPr id="4" name="Text Placeholder 3">
            <a:extLst>
              <a:ext uri="{FF2B5EF4-FFF2-40B4-BE49-F238E27FC236}">
                <a16:creationId xmlns:a16="http://schemas.microsoft.com/office/drawing/2014/main" id="{4C2CA8A4-F36A-4242-8E72-03D4FD549E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99FC04B-A8AB-E1EB-13CB-1FBC61F15401}"/>
              </a:ext>
            </a:extLst>
          </p:cNvPr>
          <p:cNvSpPr>
            <a:spLocks noGrp="1"/>
          </p:cNvSpPr>
          <p:nvPr>
            <p:ph type="dt" sz="half" idx="10"/>
          </p:nvPr>
        </p:nvSpPr>
        <p:spPr/>
        <p:txBody>
          <a:bodyPr/>
          <a:lstStyle/>
          <a:p>
            <a:fld id="{633498F9-230D-104D-8822-4698C37D8FDD}" type="datetimeFigureOut">
              <a:rPr lang="en-ES" smtClean="0"/>
              <a:t>7/9/26</a:t>
            </a:fld>
            <a:endParaRPr lang="en-ES"/>
          </a:p>
        </p:txBody>
      </p:sp>
      <p:sp>
        <p:nvSpPr>
          <p:cNvPr id="6" name="Footer Placeholder 5">
            <a:extLst>
              <a:ext uri="{FF2B5EF4-FFF2-40B4-BE49-F238E27FC236}">
                <a16:creationId xmlns:a16="http://schemas.microsoft.com/office/drawing/2014/main" id="{4746EDA1-A53B-5F24-B595-9A3FABC6D82C}"/>
              </a:ext>
            </a:extLst>
          </p:cNvPr>
          <p:cNvSpPr>
            <a:spLocks noGrp="1"/>
          </p:cNvSpPr>
          <p:nvPr>
            <p:ph type="ftr" sz="quarter" idx="11"/>
          </p:nvPr>
        </p:nvSpPr>
        <p:spPr/>
        <p:txBody>
          <a:bodyPr/>
          <a:lstStyle/>
          <a:p>
            <a:endParaRPr lang="en-ES"/>
          </a:p>
        </p:txBody>
      </p:sp>
      <p:sp>
        <p:nvSpPr>
          <p:cNvPr id="7" name="Slide Number Placeholder 6">
            <a:extLst>
              <a:ext uri="{FF2B5EF4-FFF2-40B4-BE49-F238E27FC236}">
                <a16:creationId xmlns:a16="http://schemas.microsoft.com/office/drawing/2014/main" id="{6BDDC6BD-6109-19C9-8A45-5F8E8A4DD175}"/>
              </a:ext>
            </a:extLst>
          </p:cNvPr>
          <p:cNvSpPr>
            <a:spLocks noGrp="1"/>
          </p:cNvSpPr>
          <p:nvPr>
            <p:ph type="sldNum" sz="quarter" idx="12"/>
          </p:nvPr>
        </p:nvSpPr>
        <p:spPr/>
        <p:txBody>
          <a:bodyPr/>
          <a:lstStyle/>
          <a:p>
            <a:fld id="{FC4E38E7-265D-304E-A4DC-93FB8037BA42}" type="slidenum">
              <a:rPr lang="en-ES" smtClean="0"/>
              <a:t>‹#›</a:t>
            </a:fld>
            <a:endParaRPr lang="en-ES"/>
          </a:p>
        </p:txBody>
      </p:sp>
    </p:spTree>
    <p:extLst>
      <p:ext uri="{BB962C8B-B14F-4D97-AF65-F5344CB8AC3E}">
        <p14:creationId xmlns:p14="http://schemas.microsoft.com/office/powerpoint/2010/main" val="6973856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B24D3-0C7F-5E21-A3E8-55F132E74D5E}"/>
              </a:ext>
            </a:extLst>
          </p:cNvPr>
          <p:cNvSpPr>
            <a:spLocks noGrp="1"/>
          </p:cNvSpPr>
          <p:nvPr>
            <p:ph type="title"/>
          </p:nvPr>
        </p:nvSpPr>
        <p:spPr/>
        <p:txBody>
          <a:bodyPr/>
          <a:lstStyle/>
          <a:p>
            <a:r>
              <a:rPr lang="en-GB"/>
              <a:t>Click to edit Master title style</a:t>
            </a:r>
            <a:endParaRPr lang="en-ES"/>
          </a:p>
        </p:txBody>
      </p:sp>
      <p:sp>
        <p:nvSpPr>
          <p:cNvPr id="3" name="Vertical Text Placeholder 2">
            <a:extLst>
              <a:ext uri="{FF2B5EF4-FFF2-40B4-BE49-F238E27FC236}">
                <a16:creationId xmlns:a16="http://schemas.microsoft.com/office/drawing/2014/main" id="{72E35B4E-D6D3-7F09-F0E5-21B97F31B29B}"/>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ES"/>
          </a:p>
        </p:txBody>
      </p:sp>
      <p:sp>
        <p:nvSpPr>
          <p:cNvPr id="4" name="Date Placeholder 3">
            <a:extLst>
              <a:ext uri="{FF2B5EF4-FFF2-40B4-BE49-F238E27FC236}">
                <a16:creationId xmlns:a16="http://schemas.microsoft.com/office/drawing/2014/main" id="{62536D94-1047-ECCE-941D-5503501E5D16}"/>
              </a:ext>
            </a:extLst>
          </p:cNvPr>
          <p:cNvSpPr>
            <a:spLocks noGrp="1"/>
          </p:cNvSpPr>
          <p:nvPr>
            <p:ph type="dt" sz="half" idx="10"/>
          </p:nvPr>
        </p:nvSpPr>
        <p:spPr/>
        <p:txBody>
          <a:bodyPr/>
          <a:lstStyle/>
          <a:p>
            <a:fld id="{633498F9-230D-104D-8822-4698C37D8FDD}" type="datetimeFigureOut">
              <a:rPr lang="en-ES" smtClean="0"/>
              <a:t>7/9/26</a:t>
            </a:fld>
            <a:endParaRPr lang="en-ES"/>
          </a:p>
        </p:txBody>
      </p:sp>
      <p:sp>
        <p:nvSpPr>
          <p:cNvPr id="5" name="Footer Placeholder 4">
            <a:extLst>
              <a:ext uri="{FF2B5EF4-FFF2-40B4-BE49-F238E27FC236}">
                <a16:creationId xmlns:a16="http://schemas.microsoft.com/office/drawing/2014/main" id="{24AA3119-EC58-5DF6-7B0B-976732748293}"/>
              </a:ext>
            </a:extLst>
          </p:cNvPr>
          <p:cNvSpPr>
            <a:spLocks noGrp="1"/>
          </p:cNvSpPr>
          <p:nvPr>
            <p:ph type="ftr" sz="quarter" idx="11"/>
          </p:nvPr>
        </p:nvSpPr>
        <p:spPr/>
        <p:txBody>
          <a:bodyPr/>
          <a:lstStyle/>
          <a:p>
            <a:endParaRPr lang="en-ES"/>
          </a:p>
        </p:txBody>
      </p:sp>
      <p:sp>
        <p:nvSpPr>
          <p:cNvPr id="6" name="Slide Number Placeholder 5">
            <a:extLst>
              <a:ext uri="{FF2B5EF4-FFF2-40B4-BE49-F238E27FC236}">
                <a16:creationId xmlns:a16="http://schemas.microsoft.com/office/drawing/2014/main" id="{2E7AC7F1-463D-97CF-B473-B895460D20E9}"/>
              </a:ext>
            </a:extLst>
          </p:cNvPr>
          <p:cNvSpPr>
            <a:spLocks noGrp="1"/>
          </p:cNvSpPr>
          <p:nvPr>
            <p:ph type="sldNum" sz="quarter" idx="12"/>
          </p:nvPr>
        </p:nvSpPr>
        <p:spPr/>
        <p:txBody>
          <a:bodyPr/>
          <a:lstStyle/>
          <a:p>
            <a:fld id="{FC4E38E7-265D-304E-A4DC-93FB8037BA42}" type="slidenum">
              <a:rPr lang="en-ES" smtClean="0"/>
              <a:t>‹#›</a:t>
            </a:fld>
            <a:endParaRPr lang="en-ES"/>
          </a:p>
        </p:txBody>
      </p:sp>
    </p:spTree>
    <p:extLst>
      <p:ext uri="{BB962C8B-B14F-4D97-AF65-F5344CB8AC3E}">
        <p14:creationId xmlns:p14="http://schemas.microsoft.com/office/powerpoint/2010/main" val="1606649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139230D-F1F9-0F65-8184-85AAD4F7DF2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ES"/>
          </a:p>
        </p:txBody>
      </p:sp>
      <p:sp>
        <p:nvSpPr>
          <p:cNvPr id="3" name="Vertical Text Placeholder 2">
            <a:extLst>
              <a:ext uri="{FF2B5EF4-FFF2-40B4-BE49-F238E27FC236}">
                <a16:creationId xmlns:a16="http://schemas.microsoft.com/office/drawing/2014/main" id="{7B6FD255-545E-CE16-F9CF-03900E19AF1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ES"/>
          </a:p>
        </p:txBody>
      </p:sp>
      <p:sp>
        <p:nvSpPr>
          <p:cNvPr id="4" name="Date Placeholder 3">
            <a:extLst>
              <a:ext uri="{FF2B5EF4-FFF2-40B4-BE49-F238E27FC236}">
                <a16:creationId xmlns:a16="http://schemas.microsoft.com/office/drawing/2014/main" id="{E21F77DB-2CC7-B3F8-71D8-CC347531DB49}"/>
              </a:ext>
            </a:extLst>
          </p:cNvPr>
          <p:cNvSpPr>
            <a:spLocks noGrp="1"/>
          </p:cNvSpPr>
          <p:nvPr>
            <p:ph type="dt" sz="half" idx="10"/>
          </p:nvPr>
        </p:nvSpPr>
        <p:spPr/>
        <p:txBody>
          <a:bodyPr/>
          <a:lstStyle/>
          <a:p>
            <a:fld id="{633498F9-230D-104D-8822-4698C37D8FDD}" type="datetimeFigureOut">
              <a:rPr lang="en-ES" smtClean="0"/>
              <a:t>7/9/26</a:t>
            </a:fld>
            <a:endParaRPr lang="en-ES"/>
          </a:p>
        </p:txBody>
      </p:sp>
      <p:sp>
        <p:nvSpPr>
          <p:cNvPr id="5" name="Footer Placeholder 4">
            <a:extLst>
              <a:ext uri="{FF2B5EF4-FFF2-40B4-BE49-F238E27FC236}">
                <a16:creationId xmlns:a16="http://schemas.microsoft.com/office/drawing/2014/main" id="{4EE1338A-A4A6-F183-61DC-AC4FAA6D3EBE}"/>
              </a:ext>
            </a:extLst>
          </p:cNvPr>
          <p:cNvSpPr>
            <a:spLocks noGrp="1"/>
          </p:cNvSpPr>
          <p:nvPr>
            <p:ph type="ftr" sz="quarter" idx="11"/>
          </p:nvPr>
        </p:nvSpPr>
        <p:spPr/>
        <p:txBody>
          <a:bodyPr/>
          <a:lstStyle/>
          <a:p>
            <a:endParaRPr lang="en-ES"/>
          </a:p>
        </p:txBody>
      </p:sp>
      <p:sp>
        <p:nvSpPr>
          <p:cNvPr id="6" name="Slide Number Placeholder 5">
            <a:extLst>
              <a:ext uri="{FF2B5EF4-FFF2-40B4-BE49-F238E27FC236}">
                <a16:creationId xmlns:a16="http://schemas.microsoft.com/office/drawing/2014/main" id="{5974B585-229C-3280-7BA4-5FBC80753016}"/>
              </a:ext>
            </a:extLst>
          </p:cNvPr>
          <p:cNvSpPr>
            <a:spLocks noGrp="1"/>
          </p:cNvSpPr>
          <p:nvPr>
            <p:ph type="sldNum" sz="quarter" idx="12"/>
          </p:nvPr>
        </p:nvSpPr>
        <p:spPr/>
        <p:txBody>
          <a:bodyPr/>
          <a:lstStyle/>
          <a:p>
            <a:fld id="{FC4E38E7-265D-304E-A4DC-93FB8037BA42}" type="slidenum">
              <a:rPr lang="en-ES" smtClean="0"/>
              <a:t>‹#›</a:t>
            </a:fld>
            <a:endParaRPr lang="en-ES"/>
          </a:p>
        </p:txBody>
      </p:sp>
    </p:spTree>
    <p:extLst>
      <p:ext uri="{BB962C8B-B14F-4D97-AF65-F5344CB8AC3E}">
        <p14:creationId xmlns:p14="http://schemas.microsoft.com/office/powerpoint/2010/main" val="36740779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8AFD61C-7C36-FAA8-A3A9-79510D7852A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ES"/>
          </a:p>
        </p:txBody>
      </p:sp>
      <p:sp>
        <p:nvSpPr>
          <p:cNvPr id="3" name="Text Placeholder 2">
            <a:extLst>
              <a:ext uri="{FF2B5EF4-FFF2-40B4-BE49-F238E27FC236}">
                <a16:creationId xmlns:a16="http://schemas.microsoft.com/office/drawing/2014/main" id="{A574E742-A8D0-DB60-1998-3DCDD8C8100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ES"/>
          </a:p>
        </p:txBody>
      </p:sp>
      <p:sp>
        <p:nvSpPr>
          <p:cNvPr id="4" name="Date Placeholder 3">
            <a:extLst>
              <a:ext uri="{FF2B5EF4-FFF2-40B4-BE49-F238E27FC236}">
                <a16:creationId xmlns:a16="http://schemas.microsoft.com/office/drawing/2014/main" id="{0B659A64-21EF-45F5-CB28-0439FE2C27D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33498F9-230D-104D-8822-4698C37D8FDD}" type="datetimeFigureOut">
              <a:rPr lang="en-ES" smtClean="0"/>
              <a:t>7/9/26</a:t>
            </a:fld>
            <a:endParaRPr lang="en-ES"/>
          </a:p>
        </p:txBody>
      </p:sp>
      <p:sp>
        <p:nvSpPr>
          <p:cNvPr id="5" name="Footer Placeholder 4">
            <a:extLst>
              <a:ext uri="{FF2B5EF4-FFF2-40B4-BE49-F238E27FC236}">
                <a16:creationId xmlns:a16="http://schemas.microsoft.com/office/drawing/2014/main" id="{6790FD0B-0528-FBFE-C420-628BC4A7AFA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ES"/>
          </a:p>
        </p:txBody>
      </p:sp>
      <p:sp>
        <p:nvSpPr>
          <p:cNvPr id="6" name="Slide Number Placeholder 5">
            <a:extLst>
              <a:ext uri="{FF2B5EF4-FFF2-40B4-BE49-F238E27FC236}">
                <a16:creationId xmlns:a16="http://schemas.microsoft.com/office/drawing/2014/main" id="{262E501B-B3FC-B411-57CB-2118194744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C4E38E7-265D-304E-A4DC-93FB8037BA42}" type="slidenum">
              <a:rPr lang="en-ES" smtClean="0"/>
              <a:t>‹#›</a:t>
            </a:fld>
            <a:endParaRPr lang="en-ES"/>
          </a:p>
        </p:txBody>
      </p:sp>
    </p:spTree>
    <p:extLst>
      <p:ext uri="{BB962C8B-B14F-4D97-AF65-F5344CB8AC3E}">
        <p14:creationId xmlns:p14="http://schemas.microsoft.com/office/powerpoint/2010/main" val="27243786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4.jpeg"/><Relationship Id="rId4" Type="http://schemas.microsoft.com/office/2007/relationships/hdphoto" Target="../media/hdphoto2.wdp"/></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jpeg"/><Relationship Id="rId4" Type="http://schemas.microsoft.com/office/2007/relationships/hdphoto" Target="../media/hdphoto3.wdp"/></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4.jpeg"/><Relationship Id="rId4" Type="http://schemas.microsoft.com/office/2007/relationships/hdphoto" Target="../media/hdphoto3.wdp"/></Relationships>
</file>

<file path=ppt/slides/_rels/slide6.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7.png"/><Relationship Id="rId1" Type="http://schemas.openxmlformats.org/officeDocument/2006/relationships/slideLayout" Target="../slideLayouts/slideLayout6.xml"/><Relationship Id="rId5" Type="http://schemas.openxmlformats.org/officeDocument/2006/relationships/image" Target="../media/image9.jpg"/><Relationship Id="rId4" Type="http://schemas.openxmlformats.org/officeDocument/2006/relationships/image" Target="../media/image8.jpg"/></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6.xml"/><Relationship Id="rId6" Type="http://schemas.openxmlformats.org/officeDocument/2006/relationships/image" Target="../media/image14.png"/><Relationship Id="rId5" Type="http://schemas.openxmlformats.org/officeDocument/2006/relationships/image" Target="../media/image13.svg"/><Relationship Id="rId4" Type="http://schemas.openxmlformats.org/officeDocument/2006/relationships/image" Target="../media/image12.jpeg"/></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2.jpe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3.jpeg"/><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17.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4.jpeg"/><Relationship Id="rId7" Type="http://schemas.openxmlformats.org/officeDocument/2006/relationships/image" Target="../media/image23.svg"/><Relationship Id="rId2" Type="http://schemas.openxmlformats.org/officeDocument/2006/relationships/image" Target="../media/image3.jpeg"/><Relationship Id="rId1" Type="http://schemas.openxmlformats.org/officeDocument/2006/relationships/slideLayout" Target="../slideLayouts/slideLayout2.xml"/><Relationship Id="rId6" Type="http://schemas.microsoft.com/office/2007/relationships/hdphoto" Target="../media/hdphoto6.wdp"/><Relationship Id="rId5" Type="http://schemas.openxmlformats.org/officeDocument/2006/relationships/image" Target="../media/image25.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9.emf"/><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31.png"/><Relationship Id="rId1" Type="http://schemas.openxmlformats.org/officeDocument/2006/relationships/slideLayout" Target="../slideLayouts/slideLayout6.xml"/><Relationship Id="rId5" Type="http://schemas.openxmlformats.org/officeDocument/2006/relationships/image" Target="../media/image32.jpeg"/><Relationship Id="rId4" Type="http://schemas.openxmlformats.org/officeDocument/2006/relationships/image" Target="../media/image12.jpeg"/></Relationships>
</file>

<file path=ppt/slides/_rels/slide24.xml.rels><?xml version="1.0" encoding="UTF-8" standalone="yes"?>
<Relationships xmlns="http://schemas.openxmlformats.org/package/2006/relationships"><Relationship Id="rId3" Type="http://schemas.openxmlformats.org/officeDocument/2006/relationships/image" Target="../media/image12.jpeg"/><Relationship Id="rId7" Type="http://schemas.openxmlformats.org/officeDocument/2006/relationships/image" Target="../media/image32.jpeg"/><Relationship Id="rId2" Type="http://schemas.openxmlformats.org/officeDocument/2006/relationships/image" Target="../media/image33.jpeg"/><Relationship Id="rId1" Type="http://schemas.openxmlformats.org/officeDocument/2006/relationships/slideLayout" Target="../slideLayouts/slideLayout6.xml"/><Relationship Id="rId6" Type="http://schemas.openxmlformats.org/officeDocument/2006/relationships/image" Target="../media/image35.png"/><Relationship Id="rId5" Type="http://schemas.microsoft.com/office/2007/relationships/hdphoto" Target="../media/hdphoto8.wdp"/><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image" Target="../media/image12.jpeg"/><Relationship Id="rId7" Type="http://schemas.openxmlformats.org/officeDocument/2006/relationships/image" Target="../media/image32.jpeg"/><Relationship Id="rId2" Type="http://schemas.openxmlformats.org/officeDocument/2006/relationships/image" Target="../media/image33.jpeg"/><Relationship Id="rId1" Type="http://schemas.openxmlformats.org/officeDocument/2006/relationships/slideLayout" Target="../slideLayouts/slideLayout6.xml"/><Relationship Id="rId6" Type="http://schemas.openxmlformats.org/officeDocument/2006/relationships/image" Target="../media/image35.png"/><Relationship Id="rId5" Type="http://schemas.microsoft.com/office/2007/relationships/hdphoto" Target="../media/hdphoto8.wdp"/><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33.jpeg"/><Relationship Id="rId1" Type="http://schemas.openxmlformats.org/officeDocument/2006/relationships/slideLayout" Target="../slideLayouts/slideLayout6.xml"/><Relationship Id="rId6" Type="http://schemas.openxmlformats.org/officeDocument/2006/relationships/image" Target="../media/image35.png"/><Relationship Id="rId5" Type="http://schemas.microsoft.com/office/2007/relationships/hdphoto" Target="../media/hdphoto8.wdp"/><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2" Type="http://schemas.openxmlformats.org/officeDocument/2006/relationships/image" Target="../media/image36.emf"/><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image" Target="../media/image36.emf"/><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jpeg"/><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microsoft.com/office/2007/relationships/hdphoto" Target="../media/hdphoto9.wdp"/></Relationships>
</file>

<file path=ppt/slides/_rels/slide30.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44.gi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5.gif"/><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image" Target="../media/image36.emf"/><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image" Target="../media/image48.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9.org&amp;utm_campaign=parser&amp;utm_content=thumbnai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image" Target="../media/image49.org&amp;utm_campaign=parser&amp;utm_content=thumbnai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customXml" Target="../ink/ink1.xml"/><Relationship Id="rId7" Type="http://schemas.openxmlformats.org/officeDocument/2006/relationships/customXml" Target="../ink/ink3.xml"/><Relationship Id="rId2" Type="http://schemas.openxmlformats.org/officeDocument/2006/relationships/image" Target="../media/image49.org&amp;utm_campaign=parser&amp;utm_content=thumbnail"/><Relationship Id="rId1" Type="http://schemas.openxmlformats.org/officeDocument/2006/relationships/slideLayout" Target="../slideLayouts/slideLayout6.xml"/><Relationship Id="rId6" Type="http://schemas.openxmlformats.org/officeDocument/2006/relationships/image" Target="../media/image51.png"/><Relationship Id="rId5" Type="http://schemas.openxmlformats.org/officeDocument/2006/relationships/customXml" Target="../ink/ink2.xml"/><Relationship Id="rId10" Type="http://schemas.openxmlformats.org/officeDocument/2006/relationships/image" Target="../media/image53.png"/><Relationship Id="rId4" Type="http://schemas.openxmlformats.org/officeDocument/2006/relationships/image" Target="../media/image50.png"/><Relationship Id="rId9" Type="http://schemas.openxmlformats.org/officeDocument/2006/relationships/customXml" Target="../ink/ink4.xml"/></Relationships>
</file>

<file path=ppt/slides/_rels/slide44.xml.rels><?xml version="1.0" encoding="UTF-8" standalone="yes"?>
<Relationships xmlns="http://schemas.openxmlformats.org/package/2006/relationships"><Relationship Id="rId2" Type="http://schemas.openxmlformats.org/officeDocument/2006/relationships/image" Target="../media/image54.emf"/><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55.emf"/><Relationship Id="rId2" Type="http://schemas.openxmlformats.org/officeDocument/2006/relationships/image" Target="../media/image54.emf"/><Relationship Id="rId1" Type="http://schemas.openxmlformats.org/officeDocument/2006/relationships/slideLayout" Target="../slideLayouts/slideLayout6.xml"/><Relationship Id="rId4" Type="http://schemas.openxmlformats.org/officeDocument/2006/relationships/image" Target="../media/image56.svg"/></Relationships>
</file>

<file path=ppt/slides/_rels/slide46.xml.rels><?xml version="1.0" encoding="UTF-8" standalone="yes"?>
<Relationships xmlns="http://schemas.openxmlformats.org/package/2006/relationships"><Relationship Id="rId2" Type="http://schemas.openxmlformats.org/officeDocument/2006/relationships/image" Target="../media/image57.jp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2.jpg"/></Relationships>
</file>

<file path=ppt/slides/_rels/slide4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4.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9E5CB"/>
        </a:solidFill>
        <a:effectLst/>
      </p:bgPr>
    </p:bg>
    <p:spTree>
      <p:nvGrpSpPr>
        <p:cNvPr id="1" name=""/>
        <p:cNvGrpSpPr/>
        <p:nvPr/>
      </p:nvGrpSpPr>
      <p:grpSpPr>
        <a:xfrm>
          <a:off x="0" y="0"/>
          <a:ext cx="0" cy="0"/>
          <a:chOff x="0" y="0"/>
          <a:chExt cx="0" cy="0"/>
        </a:xfrm>
      </p:grpSpPr>
      <p:pic>
        <p:nvPicPr>
          <p:cNvPr id="7" name="Picture 6" descr="https://cdn.sanity.io/images/nxpteyfv/goguides/8fcc7aed7ed3b5d0ecb04916ee3adfa76e2cd9e2-1600x1066.jpg">
            <a:extLst>
              <a:ext uri="{FF2B5EF4-FFF2-40B4-BE49-F238E27FC236}">
                <a16:creationId xmlns:a16="http://schemas.microsoft.com/office/drawing/2014/main" id="{E5CA4131-B189-F29B-AC70-437821DEDE62}"/>
              </a:ext>
            </a:extLst>
          </p:cNvPr>
          <p:cNvPicPr>
            <a:picLocks noChangeAspect="1"/>
          </p:cNvPicPr>
          <p:nvPr/>
        </p:nvPicPr>
        <p:blipFill>
          <a:blip r:embed="rId3">
            <a:alphaModFix amt="68000"/>
            <a:extLst>
              <a:ext uri="{BEBA8EAE-BF5A-486C-A8C5-ECC9F3942E4B}">
                <a14:imgProps xmlns:a14="http://schemas.microsoft.com/office/drawing/2010/main">
                  <a14:imgLayer r:embed="rId4">
                    <a14:imgEffect>
                      <a14:artisticBlur radius="30"/>
                    </a14:imgEffect>
                    <a14:imgEffect>
                      <a14:colorTemperature colorTemp="4984"/>
                    </a14:imgEffect>
                    <a14:imgEffect>
                      <a14:brightnessContrast bright="-34000" contrast="1000"/>
                    </a14:imgEffect>
                  </a14:imgLayer>
                </a14:imgProps>
              </a:ext>
            </a:extLst>
          </a:blip>
          <a:stretch>
            <a:fillRect/>
          </a:stretch>
        </p:blipFill>
        <p:spPr>
          <a:xfrm>
            <a:off x="-417444" y="-1019884"/>
            <a:ext cx="13354996" cy="8897767"/>
          </a:xfrm>
          <a:prstGeom prst="rect">
            <a:avLst/>
          </a:prstGeom>
        </p:spPr>
      </p:pic>
      <p:sp>
        <p:nvSpPr>
          <p:cNvPr id="2" name="Title 1">
            <a:extLst>
              <a:ext uri="{FF2B5EF4-FFF2-40B4-BE49-F238E27FC236}">
                <a16:creationId xmlns:a16="http://schemas.microsoft.com/office/drawing/2014/main" id="{E9C598A1-EEC5-4C81-69D1-A81456463922}"/>
              </a:ext>
            </a:extLst>
          </p:cNvPr>
          <p:cNvSpPr>
            <a:spLocks noGrp="1"/>
          </p:cNvSpPr>
          <p:nvPr>
            <p:ph type="ctrTitle"/>
          </p:nvPr>
        </p:nvSpPr>
        <p:spPr/>
        <p:txBody>
          <a:bodyPr/>
          <a:lstStyle/>
          <a:p>
            <a:endParaRPr lang="en-ES" dirty="0"/>
          </a:p>
        </p:txBody>
      </p:sp>
      <p:sp>
        <p:nvSpPr>
          <p:cNvPr id="3" name="Subtitle 2">
            <a:extLst>
              <a:ext uri="{FF2B5EF4-FFF2-40B4-BE49-F238E27FC236}">
                <a16:creationId xmlns:a16="http://schemas.microsoft.com/office/drawing/2014/main" id="{7D278047-BC54-B4F3-9BDC-E30B1EFA75A0}"/>
              </a:ext>
            </a:extLst>
          </p:cNvPr>
          <p:cNvSpPr>
            <a:spLocks noGrp="1"/>
          </p:cNvSpPr>
          <p:nvPr>
            <p:ph type="subTitle" idx="1"/>
          </p:nvPr>
        </p:nvSpPr>
        <p:spPr/>
        <p:txBody>
          <a:bodyPr/>
          <a:lstStyle/>
          <a:p>
            <a:endParaRPr lang="en-ES"/>
          </a:p>
        </p:txBody>
      </p:sp>
      <p:pic>
        <p:nvPicPr>
          <p:cNvPr id="6" name="Picture 5" descr="https://cdn.sanity.io/images/nxpteyfv/goguides/8fcc7aed7ed3b5d0ecb04916ee3adfa76e2cd9e2-1600x1066.jpg">
            <a:extLst>
              <a:ext uri="{FF2B5EF4-FFF2-40B4-BE49-F238E27FC236}">
                <a16:creationId xmlns:a16="http://schemas.microsoft.com/office/drawing/2014/main" id="{A17A6420-B44D-506C-7BC6-6C6270E7F23E}"/>
              </a:ext>
            </a:extLst>
          </p:cNvPr>
          <p:cNvPicPr>
            <a:picLocks noChangeAspect="1"/>
          </p:cNvPicPr>
          <p:nvPr/>
        </p:nvPicPr>
        <p:blipFill>
          <a:blip r:embed="rId5"/>
          <a:stretch>
            <a:fillRect/>
          </a:stretch>
        </p:blipFill>
        <p:spPr>
          <a:xfrm>
            <a:off x="881269" y="-45315"/>
            <a:ext cx="10429461" cy="6948629"/>
          </a:xfrm>
          <a:prstGeom prst="rect">
            <a:avLst/>
          </a:prstGeom>
        </p:spPr>
      </p:pic>
      <p:sp>
        <p:nvSpPr>
          <p:cNvPr id="8" name="TextBox 7">
            <a:extLst>
              <a:ext uri="{FF2B5EF4-FFF2-40B4-BE49-F238E27FC236}">
                <a16:creationId xmlns:a16="http://schemas.microsoft.com/office/drawing/2014/main" id="{10D4CD0B-2FE4-9182-FCF8-FDD9D53A91B1}"/>
              </a:ext>
            </a:extLst>
          </p:cNvPr>
          <p:cNvSpPr txBox="1"/>
          <p:nvPr/>
        </p:nvSpPr>
        <p:spPr>
          <a:xfrm>
            <a:off x="881269" y="1030288"/>
            <a:ext cx="10429461" cy="2169825"/>
          </a:xfrm>
          <a:prstGeom prst="rect">
            <a:avLst/>
          </a:prstGeom>
          <a:noFill/>
        </p:spPr>
        <p:txBody>
          <a:bodyPr wrap="square" rtlCol="0">
            <a:spAutoFit/>
          </a:bodyPr>
          <a:lstStyle/>
          <a:p>
            <a:pPr algn="ctr"/>
            <a:r>
              <a:rPr lang="en-ES" sz="2500" dirty="0">
                <a:latin typeface="Bookman Old Style" panose="02050604050505020204" pitchFamily="18" charset="0"/>
                <a:ea typeface="Helvetica Neue" panose="02000503000000020004" pitchFamily="2" charset="0"/>
                <a:cs typeface="Helvetica Neue" panose="02000503000000020004" pitchFamily="2" charset="0"/>
              </a:rPr>
              <a:t>Philosophical thought experiments and conflicting intuitions</a:t>
            </a:r>
          </a:p>
          <a:p>
            <a:pPr algn="ctr"/>
            <a:endParaRPr lang="en-ES" sz="2200" dirty="0">
              <a:latin typeface="Bookman Old Style" panose="02050604050505020204" pitchFamily="18" charset="0"/>
              <a:ea typeface="Helvetica Neue" panose="02000503000000020004" pitchFamily="2" charset="0"/>
              <a:cs typeface="Helvetica Neue" panose="02000503000000020004" pitchFamily="2" charset="0"/>
            </a:endParaRPr>
          </a:p>
          <a:p>
            <a:pPr algn="ctr"/>
            <a:endParaRPr lang="en-ES" sz="2200" dirty="0">
              <a:latin typeface="Bookman Old Style" panose="02050604050505020204" pitchFamily="18" charset="0"/>
              <a:ea typeface="Helvetica Neue" panose="02000503000000020004" pitchFamily="2" charset="0"/>
              <a:cs typeface="Helvetica Neue" panose="02000503000000020004" pitchFamily="2" charset="0"/>
            </a:endParaRPr>
          </a:p>
          <a:p>
            <a:pPr algn="ctr"/>
            <a:endParaRPr lang="en-ES" sz="2200" dirty="0">
              <a:latin typeface="Bookman Old Style" panose="02050604050505020204" pitchFamily="18" charset="0"/>
              <a:ea typeface="Helvetica Neue" panose="02000503000000020004" pitchFamily="2" charset="0"/>
              <a:cs typeface="Helvetica Neue" panose="02000503000000020004" pitchFamily="2" charset="0"/>
            </a:endParaRPr>
          </a:p>
          <a:p>
            <a:pPr algn="ctr"/>
            <a:endParaRPr lang="en-ES" sz="2200" dirty="0">
              <a:latin typeface="Bookman Old Style" panose="02050604050505020204" pitchFamily="18" charset="0"/>
              <a:ea typeface="Helvetica Neue" panose="02000503000000020004" pitchFamily="2" charset="0"/>
              <a:cs typeface="Helvetica Neue" panose="02000503000000020004" pitchFamily="2" charset="0"/>
            </a:endParaRPr>
          </a:p>
          <a:p>
            <a:pPr algn="r"/>
            <a:r>
              <a:rPr lang="en-ES" sz="2200" dirty="0">
                <a:latin typeface="Bookman Old Style" panose="02050604050505020204" pitchFamily="18" charset="0"/>
                <a:ea typeface="Helvetica Neue" panose="02000503000000020004" pitchFamily="2" charset="0"/>
                <a:cs typeface="Helvetica Neue" panose="02000503000000020004" pitchFamily="2" charset="0"/>
              </a:rPr>
              <a:t>Ivar Hannikainen &amp; Joshua Knobe </a:t>
            </a:r>
          </a:p>
        </p:txBody>
      </p:sp>
      <p:sp>
        <p:nvSpPr>
          <p:cNvPr id="4" name="Rectangle 3">
            <a:extLst>
              <a:ext uri="{FF2B5EF4-FFF2-40B4-BE49-F238E27FC236}">
                <a16:creationId xmlns:a16="http://schemas.microsoft.com/office/drawing/2014/main" id="{7D1EA49E-5B95-64D1-97B3-05386142F3C7}"/>
              </a:ext>
            </a:extLst>
          </p:cNvPr>
          <p:cNvSpPr/>
          <p:nvPr/>
        </p:nvSpPr>
        <p:spPr>
          <a:xfrm>
            <a:off x="881269" y="6092455"/>
            <a:ext cx="10429461" cy="789593"/>
          </a:xfrm>
          <a:prstGeom prst="rect">
            <a:avLst/>
          </a:prstGeom>
          <a:solidFill>
            <a:srgbClr val="9DA7DE">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Bookman Old Style" panose="02050604050505020204" pitchFamily="18" charset="0"/>
              </a:rPr>
              <a:t>6th European Experimental Philosophy Conference </a:t>
            </a:r>
          </a:p>
          <a:p>
            <a:r>
              <a:rPr lang="en-ES" sz="1600" dirty="0">
                <a:solidFill>
                  <a:schemeClr val="tx1"/>
                </a:solidFill>
                <a:latin typeface="Bookman Old Style" panose="02050604050505020204" pitchFamily="18" charset="0"/>
              </a:rPr>
              <a:t>University of Cagliari, </a:t>
            </a:r>
          </a:p>
          <a:p>
            <a:r>
              <a:rPr lang="en-GB" sz="1600" dirty="0">
                <a:solidFill>
                  <a:schemeClr val="tx1"/>
                </a:solidFill>
                <a:latin typeface="Bookman Old Style" panose="02050604050505020204" pitchFamily="18" charset="0"/>
              </a:rPr>
              <a:t>September 8–11, 2026</a:t>
            </a:r>
            <a:endParaRPr lang="en-ES" sz="1600" dirty="0">
              <a:solidFill>
                <a:schemeClr val="tx1"/>
              </a:solidFill>
              <a:latin typeface="Bookman Old Style" panose="02050604050505020204" pitchFamily="18" charset="0"/>
            </a:endParaRPr>
          </a:p>
        </p:txBody>
      </p:sp>
    </p:spTree>
    <p:extLst>
      <p:ext uri="{BB962C8B-B14F-4D97-AF65-F5344CB8AC3E}">
        <p14:creationId xmlns:p14="http://schemas.microsoft.com/office/powerpoint/2010/main" val="14991940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The Trolley Problem | U-M LSA U-M College of LSA">
            <a:extLst>
              <a:ext uri="{FF2B5EF4-FFF2-40B4-BE49-F238E27FC236}">
                <a16:creationId xmlns:a16="http://schemas.microsoft.com/office/drawing/2014/main" id="{770865E5-CF3D-3769-D9B0-035C44128F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8326" r="1992" b="-1"/>
          <a:stretch/>
        </p:blipFill>
        <p:spPr bwMode="auto">
          <a:xfrm>
            <a:off x="1866901" y="206688"/>
            <a:ext cx="3996100" cy="299652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What is Free Will? – The Art of Storytelling">
            <a:extLst>
              <a:ext uri="{FF2B5EF4-FFF2-40B4-BE49-F238E27FC236}">
                <a16:creationId xmlns:a16="http://schemas.microsoft.com/office/drawing/2014/main" id="{F34F93E5-8DCD-21BB-51DF-1DAF66675E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8"/>
          <a:stretch/>
        </p:blipFill>
        <p:spPr bwMode="auto">
          <a:xfrm>
            <a:off x="6329001" y="206672"/>
            <a:ext cx="3996098" cy="299653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I Was a Brain in a Vat | Think | Cambridge Core">
            <a:extLst>
              <a:ext uri="{FF2B5EF4-FFF2-40B4-BE49-F238E27FC236}">
                <a16:creationId xmlns:a16="http://schemas.microsoft.com/office/drawing/2014/main" id="{EC78E8D2-2F2D-AE50-44B7-2A3BDBDC96A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2982" r="2" b="2"/>
          <a:stretch>
            <a:fillRect/>
          </a:stretch>
        </p:blipFill>
        <p:spPr bwMode="auto">
          <a:xfrm>
            <a:off x="1866900" y="3654792"/>
            <a:ext cx="3996101" cy="299652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The Ethical Spectrum: Consequences of Moral Absolutism and Relativism for  Global Society">
            <a:extLst>
              <a:ext uri="{FF2B5EF4-FFF2-40B4-BE49-F238E27FC236}">
                <a16:creationId xmlns:a16="http://schemas.microsoft.com/office/drawing/2014/main" id="{3B8C3BAC-6C46-A663-D026-B5A9CC2A2F8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b="19"/>
          <a:stretch/>
        </p:blipFill>
        <p:spPr bwMode="auto">
          <a:xfrm>
            <a:off x="6329000" y="3654792"/>
            <a:ext cx="3996097" cy="29965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54746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CCD6E0"/>
        </a:solidFill>
        <a:effectLst/>
      </p:bgPr>
    </p:bg>
    <p:spTree>
      <p:nvGrpSpPr>
        <p:cNvPr id="1" name="">
          <a:extLst>
            <a:ext uri="{FF2B5EF4-FFF2-40B4-BE49-F238E27FC236}">
              <a16:creationId xmlns:a16="http://schemas.microsoft.com/office/drawing/2014/main" id="{CF6DEC10-AC83-3F1C-6DBC-1FBCBC481D57}"/>
            </a:ext>
          </a:extLst>
        </p:cNvPr>
        <p:cNvGrpSpPr/>
        <p:nvPr/>
      </p:nvGrpSpPr>
      <p:grpSpPr>
        <a:xfrm>
          <a:off x="0" y="0"/>
          <a:ext cx="0" cy="0"/>
          <a:chOff x="0" y="0"/>
          <a:chExt cx="0" cy="0"/>
        </a:xfrm>
      </p:grpSpPr>
      <p:pic>
        <p:nvPicPr>
          <p:cNvPr id="7" name="Picture 6" descr="What is Free Will? – The Art of Storytelling">
            <a:extLst>
              <a:ext uri="{FF2B5EF4-FFF2-40B4-BE49-F238E27FC236}">
                <a16:creationId xmlns:a16="http://schemas.microsoft.com/office/drawing/2014/main" id="{E791E425-1019-9F72-069B-802D378A64BC}"/>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artisticBlur/>
                    </a14:imgEffect>
                  </a14:imgLayer>
                </a14:imgProps>
              </a:ext>
              <a:ext uri="{28A0092B-C50C-407E-A947-70E740481C1C}">
                <a14:useLocalDpi xmlns:a14="http://schemas.microsoft.com/office/drawing/2010/main" val="0"/>
              </a:ext>
            </a:extLst>
          </a:blip>
          <a:srcRect l="7444" t="17398" r="18280" b="28012"/>
          <a:stretch>
            <a:fillRect/>
          </a:stretch>
        </p:blipFill>
        <p:spPr bwMode="auto">
          <a:xfrm>
            <a:off x="-367210" y="-103238"/>
            <a:ext cx="12667249" cy="698250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What is Free Will? – The Art of Storytelling">
            <a:extLst>
              <a:ext uri="{FF2B5EF4-FFF2-40B4-BE49-F238E27FC236}">
                <a16:creationId xmlns:a16="http://schemas.microsoft.com/office/drawing/2014/main" id="{BD408A1B-C872-BB43-0A24-13798FB624E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t="18"/>
          <a:stretch/>
        </p:blipFill>
        <p:spPr bwMode="auto">
          <a:xfrm>
            <a:off x="8491520" y="299659"/>
            <a:ext cx="3517120" cy="263736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7D16A00-EE13-8628-8408-C11CC16C940B}"/>
              </a:ext>
            </a:extLst>
          </p:cNvPr>
          <p:cNvSpPr txBox="1"/>
          <p:nvPr/>
        </p:nvSpPr>
        <p:spPr>
          <a:xfrm>
            <a:off x="318977" y="3925542"/>
            <a:ext cx="11689663" cy="2677656"/>
          </a:xfrm>
          <a:prstGeom prst="rect">
            <a:avLst/>
          </a:prstGeom>
          <a:solidFill>
            <a:srgbClr val="EEEEF3">
              <a:alpha val="92036"/>
            </a:srgbClr>
          </a:solidFill>
        </p:spPr>
        <p:txBody>
          <a:bodyPr wrap="square" anchor="ctr">
            <a:spAutoFit/>
          </a:bodyPr>
          <a:lstStyle/>
          <a:p>
            <a:endParaRPr lang="en-US" sz="2400" dirty="0">
              <a:latin typeface="Bookman Old Style" panose="02050604050505020204" pitchFamily="18" charset="0"/>
            </a:endParaRPr>
          </a:p>
          <a:p>
            <a:r>
              <a:rPr lang="en-US" sz="2400" dirty="0">
                <a:latin typeface="Bookman Old Style" panose="02050604050505020204" pitchFamily="18" charset="0"/>
              </a:rPr>
              <a:t>Imagine a universe in which everything that happens is completely brought about by whatever happened before it. […]For example, one day John decided to have vegetable soup at lunch. Like everything else, this decision was completely brought about by what happened before it. […] it had to happen that John would decide to have vegetable soup at lunch. </a:t>
            </a:r>
          </a:p>
          <a:p>
            <a:endParaRPr lang="en-US" sz="2400" dirty="0">
              <a:latin typeface="Bookman Old Style" panose="02050604050505020204" pitchFamily="18" charset="0"/>
            </a:endParaRPr>
          </a:p>
        </p:txBody>
      </p:sp>
      <p:sp>
        <p:nvSpPr>
          <p:cNvPr id="5" name="TextBox 4">
            <a:extLst>
              <a:ext uri="{FF2B5EF4-FFF2-40B4-BE49-F238E27FC236}">
                <a16:creationId xmlns:a16="http://schemas.microsoft.com/office/drawing/2014/main" id="{90E3BFF3-4FE0-ED60-FE91-D14FDFEFEA48}"/>
              </a:ext>
            </a:extLst>
          </p:cNvPr>
          <p:cNvSpPr txBox="1"/>
          <p:nvPr/>
        </p:nvSpPr>
        <p:spPr>
          <a:xfrm>
            <a:off x="244546" y="225228"/>
            <a:ext cx="6422064" cy="461665"/>
          </a:xfrm>
          <a:prstGeom prst="rect">
            <a:avLst/>
          </a:prstGeom>
          <a:noFill/>
        </p:spPr>
        <p:txBody>
          <a:bodyPr wrap="square">
            <a:spAutoFit/>
          </a:bodyPr>
          <a:lstStyle/>
          <a:p>
            <a:r>
              <a:rPr lang="en-US" sz="2400" dirty="0">
                <a:solidFill>
                  <a:schemeClr val="bg1"/>
                </a:solidFill>
                <a:latin typeface="Bookman Old Style" panose="02050604050505020204" pitchFamily="18" charset="0"/>
              </a:rPr>
              <a:t>Nichols &amp; Knobe, 2007</a:t>
            </a:r>
            <a:endParaRPr lang="en-ES" dirty="0">
              <a:solidFill>
                <a:schemeClr val="bg1"/>
              </a:solidFill>
            </a:endParaRPr>
          </a:p>
        </p:txBody>
      </p:sp>
    </p:spTree>
    <p:extLst>
      <p:ext uri="{BB962C8B-B14F-4D97-AF65-F5344CB8AC3E}">
        <p14:creationId xmlns:p14="http://schemas.microsoft.com/office/powerpoint/2010/main" val="18113345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CCD6E0"/>
        </a:solidFill>
        <a:effectLst/>
      </p:bgPr>
    </p:bg>
    <p:spTree>
      <p:nvGrpSpPr>
        <p:cNvPr id="1" name="">
          <a:extLst>
            <a:ext uri="{FF2B5EF4-FFF2-40B4-BE49-F238E27FC236}">
              <a16:creationId xmlns:a16="http://schemas.microsoft.com/office/drawing/2014/main" id="{1CDC6733-8EE9-EF19-556A-29C3EC5313BF}"/>
            </a:ext>
          </a:extLst>
        </p:cNvPr>
        <p:cNvGrpSpPr/>
        <p:nvPr/>
      </p:nvGrpSpPr>
      <p:grpSpPr>
        <a:xfrm>
          <a:off x="0" y="0"/>
          <a:ext cx="0" cy="0"/>
          <a:chOff x="0" y="0"/>
          <a:chExt cx="0" cy="0"/>
        </a:xfrm>
      </p:grpSpPr>
      <p:pic>
        <p:nvPicPr>
          <p:cNvPr id="7" name="Picture 6" descr="What is Free Will? – The Art of Storytelling">
            <a:extLst>
              <a:ext uri="{FF2B5EF4-FFF2-40B4-BE49-F238E27FC236}">
                <a16:creationId xmlns:a16="http://schemas.microsoft.com/office/drawing/2014/main" id="{D3B5A774-FEC7-572A-EE9F-31C765A69A43}"/>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artisticBlur/>
                    </a14:imgEffect>
                  </a14:imgLayer>
                </a14:imgProps>
              </a:ext>
              <a:ext uri="{28A0092B-C50C-407E-A947-70E740481C1C}">
                <a14:useLocalDpi xmlns:a14="http://schemas.microsoft.com/office/drawing/2010/main" val="0"/>
              </a:ext>
            </a:extLst>
          </a:blip>
          <a:srcRect l="7444" t="17398" r="18280" b="28012"/>
          <a:stretch>
            <a:fillRect/>
          </a:stretch>
        </p:blipFill>
        <p:spPr bwMode="auto">
          <a:xfrm>
            <a:off x="-367210" y="-103238"/>
            <a:ext cx="12667249" cy="698250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What is Free Will? – The Art of Storytelling">
            <a:extLst>
              <a:ext uri="{FF2B5EF4-FFF2-40B4-BE49-F238E27FC236}">
                <a16:creationId xmlns:a16="http://schemas.microsoft.com/office/drawing/2014/main" id="{E8433A48-4FDE-6005-EE78-6EC97B483B5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t="18"/>
          <a:stretch/>
        </p:blipFill>
        <p:spPr bwMode="auto">
          <a:xfrm>
            <a:off x="8491520" y="299659"/>
            <a:ext cx="3517120" cy="2637366"/>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572E37D9-1476-C92B-FFB1-CCB60D7C99E8}"/>
              </a:ext>
            </a:extLst>
          </p:cNvPr>
          <p:cNvSpPr txBox="1"/>
          <p:nvPr/>
        </p:nvSpPr>
        <p:spPr>
          <a:xfrm>
            <a:off x="318977" y="3920976"/>
            <a:ext cx="11689663" cy="2677656"/>
          </a:xfrm>
          <a:prstGeom prst="rect">
            <a:avLst/>
          </a:prstGeom>
          <a:solidFill>
            <a:srgbClr val="EEEEF3">
              <a:alpha val="92036"/>
            </a:srgbClr>
          </a:solidFill>
        </p:spPr>
        <p:txBody>
          <a:bodyPr wrap="square">
            <a:spAutoFit/>
          </a:bodyPr>
          <a:lstStyle/>
          <a:p>
            <a:endParaRPr lang="en-US" sz="2400" dirty="0">
              <a:latin typeface="Bookman Old Style" panose="02050604050505020204" pitchFamily="18" charset="0"/>
            </a:endParaRPr>
          </a:p>
          <a:p>
            <a:r>
              <a:rPr lang="en-US" sz="2400" dirty="0">
                <a:latin typeface="Bookman Old Style" panose="02050604050505020204" pitchFamily="18" charset="0"/>
              </a:rPr>
              <a:t>In this universe, a man named Bill has become attracted to his secretary, and he decides that the only way to be with her is to kill his wife and three children. Before he leaves on a business trip, he sets up a bomb that destroys his house and kills his family while he is away.</a:t>
            </a:r>
          </a:p>
          <a:p>
            <a:endParaRPr lang="en-US" sz="2400" dirty="0">
              <a:latin typeface="Bookman Old Style" panose="02050604050505020204" pitchFamily="18" charset="0"/>
            </a:endParaRPr>
          </a:p>
          <a:p>
            <a:endParaRPr lang="en-US" sz="2400" dirty="0">
              <a:latin typeface="Bookman Old Style" panose="02050604050505020204" pitchFamily="18" charset="0"/>
            </a:endParaRPr>
          </a:p>
        </p:txBody>
      </p:sp>
      <p:sp>
        <p:nvSpPr>
          <p:cNvPr id="4" name="TextBox 3">
            <a:extLst>
              <a:ext uri="{FF2B5EF4-FFF2-40B4-BE49-F238E27FC236}">
                <a16:creationId xmlns:a16="http://schemas.microsoft.com/office/drawing/2014/main" id="{0B0C04D6-23F0-31BA-C7B4-DCA828BDD224}"/>
              </a:ext>
            </a:extLst>
          </p:cNvPr>
          <p:cNvSpPr txBox="1"/>
          <p:nvPr/>
        </p:nvSpPr>
        <p:spPr>
          <a:xfrm>
            <a:off x="244546" y="225228"/>
            <a:ext cx="6422064" cy="461665"/>
          </a:xfrm>
          <a:prstGeom prst="rect">
            <a:avLst/>
          </a:prstGeom>
          <a:noFill/>
        </p:spPr>
        <p:txBody>
          <a:bodyPr wrap="square">
            <a:spAutoFit/>
          </a:bodyPr>
          <a:lstStyle/>
          <a:p>
            <a:r>
              <a:rPr lang="en-US" sz="2400" dirty="0">
                <a:solidFill>
                  <a:schemeClr val="bg1"/>
                </a:solidFill>
                <a:latin typeface="Bookman Old Style" panose="02050604050505020204" pitchFamily="18" charset="0"/>
              </a:rPr>
              <a:t>Nichols &amp; Knobe, 2007</a:t>
            </a:r>
            <a:endParaRPr lang="en-ES" dirty="0">
              <a:solidFill>
                <a:schemeClr val="bg1"/>
              </a:solidFill>
            </a:endParaRPr>
          </a:p>
        </p:txBody>
      </p:sp>
    </p:spTree>
    <p:extLst>
      <p:ext uri="{BB962C8B-B14F-4D97-AF65-F5344CB8AC3E}">
        <p14:creationId xmlns:p14="http://schemas.microsoft.com/office/powerpoint/2010/main" val="3981177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CCD6E0"/>
        </a:solidFill>
        <a:effectLst/>
      </p:bgPr>
    </p:bg>
    <p:spTree>
      <p:nvGrpSpPr>
        <p:cNvPr id="1" name="">
          <a:extLst>
            <a:ext uri="{FF2B5EF4-FFF2-40B4-BE49-F238E27FC236}">
              <a16:creationId xmlns:a16="http://schemas.microsoft.com/office/drawing/2014/main" id="{E1A8FF71-4894-50C1-5E89-F4C702893B4E}"/>
            </a:ext>
          </a:extLst>
        </p:cNvPr>
        <p:cNvGrpSpPr/>
        <p:nvPr/>
      </p:nvGrpSpPr>
      <p:grpSpPr>
        <a:xfrm>
          <a:off x="0" y="0"/>
          <a:ext cx="0" cy="0"/>
          <a:chOff x="0" y="0"/>
          <a:chExt cx="0" cy="0"/>
        </a:xfrm>
      </p:grpSpPr>
      <p:pic>
        <p:nvPicPr>
          <p:cNvPr id="7" name="Picture 6" descr="What is Free Will? – The Art of Storytelling">
            <a:extLst>
              <a:ext uri="{FF2B5EF4-FFF2-40B4-BE49-F238E27FC236}">
                <a16:creationId xmlns:a16="http://schemas.microsoft.com/office/drawing/2014/main" id="{D8C28465-7C33-5C96-B160-0AA57BCB3FE5}"/>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artisticBlur/>
                    </a14:imgEffect>
                  </a14:imgLayer>
                </a14:imgProps>
              </a:ext>
              <a:ext uri="{28A0092B-C50C-407E-A947-70E740481C1C}">
                <a14:useLocalDpi xmlns:a14="http://schemas.microsoft.com/office/drawing/2010/main" val="0"/>
              </a:ext>
            </a:extLst>
          </a:blip>
          <a:srcRect l="7444" t="17398" r="18280" b="28012"/>
          <a:stretch>
            <a:fillRect/>
          </a:stretch>
        </p:blipFill>
        <p:spPr bwMode="auto">
          <a:xfrm>
            <a:off x="-367210" y="-103238"/>
            <a:ext cx="12667249" cy="698250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What is Free Will? – The Art of Storytelling">
            <a:extLst>
              <a:ext uri="{FF2B5EF4-FFF2-40B4-BE49-F238E27FC236}">
                <a16:creationId xmlns:a16="http://schemas.microsoft.com/office/drawing/2014/main" id="{E5097764-FF24-8F6E-F209-815EDE2CECC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t="18"/>
          <a:stretch/>
        </p:blipFill>
        <p:spPr bwMode="auto">
          <a:xfrm>
            <a:off x="8491520" y="299659"/>
            <a:ext cx="3517120" cy="263736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21B4BA5-550A-6ABE-E7D9-69BF8D59BB98}"/>
              </a:ext>
            </a:extLst>
          </p:cNvPr>
          <p:cNvSpPr txBox="1"/>
          <p:nvPr/>
        </p:nvSpPr>
        <p:spPr>
          <a:xfrm>
            <a:off x="894939" y="1618342"/>
            <a:ext cx="6334432" cy="954107"/>
          </a:xfrm>
          <a:prstGeom prst="rect">
            <a:avLst/>
          </a:prstGeom>
          <a:noFill/>
        </p:spPr>
        <p:txBody>
          <a:bodyPr wrap="square">
            <a:spAutoFit/>
          </a:bodyPr>
          <a:lstStyle/>
          <a:p>
            <a:r>
              <a:rPr lang="en-US" sz="2800" dirty="0">
                <a:solidFill>
                  <a:schemeClr val="accent5">
                    <a:lumMod val="50000"/>
                  </a:schemeClr>
                </a:solidFill>
                <a:latin typeface="Bookman Old Style" panose="02050604050505020204" pitchFamily="18" charset="0"/>
              </a:rPr>
              <a:t>Did Bill act freely when he decided to kill his wife and children?</a:t>
            </a:r>
            <a:endParaRPr lang="en-ES" dirty="0">
              <a:solidFill>
                <a:schemeClr val="accent5">
                  <a:lumMod val="50000"/>
                </a:schemeClr>
              </a:solidFill>
              <a:latin typeface="Bookman Old Style" panose="02050604050505020204" pitchFamily="18" charset="0"/>
            </a:endParaRPr>
          </a:p>
        </p:txBody>
      </p:sp>
      <p:sp>
        <p:nvSpPr>
          <p:cNvPr id="2" name="TextBox 1">
            <a:extLst>
              <a:ext uri="{FF2B5EF4-FFF2-40B4-BE49-F238E27FC236}">
                <a16:creationId xmlns:a16="http://schemas.microsoft.com/office/drawing/2014/main" id="{B0A8FCA0-A181-BAFA-3137-AD279F8F8C13}"/>
              </a:ext>
            </a:extLst>
          </p:cNvPr>
          <p:cNvSpPr txBox="1"/>
          <p:nvPr/>
        </p:nvSpPr>
        <p:spPr>
          <a:xfrm>
            <a:off x="318977" y="3920976"/>
            <a:ext cx="11689663" cy="2677656"/>
          </a:xfrm>
          <a:prstGeom prst="rect">
            <a:avLst/>
          </a:prstGeom>
          <a:solidFill>
            <a:srgbClr val="EEEEF3">
              <a:alpha val="92036"/>
            </a:srgbClr>
          </a:solidFill>
        </p:spPr>
        <p:txBody>
          <a:bodyPr wrap="square">
            <a:spAutoFit/>
          </a:bodyPr>
          <a:lstStyle/>
          <a:p>
            <a:endParaRPr lang="en-US" sz="2400" dirty="0">
              <a:latin typeface="Bookman Old Style" panose="02050604050505020204" pitchFamily="18" charset="0"/>
            </a:endParaRPr>
          </a:p>
          <a:p>
            <a:r>
              <a:rPr lang="en-US" sz="2400" dirty="0">
                <a:latin typeface="Bookman Old Style" panose="02050604050505020204" pitchFamily="18" charset="0"/>
              </a:rPr>
              <a:t>In this universe, a man named Bill has become attracted to his secretary, and he decides that the only way to be with her is to kill his wife and three children. Before he leaves on a business trip, he sets up a bomb that destroys his house and kills his family while he is away.</a:t>
            </a:r>
          </a:p>
          <a:p>
            <a:endParaRPr lang="en-US" sz="2400" dirty="0">
              <a:latin typeface="Bookman Old Style" panose="02050604050505020204" pitchFamily="18" charset="0"/>
            </a:endParaRPr>
          </a:p>
          <a:p>
            <a:endParaRPr lang="en-US" sz="2400" dirty="0">
              <a:latin typeface="Bookman Old Style" panose="02050604050505020204" pitchFamily="18" charset="0"/>
            </a:endParaRPr>
          </a:p>
        </p:txBody>
      </p:sp>
      <p:sp>
        <p:nvSpPr>
          <p:cNvPr id="5" name="TextBox 4">
            <a:extLst>
              <a:ext uri="{FF2B5EF4-FFF2-40B4-BE49-F238E27FC236}">
                <a16:creationId xmlns:a16="http://schemas.microsoft.com/office/drawing/2014/main" id="{0743232D-6119-CD98-8562-803B36A2FB9D}"/>
              </a:ext>
            </a:extLst>
          </p:cNvPr>
          <p:cNvSpPr txBox="1"/>
          <p:nvPr/>
        </p:nvSpPr>
        <p:spPr>
          <a:xfrm>
            <a:off x="244546" y="225228"/>
            <a:ext cx="6422064" cy="461665"/>
          </a:xfrm>
          <a:prstGeom prst="rect">
            <a:avLst/>
          </a:prstGeom>
          <a:noFill/>
        </p:spPr>
        <p:txBody>
          <a:bodyPr wrap="square">
            <a:spAutoFit/>
          </a:bodyPr>
          <a:lstStyle/>
          <a:p>
            <a:r>
              <a:rPr lang="en-US" sz="2400" dirty="0">
                <a:solidFill>
                  <a:schemeClr val="bg1"/>
                </a:solidFill>
                <a:latin typeface="Bookman Old Style" panose="02050604050505020204" pitchFamily="18" charset="0"/>
              </a:rPr>
              <a:t>Nichols &amp; Knobe, 2007</a:t>
            </a:r>
            <a:endParaRPr lang="en-ES" dirty="0">
              <a:solidFill>
                <a:schemeClr val="bg1"/>
              </a:solidFill>
            </a:endParaRPr>
          </a:p>
        </p:txBody>
      </p:sp>
    </p:spTree>
    <p:extLst>
      <p:ext uri="{BB962C8B-B14F-4D97-AF65-F5344CB8AC3E}">
        <p14:creationId xmlns:p14="http://schemas.microsoft.com/office/powerpoint/2010/main" val="34539296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What is Free Will? – The Art of Storytelling">
            <a:extLst>
              <a:ext uri="{FF2B5EF4-FFF2-40B4-BE49-F238E27FC236}">
                <a16:creationId xmlns:a16="http://schemas.microsoft.com/office/drawing/2014/main" id="{9E2D2A20-BD8D-CAF3-3BBB-D78CC8E231B7}"/>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artisticBlur/>
                    </a14:imgEffect>
                  </a14:imgLayer>
                </a14:imgProps>
              </a:ext>
              <a:ext uri="{28A0092B-C50C-407E-A947-70E740481C1C}">
                <a14:useLocalDpi xmlns:a14="http://schemas.microsoft.com/office/drawing/2010/main" val="0"/>
              </a:ext>
            </a:extLst>
          </a:blip>
          <a:srcRect l="7444" t="17398" r="18280" b="28012"/>
          <a:stretch>
            <a:fillRect/>
          </a:stretch>
        </p:blipFill>
        <p:spPr bwMode="auto">
          <a:xfrm>
            <a:off x="-367210" y="-103238"/>
            <a:ext cx="12667249" cy="6982504"/>
          </a:xfrm>
          <a:prstGeom prst="rect">
            <a:avLst/>
          </a:prstGeom>
          <a:noFill/>
          <a:extLst>
            <a:ext uri="{909E8E84-426E-40DD-AFC4-6F175D3DCCD1}">
              <a14:hiddenFill xmlns:a14="http://schemas.microsoft.com/office/drawing/2010/main">
                <a:solidFill>
                  <a:srgbClr val="FFFFFF"/>
                </a:solidFill>
              </a14:hiddenFill>
            </a:ext>
          </a:extLst>
        </p:spPr>
      </p:pic>
      <p:sp>
        <p:nvSpPr>
          <p:cNvPr id="10" name="Title 9">
            <a:extLst>
              <a:ext uri="{FF2B5EF4-FFF2-40B4-BE49-F238E27FC236}">
                <a16:creationId xmlns:a16="http://schemas.microsoft.com/office/drawing/2014/main" id="{C718691B-06BF-EAEA-4C1D-318C1FDE7779}"/>
              </a:ext>
            </a:extLst>
          </p:cNvPr>
          <p:cNvSpPr>
            <a:spLocks noGrp="1"/>
          </p:cNvSpPr>
          <p:nvPr>
            <p:ph type="title"/>
          </p:nvPr>
        </p:nvSpPr>
        <p:spPr>
          <a:xfrm>
            <a:off x="838200" y="497879"/>
            <a:ext cx="10515600" cy="1325563"/>
          </a:xfrm>
        </p:spPr>
        <p:txBody>
          <a:bodyPr>
            <a:normAutofit/>
          </a:bodyPr>
          <a:lstStyle/>
          <a:p>
            <a:pPr algn="ctr"/>
            <a:r>
              <a:rPr lang="en-ES" sz="3000" dirty="0">
                <a:latin typeface="Bookman Old Style" panose="02050604050505020204" pitchFamily="18" charset="0"/>
                <a:ea typeface="Helvetica Neue" panose="02000503000000020004" pitchFamily="2" charset="0"/>
                <a:cs typeface="Helvetica Neue" panose="02000503000000020004" pitchFamily="2" charset="0"/>
              </a:rPr>
              <a:t>Split responses among philosophers</a:t>
            </a:r>
            <a:endParaRPr lang="en-ES" sz="3000" dirty="0">
              <a:latin typeface="Bookman Old Style" panose="02050604050505020204" pitchFamily="18" charset="0"/>
            </a:endParaRPr>
          </a:p>
        </p:txBody>
      </p:sp>
      <p:pic>
        <p:nvPicPr>
          <p:cNvPr id="14" name="Picture 13" descr="https://m.media-amazon.com/images/I/61u7fUXmn-L._AC_UF1000,1000_QL80_.jpg">
            <a:extLst>
              <a:ext uri="{FF2B5EF4-FFF2-40B4-BE49-F238E27FC236}">
                <a16:creationId xmlns:a16="http://schemas.microsoft.com/office/drawing/2014/main" id="{7AD3C0D4-9024-EBA9-100F-1DDBA94FDB23}"/>
              </a:ext>
            </a:extLst>
          </p:cNvPr>
          <p:cNvPicPr>
            <a:picLocks noChangeAspect="1"/>
          </p:cNvPicPr>
          <p:nvPr/>
        </p:nvPicPr>
        <p:blipFill>
          <a:blip r:embed="rId4"/>
          <a:stretch>
            <a:fillRect/>
          </a:stretch>
        </p:blipFill>
        <p:spPr>
          <a:xfrm>
            <a:off x="7372178" y="1577806"/>
            <a:ext cx="2992790" cy="4720489"/>
          </a:xfrm>
          <a:prstGeom prst="rect">
            <a:avLst/>
          </a:prstGeom>
        </p:spPr>
      </p:pic>
      <p:pic>
        <p:nvPicPr>
          <p:cNvPr id="15" name="Picture 14" descr="https://m.media-amazon.com/images/I/61dxd3jOZIL._AC_UF1000,1000_QL80_.jpg">
            <a:extLst>
              <a:ext uri="{FF2B5EF4-FFF2-40B4-BE49-F238E27FC236}">
                <a16:creationId xmlns:a16="http://schemas.microsoft.com/office/drawing/2014/main" id="{964BD566-6C2A-DCBD-84E3-A777060659E5}"/>
              </a:ext>
            </a:extLst>
          </p:cNvPr>
          <p:cNvPicPr>
            <a:picLocks noChangeAspect="1"/>
          </p:cNvPicPr>
          <p:nvPr/>
        </p:nvPicPr>
        <p:blipFill>
          <a:blip r:embed="rId5"/>
          <a:stretch>
            <a:fillRect/>
          </a:stretch>
        </p:blipFill>
        <p:spPr>
          <a:xfrm>
            <a:off x="1827032" y="1542520"/>
            <a:ext cx="3083649" cy="4803191"/>
          </a:xfrm>
          <a:prstGeom prst="rect">
            <a:avLst/>
          </a:prstGeom>
        </p:spPr>
      </p:pic>
    </p:spTree>
    <p:extLst>
      <p:ext uri="{BB962C8B-B14F-4D97-AF65-F5344CB8AC3E}">
        <p14:creationId xmlns:p14="http://schemas.microsoft.com/office/powerpoint/2010/main" val="8971166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3D86B-A717-5F67-F5E4-9664F6D4D756}"/>
            </a:ext>
          </a:extLst>
        </p:cNvPr>
        <p:cNvGrpSpPr/>
        <p:nvPr/>
      </p:nvGrpSpPr>
      <p:grpSpPr>
        <a:xfrm>
          <a:off x="0" y="0"/>
          <a:ext cx="0" cy="0"/>
          <a:chOff x="0" y="0"/>
          <a:chExt cx="0" cy="0"/>
        </a:xfrm>
      </p:grpSpPr>
      <p:pic>
        <p:nvPicPr>
          <p:cNvPr id="8" name="Picture 7" descr="A close-up of a letter&#10;&#10;AI-generated content may be incorrect.">
            <a:extLst>
              <a:ext uri="{FF2B5EF4-FFF2-40B4-BE49-F238E27FC236}">
                <a16:creationId xmlns:a16="http://schemas.microsoft.com/office/drawing/2014/main" id="{1F419B0C-72E4-C34E-9810-D0EC919293C3}"/>
              </a:ext>
            </a:extLst>
          </p:cNvPr>
          <p:cNvPicPr>
            <a:picLocks noChangeAspect="1"/>
          </p:cNvPicPr>
          <p:nvPr/>
        </p:nvPicPr>
        <p:blipFill>
          <a:blip r:embed="rId2"/>
          <a:srcRect r="6042"/>
          <a:stretch>
            <a:fillRect/>
          </a:stretch>
        </p:blipFill>
        <p:spPr>
          <a:xfrm>
            <a:off x="3492246" y="3849415"/>
            <a:ext cx="3482819" cy="2359725"/>
          </a:xfrm>
          <a:prstGeom prst="rect">
            <a:avLst/>
          </a:prstGeom>
        </p:spPr>
      </p:pic>
      <p:pic>
        <p:nvPicPr>
          <p:cNvPr id="6" name="Picture 4" descr="Dr Pascale Willemsen – Philosopher">
            <a:extLst>
              <a:ext uri="{FF2B5EF4-FFF2-40B4-BE49-F238E27FC236}">
                <a16:creationId xmlns:a16="http://schemas.microsoft.com/office/drawing/2014/main" id="{D47FBFF7-D6DF-18DD-7F4B-B4336ECAAD1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40" t="-561" r="12737" b="21066"/>
          <a:stretch>
            <a:fillRect/>
          </a:stretch>
        </p:blipFill>
        <p:spPr bwMode="auto">
          <a:xfrm>
            <a:off x="9496008" y="3418453"/>
            <a:ext cx="1993777" cy="2748064"/>
          </a:xfrm>
          <a:prstGeom prst="rect">
            <a:avLst/>
          </a:prstGeom>
          <a:noFill/>
          <a:ln>
            <a:solidFill>
              <a:schemeClr val="accent1">
                <a:shade val="95000"/>
                <a:satMod val="105000"/>
              </a:schemeClr>
            </a:solidFill>
          </a:ln>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02CC19BA-C941-9A6A-97B4-C9BC4071EC4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0211"/>
          <a:stretch>
            <a:fillRect/>
          </a:stretch>
        </p:blipFill>
        <p:spPr bwMode="auto">
          <a:xfrm>
            <a:off x="838199" y="3352485"/>
            <a:ext cx="2150876" cy="28800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extLst>
              <a:ext uri="{FF2B5EF4-FFF2-40B4-BE49-F238E27FC236}">
                <a16:creationId xmlns:a16="http://schemas.microsoft.com/office/drawing/2014/main" id="{7590CC7D-B7CB-F2C9-E2FC-D2E87F691A3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211"/>
          <a:stretch>
            <a:fillRect/>
          </a:stretch>
        </p:blipFill>
        <p:spPr bwMode="auto">
          <a:xfrm>
            <a:off x="9417458" y="3352485"/>
            <a:ext cx="2150876" cy="2880000"/>
          </a:xfrm>
          <a:prstGeom prst="rect">
            <a:avLst/>
          </a:prstGeom>
          <a:noFill/>
          <a:extLst>
            <a:ext uri="{909E8E84-426E-40DD-AFC4-6F175D3DCCD1}">
              <a14:hiddenFill xmlns:a14="http://schemas.microsoft.com/office/drawing/2010/main">
                <a:solidFill>
                  <a:srgbClr val="FFFFFF"/>
                </a:solidFill>
              </a14:hiddenFill>
            </a:ext>
          </a:extLst>
        </p:spPr>
      </p:pic>
      <p:pic>
        <p:nvPicPr>
          <p:cNvPr id="4" name="Graphic 3" descr="Speech outline">
            <a:extLst>
              <a:ext uri="{FF2B5EF4-FFF2-40B4-BE49-F238E27FC236}">
                <a16:creationId xmlns:a16="http://schemas.microsoft.com/office/drawing/2014/main" id="{B98F836F-ADB3-5380-E68B-4D9B4D213B7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1369856" y="1745734"/>
            <a:ext cx="1757818" cy="1757818"/>
          </a:xfrm>
          <a:prstGeom prst="rect">
            <a:avLst/>
          </a:prstGeom>
        </p:spPr>
      </p:pic>
      <p:sp>
        <p:nvSpPr>
          <p:cNvPr id="12" name="TextBox 11">
            <a:extLst>
              <a:ext uri="{FF2B5EF4-FFF2-40B4-BE49-F238E27FC236}">
                <a16:creationId xmlns:a16="http://schemas.microsoft.com/office/drawing/2014/main" id="{601D2F9D-662B-28E6-C1E3-1F45653092CD}"/>
              </a:ext>
            </a:extLst>
          </p:cNvPr>
          <p:cNvSpPr txBox="1"/>
          <p:nvPr/>
        </p:nvSpPr>
        <p:spPr>
          <a:xfrm>
            <a:off x="1652542" y="2226004"/>
            <a:ext cx="1197934" cy="553998"/>
          </a:xfrm>
          <a:prstGeom prst="rect">
            <a:avLst/>
          </a:prstGeom>
          <a:noFill/>
        </p:spPr>
        <p:txBody>
          <a:bodyPr wrap="square">
            <a:spAutoFit/>
          </a:bodyPr>
          <a:lstStyle/>
          <a:p>
            <a:pPr algn="ctr"/>
            <a:r>
              <a:rPr lang="en-ES" sz="3000" b="1" dirty="0">
                <a:latin typeface="Bookman Old Style" panose="02050604050505020204" pitchFamily="18" charset="0"/>
                <a:ea typeface="Helvetica Neue" panose="02000503000000020004" pitchFamily="2" charset="0"/>
                <a:cs typeface="Helvetica Neue" panose="02000503000000020004" pitchFamily="2" charset="0"/>
              </a:rPr>
              <a:t>Yes</a:t>
            </a:r>
            <a:endParaRPr lang="en-ES" b="1" dirty="0"/>
          </a:p>
        </p:txBody>
      </p:sp>
      <p:pic>
        <p:nvPicPr>
          <p:cNvPr id="15" name="Graphic 14" descr="Speech outline">
            <a:extLst>
              <a:ext uri="{FF2B5EF4-FFF2-40B4-BE49-F238E27FC236}">
                <a16:creationId xmlns:a16="http://schemas.microsoft.com/office/drawing/2014/main" id="{AE915585-037C-9356-4B4D-34C608B36D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50423" y="1745734"/>
            <a:ext cx="1757818" cy="1757818"/>
          </a:xfrm>
          <a:prstGeom prst="rect">
            <a:avLst/>
          </a:prstGeom>
        </p:spPr>
      </p:pic>
      <p:sp>
        <p:nvSpPr>
          <p:cNvPr id="16" name="TextBox 15">
            <a:extLst>
              <a:ext uri="{FF2B5EF4-FFF2-40B4-BE49-F238E27FC236}">
                <a16:creationId xmlns:a16="http://schemas.microsoft.com/office/drawing/2014/main" id="{341253D8-C292-40AA-43CF-AA46DD96E3C0}"/>
              </a:ext>
            </a:extLst>
          </p:cNvPr>
          <p:cNvSpPr txBox="1"/>
          <p:nvPr/>
        </p:nvSpPr>
        <p:spPr>
          <a:xfrm>
            <a:off x="9533109" y="2226004"/>
            <a:ext cx="1197934" cy="553998"/>
          </a:xfrm>
          <a:prstGeom prst="rect">
            <a:avLst/>
          </a:prstGeom>
          <a:noFill/>
        </p:spPr>
        <p:txBody>
          <a:bodyPr wrap="square">
            <a:spAutoFit/>
          </a:bodyPr>
          <a:lstStyle/>
          <a:p>
            <a:pPr algn="ctr"/>
            <a:r>
              <a:rPr lang="en-ES" sz="3000" b="1" dirty="0">
                <a:latin typeface="Bookman Old Style" panose="02050604050505020204" pitchFamily="18" charset="0"/>
                <a:ea typeface="Helvetica Neue" panose="02000503000000020004" pitchFamily="2" charset="0"/>
                <a:cs typeface="Helvetica Neue" panose="02000503000000020004" pitchFamily="2" charset="0"/>
              </a:rPr>
              <a:t>No</a:t>
            </a:r>
            <a:endParaRPr lang="en-ES" b="1" dirty="0"/>
          </a:p>
        </p:txBody>
      </p:sp>
      <p:sp>
        <p:nvSpPr>
          <p:cNvPr id="20" name="Title 9">
            <a:extLst>
              <a:ext uri="{FF2B5EF4-FFF2-40B4-BE49-F238E27FC236}">
                <a16:creationId xmlns:a16="http://schemas.microsoft.com/office/drawing/2014/main" id="{DFFB65B1-0E13-45CC-6D4D-49408EF1BD3B}"/>
              </a:ext>
            </a:extLst>
          </p:cNvPr>
          <p:cNvSpPr>
            <a:spLocks noGrp="1"/>
          </p:cNvSpPr>
          <p:nvPr>
            <p:ph type="title"/>
          </p:nvPr>
        </p:nvSpPr>
        <p:spPr>
          <a:xfrm>
            <a:off x="838200" y="-75331"/>
            <a:ext cx="10515600" cy="1325563"/>
          </a:xfrm>
        </p:spPr>
        <p:txBody>
          <a:bodyPr>
            <a:normAutofit/>
          </a:bodyPr>
          <a:lstStyle/>
          <a:p>
            <a:pPr algn="ctr"/>
            <a:r>
              <a:rPr lang="en-ES" sz="3000" dirty="0">
                <a:latin typeface="Bookman Old Style" panose="02050604050505020204" pitchFamily="18" charset="0"/>
                <a:ea typeface="Helvetica Neue" panose="02000503000000020004" pitchFamily="2" charset="0"/>
                <a:cs typeface="Helvetica Neue" panose="02000503000000020004" pitchFamily="2" charset="0"/>
              </a:rPr>
              <a:t>Split responses among non-philosophers</a:t>
            </a:r>
            <a:endParaRPr lang="en-ES" sz="3000" dirty="0">
              <a:latin typeface="Bookman Old Style" panose="02050604050505020204" pitchFamily="18" charset="0"/>
            </a:endParaRPr>
          </a:p>
        </p:txBody>
      </p:sp>
      <p:pic>
        <p:nvPicPr>
          <p:cNvPr id="21" name="Picture 20">
            <a:extLst>
              <a:ext uri="{FF2B5EF4-FFF2-40B4-BE49-F238E27FC236}">
                <a16:creationId xmlns:a16="http://schemas.microsoft.com/office/drawing/2014/main" id="{C86CC70E-2305-0265-CEF1-C1E09186D041}"/>
              </a:ext>
            </a:extLst>
          </p:cNvPr>
          <p:cNvPicPr>
            <a:picLocks noChangeAspect="1"/>
          </p:cNvPicPr>
          <p:nvPr/>
        </p:nvPicPr>
        <p:blipFill>
          <a:blip r:embed="rId6"/>
          <a:stretch>
            <a:fillRect/>
          </a:stretch>
        </p:blipFill>
        <p:spPr>
          <a:xfrm>
            <a:off x="3410360" y="1042510"/>
            <a:ext cx="4518989" cy="1689064"/>
          </a:xfrm>
          <a:prstGeom prst="rect">
            <a:avLst/>
          </a:prstGeom>
        </p:spPr>
      </p:pic>
      <p:pic>
        <p:nvPicPr>
          <p:cNvPr id="3" name="Picture 2" descr="A graph of different sizes and colors&#10;&#10;Description automatically generated with medium confidence">
            <a:extLst>
              <a:ext uri="{FF2B5EF4-FFF2-40B4-BE49-F238E27FC236}">
                <a16:creationId xmlns:a16="http://schemas.microsoft.com/office/drawing/2014/main" id="{F04F9FF8-1714-D24A-3993-D6EBEB9B2C08}"/>
              </a:ext>
            </a:extLst>
          </p:cNvPr>
          <p:cNvPicPr>
            <a:picLocks noChangeAspect="1"/>
          </p:cNvPicPr>
          <p:nvPr/>
        </p:nvPicPr>
        <p:blipFill rotWithShape="1">
          <a:blip r:embed="rId7"/>
          <a:srcRect t="4831" b="3043"/>
          <a:stretch/>
        </p:blipFill>
        <p:spPr>
          <a:xfrm>
            <a:off x="5741499" y="2503365"/>
            <a:ext cx="3567968" cy="2239615"/>
          </a:xfrm>
          <a:prstGeom prst="rect">
            <a:avLst/>
          </a:prstGeom>
        </p:spPr>
      </p:pic>
    </p:spTree>
    <p:extLst>
      <p:ext uri="{BB962C8B-B14F-4D97-AF65-F5344CB8AC3E}">
        <p14:creationId xmlns:p14="http://schemas.microsoft.com/office/powerpoint/2010/main" val="3688567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742955-D089-B2E7-178F-4287538E15D8}"/>
            </a:ext>
          </a:extLst>
        </p:cNvPr>
        <p:cNvGrpSpPr/>
        <p:nvPr/>
      </p:nvGrpSpPr>
      <p:grpSpPr>
        <a:xfrm>
          <a:off x="0" y="0"/>
          <a:ext cx="0" cy="0"/>
          <a:chOff x="0" y="0"/>
          <a:chExt cx="0" cy="0"/>
        </a:xfrm>
      </p:grpSpPr>
      <p:sp>
        <p:nvSpPr>
          <p:cNvPr id="14" name="TextBox 13">
            <a:extLst>
              <a:ext uri="{FF2B5EF4-FFF2-40B4-BE49-F238E27FC236}">
                <a16:creationId xmlns:a16="http://schemas.microsoft.com/office/drawing/2014/main" id="{1EFBCC0C-6AD2-C97F-B0D9-FC9B408BF78D}"/>
              </a:ext>
            </a:extLst>
          </p:cNvPr>
          <p:cNvSpPr txBox="1"/>
          <p:nvPr/>
        </p:nvSpPr>
        <p:spPr>
          <a:xfrm>
            <a:off x="198134" y="912027"/>
            <a:ext cx="11701422" cy="553998"/>
          </a:xfrm>
          <a:prstGeom prst="rect">
            <a:avLst/>
          </a:prstGeom>
          <a:noFill/>
        </p:spPr>
        <p:txBody>
          <a:bodyPr wrap="square">
            <a:spAutoFit/>
          </a:bodyPr>
          <a:lstStyle/>
          <a:p>
            <a:pPr algn="ctr"/>
            <a:r>
              <a:rPr lang="en-ES" sz="3000" b="1" dirty="0">
                <a:latin typeface="Bookman Old Style" panose="02050604050505020204" pitchFamily="18" charset="0"/>
                <a:ea typeface="Helvetica Neue" panose="02000503000000020004" pitchFamily="2" charset="0"/>
                <a:cs typeface="Helvetica Neue" panose="02000503000000020004" pitchFamily="2" charset="0"/>
              </a:rPr>
              <a:t>Fifteen</a:t>
            </a:r>
            <a:r>
              <a:rPr lang="en-ES" sz="3000" dirty="0">
                <a:latin typeface="Bookman Old Style" panose="02050604050505020204" pitchFamily="18" charset="0"/>
                <a:ea typeface="Helvetica Neue" panose="02000503000000020004" pitchFamily="2" charset="0"/>
                <a:cs typeface="Helvetica Neue" panose="02000503000000020004" pitchFamily="2" charset="0"/>
              </a:rPr>
              <a:t> philosophical thought experiments </a:t>
            </a:r>
            <a:endParaRPr lang="en-ES" sz="3000" dirty="0"/>
          </a:p>
        </p:txBody>
      </p:sp>
      <p:pic>
        <p:nvPicPr>
          <p:cNvPr id="2" name="Picture 2" descr="The Trolley Problem | U-M LSA U-M College of LSA">
            <a:extLst>
              <a:ext uri="{FF2B5EF4-FFF2-40B4-BE49-F238E27FC236}">
                <a16:creationId xmlns:a16="http://schemas.microsoft.com/office/drawing/2014/main" id="{A4763BD8-3CDE-B1B5-9332-BF4B6112DC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8326" r="1992" b="-1"/>
          <a:stretch/>
        </p:blipFill>
        <p:spPr bwMode="auto">
          <a:xfrm>
            <a:off x="198134" y="2368831"/>
            <a:ext cx="2832070" cy="212366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What is Free Will? – The Art of Storytelling">
            <a:extLst>
              <a:ext uri="{FF2B5EF4-FFF2-40B4-BE49-F238E27FC236}">
                <a16:creationId xmlns:a16="http://schemas.microsoft.com/office/drawing/2014/main" id="{D73F31BA-02C2-04B1-38CB-AB3B083FE3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8"/>
          <a:stretch/>
        </p:blipFill>
        <p:spPr bwMode="auto">
          <a:xfrm>
            <a:off x="3178939" y="2368828"/>
            <a:ext cx="2832069" cy="21236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I Was a Brain in a Vat | Think | Cambridge Core">
            <a:extLst>
              <a:ext uri="{FF2B5EF4-FFF2-40B4-BE49-F238E27FC236}">
                <a16:creationId xmlns:a16="http://schemas.microsoft.com/office/drawing/2014/main" id="{A1F3AF36-129D-C06C-0D3C-1CEC58C251C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2982" r="2" b="2"/>
          <a:stretch>
            <a:fillRect/>
          </a:stretch>
        </p:blipFill>
        <p:spPr bwMode="auto">
          <a:xfrm>
            <a:off x="6180993" y="2368834"/>
            <a:ext cx="2832069" cy="212365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The Ethical Spectrum: Consequences of Moral Absolutism and Relativism for  Global Society">
            <a:extLst>
              <a:ext uri="{FF2B5EF4-FFF2-40B4-BE49-F238E27FC236}">
                <a16:creationId xmlns:a16="http://schemas.microsoft.com/office/drawing/2014/main" id="{EE7BB745-5ED0-92CC-791F-4D8C50CC73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b="19"/>
          <a:stretch/>
        </p:blipFill>
        <p:spPr bwMode="auto">
          <a:xfrm>
            <a:off x="9161797" y="2368838"/>
            <a:ext cx="2832069" cy="212364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C54310B1-5D18-1DB5-4C9B-0A07ED801D6B}"/>
              </a:ext>
            </a:extLst>
          </p:cNvPr>
          <p:cNvSpPr txBox="1"/>
          <p:nvPr/>
        </p:nvSpPr>
        <p:spPr>
          <a:xfrm>
            <a:off x="1084014" y="5048345"/>
            <a:ext cx="10023971" cy="1107996"/>
          </a:xfrm>
          <a:prstGeom prst="rect">
            <a:avLst/>
          </a:prstGeom>
          <a:noFill/>
        </p:spPr>
        <p:txBody>
          <a:bodyPr wrap="square">
            <a:spAutoFit/>
          </a:bodyPr>
          <a:lstStyle/>
          <a:p>
            <a:pPr algn="just"/>
            <a:r>
              <a:rPr lang="en-GB" sz="2200" dirty="0">
                <a:latin typeface="Bookman Old Style" panose="02050604050505020204" pitchFamily="18" charset="0"/>
              </a:rPr>
              <a:t>Ship of Theseus, </a:t>
            </a:r>
            <a:r>
              <a:rPr lang="en-GB" sz="2200" dirty="0" err="1">
                <a:latin typeface="Bookman Old Style" panose="02050604050505020204" pitchFamily="18" charset="0"/>
              </a:rPr>
              <a:t>Truetemp</a:t>
            </a:r>
            <a:r>
              <a:rPr lang="en-GB" sz="2200" dirty="0">
                <a:latin typeface="Bookman Old Style" panose="02050604050505020204" pitchFamily="18" charset="0"/>
              </a:rPr>
              <a:t>, Individuation, Phineas Gage, Lying, Robot Consciousness, Happiness, Death, Twin Earth, Double Prevention, Knowledge without Belief.</a:t>
            </a:r>
          </a:p>
        </p:txBody>
      </p:sp>
    </p:spTree>
    <p:extLst>
      <p:ext uri="{BB962C8B-B14F-4D97-AF65-F5344CB8AC3E}">
        <p14:creationId xmlns:p14="http://schemas.microsoft.com/office/powerpoint/2010/main" val="1630398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07D6DAC4-C80D-63B5-A47E-4E127A516358}"/>
              </a:ext>
            </a:extLst>
          </p:cNvPr>
          <p:cNvSpPr>
            <a:spLocks noGrp="1"/>
          </p:cNvSpPr>
          <p:nvPr>
            <p:ph type="title"/>
          </p:nvPr>
        </p:nvSpPr>
        <p:spPr>
          <a:xfrm>
            <a:off x="838200" y="54533"/>
            <a:ext cx="10515600" cy="1325563"/>
          </a:xfrm>
        </p:spPr>
        <p:txBody>
          <a:bodyPr>
            <a:normAutofit/>
          </a:bodyPr>
          <a:lstStyle/>
          <a:p>
            <a:pPr algn="ctr"/>
            <a:r>
              <a:rPr lang="en-ES" sz="3000" dirty="0">
                <a:latin typeface="Bookman Old Style" panose="02050604050505020204" pitchFamily="18" charset="0"/>
                <a:ea typeface="Helvetica Neue" panose="02000503000000020004" pitchFamily="2" charset="0"/>
                <a:cs typeface="Helvetica Neue" panose="02000503000000020004" pitchFamily="2" charset="0"/>
              </a:rPr>
              <a:t>Split responses among non-philosophers</a:t>
            </a:r>
            <a:endParaRPr lang="en-ES" sz="3000" dirty="0">
              <a:latin typeface="Bookman Old Style" panose="02050604050505020204" pitchFamily="18" charset="0"/>
            </a:endParaRPr>
          </a:p>
        </p:txBody>
      </p:sp>
      <p:sp>
        <p:nvSpPr>
          <p:cNvPr id="5" name="Content Placeholder 2">
            <a:extLst>
              <a:ext uri="{FF2B5EF4-FFF2-40B4-BE49-F238E27FC236}">
                <a16:creationId xmlns:a16="http://schemas.microsoft.com/office/drawing/2014/main" id="{323B154D-0BCD-607D-F941-D89EB686EB98}"/>
              </a:ext>
            </a:extLst>
          </p:cNvPr>
          <p:cNvSpPr>
            <a:spLocks noGrp="1"/>
          </p:cNvSpPr>
          <p:nvPr>
            <p:ph idx="1"/>
          </p:nvPr>
        </p:nvSpPr>
        <p:spPr>
          <a:xfrm>
            <a:off x="10287358" y="185777"/>
            <a:ext cx="1704345" cy="531537"/>
          </a:xfrm>
        </p:spPr>
        <p:txBody>
          <a:bodyPr>
            <a:normAutofit/>
          </a:bodyPr>
          <a:lstStyle/>
          <a:p>
            <a:pPr marL="0" indent="0">
              <a:buNone/>
            </a:pPr>
            <a:r>
              <a:rPr lang="en-ES" sz="2500" i="1" dirty="0">
                <a:latin typeface="Bookman Old Style" panose="02050604050505020204" pitchFamily="18" charset="0"/>
              </a:rPr>
              <a:t>N</a:t>
            </a:r>
            <a:r>
              <a:rPr lang="en-ES" sz="2500" dirty="0">
                <a:latin typeface="Bookman Old Style" panose="02050604050505020204" pitchFamily="18" charset="0"/>
              </a:rPr>
              <a:t> = 1617</a:t>
            </a:r>
          </a:p>
        </p:txBody>
      </p:sp>
      <p:pic>
        <p:nvPicPr>
          <p:cNvPr id="6" name="Picture 5" descr="https://thumb.wikimedia.org/wikipedia/commons/thumb/a/a4/Flag_of_the_United_States.svg/1280px-Flag_of_the_United_States.svg.png?utm_source=es.wikipedia.org&amp;utm_campaign=index&amp;utm_content=thumbnail">
            <a:extLst>
              <a:ext uri="{FF2B5EF4-FFF2-40B4-BE49-F238E27FC236}">
                <a16:creationId xmlns:a16="http://schemas.microsoft.com/office/drawing/2014/main" id="{1292AF55-379F-C61D-BA06-7C1E7AC5759C}"/>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contrast="-20000"/>
                    </a14:imgEffect>
                  </a14:imgLayer>
                </a14:imgProps>
              </a:ext>
            </a:extLst>
          </a:blip>
          <a:stretch>
            <a:fillRect/>
          </a:stretch>
        </p:blipFill>
        <p:spPr>
          <a:xfrm>
            <a:off x="10916194" y="717314"/>
            <a:ext cx="875212" cy="460854"/>
          </a:xfrm>
          <a:prstGeom prst="rect">
            <a:avLst/>
          </a:prstGeom>
        </p:spPr>
      </p:pic>
      <p:pic>
        <p:nvPicPr>
          <p:cNvPr id="7" name="Picture 6">
            <a:extLst>
              <a:ext uri="{FF2B5EF4-FFF2-40B4-BE49-F238E27FC236}">
                <a16:creationId xmlns:a16="http://schemas.microsoft.com/office/drawing/2014/main" id="{8AF34EB6-EFD3-6C27-B653-9125CE276496}"/>
              </a:ext>
            </a:extLst>
          </p:cNvPr>
          <p:cNvPicPr>
            <a:picLocks noChangeAspect="1"/>
          </p:cNvPicPr>
          <p:nvPr/>
        </p:nvPicPr>
        <p:blipFill>
          <a:blip r:embed="rId4"/>
          <a:stretch>
            <a:fillRect/>
          </a:stretch>
        </p:blipFill>
        <p:spPr>
          <a:xfrm>
            <a:off x="1990997" y="1061399"/>
            <a:ext cx="7772400" cy="5824364"/>
          </a:xfrm>
          <a:prstGeom prst="rect">
            <a:avLst/>
          </a:prstGeom>
        </p:spPr>
      </p:pic>
    </p:spTree>
    <p:extLst>
      <p:ext uri="{BB962C8B-B14F-4D97-AF65-F5344CB8AC3E}">
        <p14:creationId xmlns:p14="http://schemas.microsoft.com/office/powerpoint/2010/main" val="18323203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9" name="Picture 58">
            <a:extLst>
              <a:ext uri="{FF2B5EF4-FFF2-40B4-BE49-F238E27FC236}">
                <a16:creationId xmlns:a16="http://schemas.microsoft.com/office/drawing/2014/main" id="{00C3DBBB-9590-57E1-7B88-FD080624785F}"/>
              </a:ext>
            </a:extLst>
          </p:cNvPr>
          <p:cNvPicPr>
            <a:picLocks noChangeAspect="1"/>
          </p:cNvPicPr>
          <p:nvPr/>
        </p:nvPicPr>
        <p:blipFill>
          <a:blip r:embed="rId2">
            <a:extLst>
              <a:ext uri="{BEBA8EAE-BF5A-486C-A8C5-ECC9F3942E4B}">
                <a14:imgProps xmlns:a14="http://schemas.microsoft.com/office/drawing/2010/main">
                  <a14:imgLayer r:embed="rId3">
                    <a14:imgEffect>
                      <a14:artisticBlur/>
                    </a14:imgEffect>
                  </a14:imgLayer>
                </a14:imgProps>
              </a:ext>
            </a:extLst>
          </a:blip>
          <a:stretch>
            <a:fillRect/>
          </a:stretch>
        </p:blipFill>
        <p:spPr>
          <a:xfrm>
            <a:off x="1415322" y="165106"/>
            <a:ext cx="10507757" cy="6520505"/>
          </a:xfrm>
          <a:prstGeom prst="rect">
            <a:avLst/>
          </a:prstGeom>
        </p:spPr>
      </p:pic>
      <p:sp>
        <p:nvSpPr>
          <p:cNvPr id="12" name="Title 9">
            <a:extLst>
              <a:ext uri="{FF2B5EF4-FFF2-40B4-BE49-F238E27FC236}">
                <a16:creationId xmlns:a16="http://schemas.microsoft.com/office/drawing/2014/main" id="{99C70E7C-B251-E3AB-47F4-FADDEF35FBD6}"/>
              </a:ext>
            </a:extLst>
          </p:cNvPr>
          <p:cNvSpPr>
            <a:spLocks noGrp="1"/>
          </p:cNvSpPr>
          <p:nvPr>
            <p:ph type="title"/>
          </p:nvPr>
        </p:nvSpPr>
        <p:spPr>
          <a:xfrm>
            <a:off x="838200" y="2633440"/>
            <a:ext cx="10515600" cy="987167"/>
          </a:xfrm>
        </p:spPr>
        <p:txBody>
          <a:bodyPr>
            <a:normAutofit/>
          </a:bodyPr>
          <a:lstStyle/>
          <a:p>
            <a:pPr algn="ctr"/>
            <a:r>
              <a:rPr lang="en-ES" sz="3800" dirty="0">
                <a:latin typeface="Bookman Old Style" panose="02050604050505020204" pitchFamily="18" charset="0"/>
                <a:ea typeface="Helvetica Neue" panose="02000503000000020004" pitchFamily="2" charset="0"/>
                <a:cs typeface="Helvetica Neue" panose="02000503000000020004" pitchFamily="2" charset="0"/>
              </a:rPr>
              <a:t>Why?</a:t>
            </a:r>
            <a:endParaRPr lang="en-ES" sz="3800" dirty="0">
              <a:latin typeface="Bookman Old Style" panose="02050604050505020204" pitchFamily="18" charset="0"/>
            </a:endParaRPr>
          </a:p>
        </p:txBody>
      </p:sp>
    </p:spTree>
    <p:extLst>
      <p:ext uri="{BB962C8B-B14F-4D97-AF65-F5344CB8AC3E}">
        <p14:creationId xmlns:p14="http://schemas.microsoft.com/office/powerpoint/2010/main" val="30748965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9DC5A-A503-314F-B5E1-173625613FBC}"/>
            </a:ext>
          </a:extLst>
        </p:cNvPr>
        <p:cNvGrpSpPr/>
        <p:nvPr/>
      </p:nvGrpSpPr>
      <p:grpSpPr>
        <a:xfrm>
          <a:off x="0" y="0"/>
          <a:ext cx="0" cy="0"/>
          <a:chOff x="0" y="0"/>
          <a:chExt cx="0" cy="0"/>
        </a:xfrm>
      </p:grpSpPr>
      <p:sp>
        <p:nvSpPr>
          <p:cNvPr id="29" name="Rounded Rectangle 28">
            <a:extLst>
              <a:ext uri="{FF2B5EF4-FFF2-40B4-BE49-F238E27FC236}">
                <a16:creationId xmlns:a16="http://schemas.microsoft.com/office/drawing/2014/main" id="{1FA2C336-9DCA-FF92-51C0-6598DF02D207}"/>
              </a:ext>
            </a:extLst>
          </p:cNvPr>
          <p:cNvSpPr/>
          <p:nvPr/>
        </p:nvSpPr>
        <p:spPr>
          <a:xfrm>
            <a:off x="6622891" y="1066810"/>
            <a:ext cx="5225143" cy="5508631"/>
          </a:xfrm>
          <a:prstGeom prst="roundRect">
            <a:avLst>
              <a:gd name="adj" fmla="val 9667"/>
            </a:avLst>
          </a:prstGeom>
          <a:solidFill>
            <a:schemeClr val="accent2">
              <a:lumMod val="20000"/>
              <a:lumOff val="8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28" name="Rounded Rectangle 27">
            <a:extLst>
              <a:ext uri="{FF2B5EF4-FFF2-40B4-BE49-F238E27FC236}">
                <a16:creationId xmlns:a16="http://schemas.microsoft.com/office/drawing/2014/main" id="{D0A6EAC7-15D2-257A-A947-5BDE32F4EA3C}"/>
              </a:ext>
            </a:extLst>
          </p:cNvPr>
          <p:cNvSpPr/>
          <p:nvPr/>
        </p:nvSpPr>
        <p:spPr>
          <a:xfrm>
            <a:off x="343967" y="1066810"/>
            <a:ext cx="5225143" cy="5508631"/>
          </a:xfrm>
          <a:prstGeom prst="roundRect">
            <a:avLst>
              <a:gd name="adj" fmla="val 9667"/>
            </a:avLst>
          </a:prstGeom>
          <a:solidFill>
            <a:schemeClr val="accent1">
              <a:lumMod val="20000"/>
              <a:lumOff val="80000"/>
            </a:schemeClr>
          </a:solidFill>
          <a:ln>
            <a:solidFill>
              <a:schemeClr val="tx2">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dirty="0"/>
          </a:p>
        </p:txBody>
      </p:sp>
      <p:sp>
        <p:nvSpPr>
          <p:cNvPr id="9" name="TextBox 8">
            <a:extLst>
              <a:ext uri="{FF2B5EF4-FFF2-40B4-BE49-F238E27FC236}">
                <a16:creationId xmlns:a16="http://schemas.microsoft.com/office/drawing/2014/main" id="{A9E58D94-58E1-492B-08CF-9755C2C4A25D}"/>
              </a:ext>
            </a:extLst>
          </p:cNvPr>
          <p:cNvSpPr txBox="1"/>
          <p:nvPr/>
        </p:nvSpPr>
        <p:spPr>
          <a:xfrm>
            <a:off x="0" y="4955130"/>
            <a:ext cx="6095999" cy="1446550"/>
          </a:xfrm>
          <a:prstGeom prst="rect">
            <a:avLst/>
          </a:prstGeom>
          <a:noFill/>
        </p:spPr>
        <p:txBody>
          <a:bodyPr wrap="square">
            <a:spAutoFit/>
          </a:bodyPr>
          <a:lstStyle/>
          <a:p>
            <a:pPr algn="ctr"/>
            <a:r>
              <a:rPr lang="en-US" sz="4400" dirty="0">
                <a:latin typeface="Bookman Old Style" panose="02050604050505020204" pitchFamily="18" charset="0"/>
              </a:rPr>
              <a:t>Different </a:t>
            </a:r>
          </a:p>
          <a:p>
            <a:pPr algn="ctr"/>
            <a:r>
              <a:rPr lang="en-US" sz="4400" dirty="0">
                <a:latin typeface="Bookman Old Style" panose="02050604050505020204" pitchFamily="18" charset="0"/>
              </a:rPr>
              <a:t>intuitions</a:t>
            </a:r>
            <a:endParaRPr lang="en-ES" dirty="0"/>
          </a:p>
        </p:txBody>
      </p:sp>
      <p:sp>
        <p:nvSpPr>
          <p:cNvPr id="15" name="TextBox 14">
            <a:extLst>
              <a:ext uri="{FF2B5EF4-FFF2-40B4-BE49-F238E27FC236}">
                <a16:creationId xmlns:a16="http://schemas.microsoft.com/office/drawing/2014/main" id="{B2791C05-B8E6-008B-BBB5-B6EA573D04BD}"/>
              </a:ext>
            </a:extLst>
          </p:cNvPr>
          <p:cNvSpPr txBox="1"/>
          <p:nvPr/>
        </p:nvSpPr>
        <p:spPr>
          <a:xfrm>
            <a:off x="6096001" y="4970628"/>
            <a:ext cx="6095998" cy="1446550"/>
          </a:xfrm>
          <a:prstGeom prst="rect">
            <a:avLst/>
          </a:prstGeom>
          <a:noFill/>
        </p:spPr>
        <p:txBody>
          <a:bodyPr wrap="square">
            <a:spAutoFit/>
          </a:bodyPr>
          <a:lstStyle/>
          <a:p>
            <a:pPr algn="ctr"/>
            <a:r>
              <a:rPr lang="en-US" sz="4400" dirty="0">
                <a:latin typeface="Bookman Old Style" panose="02050604050505020204" pitchFamily="18" charset="0"/>
              </a:rPr>
              <a:t>Conflicting </a:t>
            </a:r>
          </a:p>
          <a:p>
            <a:pPr algn="ctr"/>
            <a:r>
              <a:rPr lang="en-US" sz="4400" dirty="0">
                <a:latin typeface="Bookman Old Style" panose="02050604050505020204" pitchFamily="18" charset="0"/>
              </a:rPr>
              <a:t>intuitions</a:t>
            </a:r>
            <a:endParaRPr lang="en-ES" dirty="0"/>
          </a:p>
        </p:txBody>
      </p:sp>
      <p:pic>
        <p:nvPicPr>
          <p:cNvPr id="3" name="Picture 2">
            <a:extLst>
              <a:ext uri="{FF2B5EF4-FFF2-40B4-BE49-F238E27FC236}">
                <a16:creationId xmlns:a16="http://schemas.microsoft.com/office/drawing/2014/main" id="{E3B11336-1D6A-093F-9AA9-71D0A5941DC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50211"/>
          <a:stretch>
            <a:fillRect/>
          </a:stretch>
        </p:blipFill>
        <p:spPr bwMode="auto">
          <a:xfrm>
            <a:off x="1248487" y="3223006"/>
            <a:ext cx="1053465" cy="141057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9BA43926-E044-2A4A-E9BF-A482BE24D5F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0211"/>
          <a:stretch>
            <a:fillRect/>
          </a:stretch>
        </p:blipFill>
        <p:spPr bwMode="auto">
          <a:xfrm>
            <a:off x="3409910" y="3223006"/>
            <a:ext cx="1051241" cy="14076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CEFA9EE-ED54-E499-9B7E-384837A3447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50211"/>
          <a:stretch>
            <a:fillRect/>
          </a:stretch>
        </p:blipFill>
        <p:spPr bwMode="auto">
          <a:xfrm>
            <a:off x="7777141" y="3223006"/>
            <a:ext cx="1053465" cy="141057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a:extLst>
              <a:ext uri="{FF2B5EF4-FFF2-40B4-BE49-F238E27FC236}">
                <a16:creationId xmlns:a16="http://schemas.microsoft.com/office/drawing/2014/main" id="{A0756226-1327-C881-F3A0-882ED80A7E6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0211"/>
          <a:stretch>
            <a:fillRect/>
          </a:stretch>
        </p:blipFill>
        <p:spPr bwMode="auto">
          <a:xfrm>
            <a:off x="9891159" y="3223006"/>
            <a:ext cx="1051241" cy="1407600"/>
          </a:xfrm>
          <a:prstGeom prst="rect">
            <a:avLst/>
          </a:prstGeom>
          <a:noFill/>
          <a:extLst>
            <a:ext uri="{909E8E84-426E-40DD-AFC4-6F175D3DCCD1}">
              <a14:hiddenFill xmlns:a14="http://schemas.microsoft.com/office/drawing/2010/main">
                <a:solidFill>
                  <a:srgbClr val="FFFFFF"/>
                </a:solidFill>
              </a14:hiddenFill>
            </a:ext>
          </a:extLst>
        </p:spPr>
      </p:pic>
      <p:sp>
        <p:nvSpPr>
          <p:cNvPr id="12" name="Title 9">
            <a:extLst>
              <a:ext uri="{FF2B5EF4-FFF2-40B4-BE49-F238E27FC236}">
                <a16:creationId xmlns:a16="http://schemas.microsoft.com/office/drawing/2014/main" id="{F272246E-64CB-A969-C6E2-C8EFF512F901}"/>
              </a:ext>
            </a:extLst>
          </p:cNvPr>
          <p:cNvSpPr>
            <a:spLocks noGrp="1"/>
          </p:cNvSpPr>
          <p:nvPr>
            <p:ph type="title"/>
          </p:nvPr>
        </p:nvSpPr>
        <p:spPr>
          <a:xfrm>
            <a:off x="838200" y="54533"/>
            <a:ext cx="10515600" cy="987167"/>
          </a:xfrm>
        </p:spPr>
        <p:txBody>
          <a:bodyPr>
            <a:normAutofit/>
          </a:bodyPr>
          <a:lstStyle/>
          <a:p>
            <a:pPr algn="ctr"/>
            <a:r>
              <a:rPr lang="en-ES" sz="3000" dirty="0">
                <a:latin typeface="Bookman Old Style" panose="02050604050505020204" pitchFamily="18" charset="0"/>
                <a:ea typeface="Helvetica Neue" panose="02000503000000020004" pitchFamily="2" charset="0"/>
                <a:cs typeface="Helvetica Neue" panose="02000503000000020004" pitchFamily="2" charset="0"/>
              </a:rPr>
              <a:t>Why?</a:t>
            </a:r>
            <a:endParaRPr lang="en-ES" sz="3000" dirty="0">
              <a:latin typeface="Bookman Old Style" panose="02050604050505020204" pitchFamily="18" charset="0"/>
            </a:endParaRPr>
          </a:p>
        </p:txBody>
      </p:sp>
      <p:pic>
        <p:nvPicPr>
          <p:cNvPr id="31" name="Graphic 30" descr="Thought bubble outline">
            <a:extLst>
              <a:ext uri="{FF2B5EF4-FFF2-40B4-BE49-F238E27FC236}">
                <a16:creationId xmlns:a16="http://schemas.microsoft.com/office/drawing/2014/main" id="{D59E4849-7E6F-C0E9-68CF-AFEDCCD3FDF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36928" y="1959390"/>
            <a:ext cx="1238506" cy="1238506"/>
          </a:xfrm>
          <a:prstGeom prst="rect">
            <a:avLst/>
          </a:prstGeom>
        </p:spPr>
      </p:pic>
      <p:pic>
        <p:nvPicPr>
          <p:cNvPr id="33" name="Graphic 32" descr="Thought bubble outline">
            <a:extLst>
              <a:ext uri="{FF2B5EF4-FFF2-40B4-BE49-F238E27FC236}">
                <a16:creationId xmlns:a16="http://schemas.microsoft.com/office/drawing/2014/main" id="{5BF4D2D6-43D7-DEFC-0052-8C5815DC337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838200" y="1959390"/>
            <a:ext cx="1238506" cy="1238506"/>
          </a:xfrm>
          <a:prstGeom prst="rect">
            <a:avLst/>
          </a:prstGeom>
        </p:spPr>
      </p:pic>
      <p:pic>
        <p:nvPicPr>
          <p:cNvPr id="40" name="Graphic 39" descr="Thought bubble outline">
            <a:extLst>
              <a:ext uri="{FF2B5EF4-FFF2-40B4-BE49-F238E27FC236}">
                <a16:creationId xmlns:a16="http://schemas.microsoft.com/office/drawing/2014/main" id="{931ED525-9648-E52F-8C57-0B5089CB9DF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44335" y="2186511"/>
            <a:ext cx="914400" cy="914400"/>
          </a:xfrm>
          <a:prstGeom prst="rect">
            <a:avLst/>
          </a:prstGeom>
        </p:spPr>
      </p:pic>
      <p:pic>
        <p:nvPicPr>
          <p:cNvPr id="41" name="Graphic 40" descr="Thought bubble outline">
            <a:extLst>
              <a:ext uri="{FF2B5EF4-FFF2-40B4-BE49-F238E27FC236}">
                <a16:creationId xmlns:a16="http://schemas.microsoft.com/office/drawing/2014/main" id="{B1D2CA97-A922-6026-64E3-2669F9E71DF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83974" y="2243616"/>
            <a:ext cx="914400" cy="914400"/>
          </a:xfrm>
          <a:prstGeom prst="rect">
            <a:avLst/>
          </a:prstGeom>
        </p:spPr>
      </p:pic>
      <p:sp>
        <p:nvSpPr>
          <p:cNvPr id="43" name="TextBox 42">
            <a:extLst>
              <a:ext uri="{FF2B5EF4-FFF2-40B4-BE49-F238E27FC236}">
                <a16:creationId xmlns:a16="http://schemas.microsoft.com/office/drawing/2014/main" id="{D2E7D49E-AEEC-CA6B-51F1-CC4730D47DC2}"/>
              </a:ext>
            </a:extLst>
          </p:cNvPr>
          <p:cNvSpPr txBox="1"/>
          <p:nvPr/>
        </p:nvSpPr>
        <p:spPr>
          <a:xfrm>
            <a:off x="1134413" y="2228076"/>
            <a:ext cx="662581" cy="400110"/>
          </a:xfrm>
          <a:prstGeom prst="rect">
            <a:avLst/>
          </a:prstGeom>
          <a:noFill/>
        </p:spPr>
        <p:txBody>
          <a:bodyPr wrap="square">
            <a:spAutoFit/>
          </a:bodyPr>
          <a:lstStyle/>
          <a:p>
            <a:pPr algn="ctr"/>
            <a:r>
              <a:rPr lang="en-ES" sz="2000" dirty="0">
                <a:latin typeface="Bookman Old Style" panose="02050604050505020204" pitchFamily="18" charset="0"/>
                <a:ea typeface="Helvetica Neue" panose="02000503000000020004" pitchFamily="2" charset="0"/>
                <a:cs typeface="Helvetica Neue" panose="02000503000000020004" pitchFamily="2" charset="0"/>
              </a:rPr>
              <a:t>Yes</a:t>
            </a:r>
            <a:endParaRPr lang="en-ES" sz="2000" dirty="0"/>
          </a:p>
        </p:txBody>
      </p:sp>
      <p:sp>
        <p:nvSpPr>
          <p:cNvPr id="44" name="TextBox 43">
            <a:extLst>
              <a:ext uri="{FF2B5EF4-FFF2-40B4-BE49-F238E27FC236}">
                <a16:creationId xmlns:a16="http://schemas.microsoft.com/office/drawing/2014/main" id="{B1159A38-AA74-A569-6C8E-CBB94DCEF594}"/>
              </a:ext>
            </a:extLst>
          </p:cNvPr>
          <p:cNvSpPr txBox="1"/>
          <p:nvPr/>
        </p:nvSpPr>
        <p:spPr>
          <a:xfrm>
            <a:off x="4000431" y="2228076"/>
            <a:ext cx="662581" cy="400110"/>
          </a:xfrm>
          <a:prstGeom prst="rect">
            <a:avLst/>
          </a:prstGeom>
          <a:noFill/>
        </p:spPr>
        <p:txBody>
          <a:bodyPr wrap="square">
            <a:spAutoFit/>
          </a:bodyPr>
          <a:lstStyle/>
          <a:p>
            <a:pPr algn="ctr"/>
            <a:r>
              <a:rPr lang="en-ES" sz="2000" dirty="0">
                <a:latin typeface="Bookman Old Style" panose="02050604050505020204" pitchFamily="18" charset="0"/>
                <a:ea typeface="Helvetica Neue" panose="02000503000000020004" pitchFamily="2" charset="0"/>
                <a:cs typeface="Helvetica Neue" panose="02000503000000020004" pitchFamily="2" charset="0"/>
              </a:rPr>
              <a:t>No</a:t>
            </a:r>
            <a:endParaRPr lang="en-ES" sz="2000" dirty="0"/>
          </a:p>
        </p:txBody>
      </p:sp>
      <p:pic>
        <p:nvPicPr>
          <p:cNvPr id="45" name="Graphic 44" descr="Thought bubble outline">
            <a:extLst>
              <a:ext uri="{FF2B5EF4-FFF2-40B4-BE49-F238E27FC236}">
                <a16:creationId xmlns:a16="http://schemas.microsoft.com/office/drawing/2014/main" id="{96DC4FBB-B85F-E207-3364-2E121A7F364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6961705" y="2338911"/>
            <a:ext cx="914400" cy="914400"/>
          </a:xfrm>
          <a:prstGeom prst="rect">
            <a:avLst/>
          </a:prstGeom>
        </p:spPr>
      </p:pic>
      <p:pic>
        <p:nvPicPr>
          <p:cNvPr id="46" name="Graphic 45" descr="Thought bubble outline">
            <a:extLst>
              <a:ext uri="{FF2B5EF4-FFF2-40B4-BE49-F238E27FC236}">
                <a16:creationId xmlns:a16="http://schemas.microsoft.com/office/drawing/2014/main" id="{92C0D5A0-46C0-DB82-4F2E-68D6A018B82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9601344" y="2396016"/>
            <a:ext cx="914400" cy="914400"/>
          </a:xfrm>
          <a:prstGeom prst="rect">
            <a:avLst/>
          </a:prstGeom>
        </p:spPr>
      </p:pic>
      <p:sp>
        <p:nvSpPr>
          <p:cNvPr id="47" name="TextBox 46">
            <a:extLst>
              <a:ext uri="{FF2B5EF4-FFF2-40B4-BE49-F238E27FC236}">
                <a16:creationId xmlns:a16="http://schemas.microsoft.com/office/drawing/2014/main" id="{C743683A-8E2B-7264-BE9C-F57CCE563FF3}"/>
              </a:ext>
            </a:extLst>
          </p:cNvPr>
          <p:cNvSpPr txBox="1"/>
          <p:nvPr/>
        </p:nvSpPr>
        <p:spPr>
          <a:xfrm>
            <a:off x="8168025" y="2338911"/>
            <a:ext cx="662581" cy="400110"/>
          </a:xfrm>
          <a:prstGeom prst="rect">
            <a:avLst/>
          </a:prstGeom>
          <a:noFill/>
        </p:spPr>
        <p:txBody>
          <a:bodyPr wrap="square">
            <a:spAutoFit/>
          </a:bodyPr>
          <a:lstStyle/>
          <a:p>
            <a:pPr algn="ctr"/>
            <a:r>
              <a:rPr lang="en-ES" sz="2000" dirty="0">
                <a:latin typeface="Bookman Old Style" panose="02050604050505020204" pitchFamily="18" charset="0"/>
                <a:ea typeface="Helvetica Neue" panose="02000503000000020004" pitchFamily="2" charset="0"/>
                <a:cs typeface="Helvetica Neue" panose="02000503000000020004" pitchFamily="2" charset="0"/>
              </a:rPr>
              <a:t>No</a:t>
            </a:r>
            <a:endParaRPr lang="en-ES" sz="2000" dirty="0"/>
          </a:p>
        </p:txBody>
      </p:sp>
      <p:sp>
        <p:nvSpPr>
          <p:cNvPr id="48" name="TextBox 47">
            <a:extLst>
              <a:ext uri="{FF2B5EF4-FFF2-40B4-BE49-F238E27FC236}">
                <a16:creationId xmlns:a16="http://schemas.microsoft.com/office/drawing/2014/main" id="{BBA24B5A-BFED-CD2F-CCCC-D8C65AC69177}"/>
              </a:ext>
            </a:extLst>
          </p:cNvPr>
          <p:cNvSpPr txBox="1"/>
          <p:nvPr/>
        </p:nvSpPr>
        <p:spPr>
          <a:xfrm>
            <a:off x="10809883" y="2378588"/>
            <a:ext cx="662581" cy="400110"/>
          </a:xfrm>
          <a:prstGeom prst="rect">
            <a:avLst/>
          </a:prstGeom>
          <a:noFill/>
        </p:spPr>
        <p:txBody>
          <a:bodyPr wrap="square">
            <a:spAutoFit/>
          </a:bodyPr>
          <a:lstStyle/>
          <a:p>
            <a:pPr algn="ctr"/>
            <a:r>
              <a:rPr lang="en-ES" sz="2000" dirty="0">
                <a:latin typeface="Bookman Old Style" panose="02050604050505020204" pitchFamily="18" charset="0"/>
                <a:ea typeface="Helvetica Neue" panose="02000503000000020004" pitchFamily="2" charset="0"/>
                <a:cs typeface="Helvetica Neue" panose="02000503000000020004" pitchFamily="2" charset="0"/>
              </a:rPr>
              <a:t>No</a:t>
            </a:r>
            <a:endParaRPr lang="en-ES" sz="2000" dirty="0"/>
          </a:p>
        </p:txBody>
      </p:sp>
      <p:sp>
        <p:nvSpPr>
          <p:cNvPr id="49" name="TextBox 48">
            <a:extLst>
              <a:ext uri="{FF2B5EF4-FFF2-40B4-BE49-F238E27FC236}">
                <a16:creationId xmlns:a16="http://schemas.microsoft.com/office/drawing/2014/main" id="{7927B4F7-F943-2ADE-B68E-ADF7A012E267}"/>
              </a:ext>
            </a:extLst>
          </p:cNvPr>
          <p:cNvSpPr txBox="1"/>
          <p:nvPr/>
        </p:nvSpPr>
        <p:spPr>
          <a:xfrm>
            <a:off x="7096537" y="2497050"/>
            <a:ext cx="662581" cy="400110"/>
          </a:xfrm>
          <a:prstGeom prst="rect">
            <a:avLst/>
          </a:prstGeom>
          <a:noFill/>
        </p:spPr>
        <p:txBody>
          <a:bodyPr wrap="square">
            <a:spAutoFit/>
          </a:bodyPr>
          <a:lstStyle/>
          <a:p>
            <a:pPr algn="ctr"/>
            <a:r>
              <a:rPr lang="en-ES" sz="2000" dirty="0">
                <a:latin typeface="Bookman Old Style" panose="02050604050505020204" pitchFamily="18" charset="0"/>
                <a:ea typeface="Helvetica Neue" panose="02000503000000020004" pitchFamily="2" charset="0"/>
                <a:cs typeface="Helvetica Neue" panose="02000503000000020004" pitchFamily="2" charset="0"/>
              </a:rPr>
              <a:t>Yes</a:t>
            </a:r>
            <a:endParaRPr lang="en-ES" sz="2000" dirty="0"/>
          </a:p>
        </p:txBody>
      </p:sp>
      <p:sp>
        <p:nvSpPr>
          <p:cNvPr id="50" name="TextBox 49">
            <a:extLst>
              <a:ext uri="{FF2B5EF4-FFF2-40B4-BE49-F238E27FC236}">
                <a16:creationId xmlns:a16="http://schemas.microsoft.com/office/drawing/2014/main" id="{106FB769-8456-DF03-C84C-3C9EC9DAA823}"/>
              </a:ext>
            </a:extLst>
          </p:cNvPr>
          <p:cNvSpPr txBox="1"/>
          <p:nvPr/>
        </p:nvSpPr>
        <p:spPr>
          <a:xfrm>
            <a:off x="9727253" y="2546979"/>
            <a:ext cx="662581" cy="400110"/>
          </a:xfrm>
          <a:prstGeom prst="rect">
            <a:avLst/>
          </a:prstGeom>
          <a:noFill/>
        </p:spPr>
        <p:txBody>
          <a:bodyPr wrap="square">
            <a:spAutoFit/>
          </a:bodyPr>
          <a:lstStyle/>
          <a:p>
            <a:pPr algn="ctr"/>
            <a:r>
              <a:rPr lang="en-ES" sz="2000" dirty="0">
                <a:latin typeface="Bookman Old Style" panose="02050604050505020204" pitchFamily="18" charset="0"/>
                <a:ea typeface="Helvetica Neue" panose="02000503000000020004" pitchFamily="2" charset="0"/>
                <a:cs typeface="Helvetica Neue" panose="02000503000000020004" pitchFamily="2" charset="0"/>
              </a:rPr>
              <a:t>Yes</a:t>
            </a:r>
            <a:endParaRPr lang="en-ES" sz="2000" dirty="0"/>
          </a:p>
        </p:txBody>
      </p:sp>
    </p:spTree>
    <p:extLst>
      <p:ext uri="{BB962C8B-B14F-4D97-AF65-F5344CB8AC3E}">
        <p14:creationId xmlns:p14="http://schemas.microsoft.com/office/powerpoint/2010/main" val="2327321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a:extLst>
              <a:ext uri="{FF2B5EF4-FFF2-40B4-BE49-F238E27FC236}">
                <a16:creationId xmlns:a16="http://schemas.microsoft.com/office/drawing/2014/main" id="{DFD37FFD-43C8-A914-74C1-27EEBF415FE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5" b="9140"/>
          <a:stretch>
            <a:fillRect/>
          </a:stretch>
        </p:blipFill>
        <p:spPr bwMode="auto">
          <a:xfrm>
            <a:off x="0" y="1"/>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a:extLst>
              <a:ext uri="{FF2B5EF4-FFF2-40B4-BE49-F238E27FC236}">
                <a16:creationId xmlns:a16="http://schemas.microsoft.com/office/drawing/2014/main" id="{A6251617-25AD-9B88-B485-AADCFB45AE3A}"/>
              </a:ext>
            </a:extLst>
          </p:cNvPr>
          <p:cNvSpPr>
            <a:spLocks noGrp="1"/>
          </p:cNvSpPr>
          <p:nvPr>
            <p:ph type="title"/>
          </p:nvPr>
        </p:nvSpPr>
        <p:spPr>
          <a:xfrm>
            <a:off x="7072907" y="1490168"/>
            <a:ext cx="4442992" cy="818633"/>
          </a:xfrm>
          <a:solidFill>
            <a:schemeClr val="bg1">
              <a:alpha val="40122"/>
            </a:schemeClr>
          </a:solidFill>
          <a:ln>
            <a:noFill/>
          </a:ln>
        </p:spPr>
        <p:txBody>
          <a:bodyPr>
            <a:normAutofit/>
          </a:bodyPr>
          <a:lstStyle/>
          <a:p>
            <a:pPr algn="ctr"/>
            <a:r>
              <a:rPr lang="en-US" sz="3000" dirty="0">
                <a:latin typeface="Bookman Old Style" panose="02050604050505020204" pitchFamily="18" charset="0"/>
              </a:rPr>
              <a:t>The ‘both’ question</a:t>
            </a:r>
          </a:p>
        </p:txBody>
      </p:sp>
      <p:sp>
        <p:nvSpPr>
          <p:cNvPr id="4" name="Content Placeholder 3">
            <a:extLst>
              <a:ext uri="{FF2B5EF4-FFF2-40B4-BE49-F238E27FC236}">
                <a16:creationId xmlns:a16="http://schemas.microsoft.com/office/drawing/2014/main" id="{3DF51BF8-5E4D-9141-F476-DE29CCAA891F}"/>
              </a:ext>
            </a:extLst>
          </p:cNvPr>
          <p:cNvSpPr>
            <a:spLocks noGrp="1"/>
          </p:cNvSpPr>
          <p:nvPr>
            <p:ph idx="1"/>
          </p:nvPr>
        </p:nvSpPr>
        <p:spPr>
          <a:xfrm>
            <a:off x="0" y="4759890"/>
            <a:ext cx="12192000" cy="2152522"/>
          </a:xfrm>
          <a:solidFill>
            <a:schemeClr val="bg2">
              <a:lumMod val="90000"/>
              <a:alpha val="80000"/>
            </a:schemeClr>
          </a:solidFill>
          <a:ln w="15875">
            <a:noFill/>
          </a:ln>
        </p:spPr>
        <p:txBody>
          <a:bodyPr anchor="ctr">
            <a:normAutofit/>
          </a:bodyPr>
          <a:lstStyle/>
          <a:p>
            <a:pPr marL="0" indent="0" algn="just">
              <a:buNone/>
            </a:pPr>
            <a:r>
              <a:rPr lang="en-US" sz="2500" dirty="0">
                <a:latin typeface="Bookman Old Style" panose="02050604050505020204" pitchFamily="18" charset="0"/>
              </a:rPr>
              <a:t>On the previous page, you answered that </a:t>
            </a:r>
            <a:r>
              <a:rPr lang="en-US" sz="2500" dirty="0">
                <a:solidFill>
                  <a:schemeClr val="accent5">
                    <a:lumMod val="50000"/>
                  </a:schemeClr>
                </a:solidFill>
                <a:latin typeface="Bookman Old Style" panose="02050604050505020204" pitchFamily="18" charset="0"/>
              </a:rPr>
              <a:t>the person after the accident is still Phineas</a:t>
            </a:r>
            <a:r>
              <a:rPr lang="en-US" sz="2500" dirty="0">
                <a:latin typeface="Bookman Old Style" panose="02050604050505020204" pitchFamily="18" charset="0"/>
              </a:rPr>
              <a:t>. Even though you concluded in the end that this was the right answer, we want to know whether you initially felt pulled in both directions. </a:t>
            </a:r>
          </a:p>
        </p:txBody>
      </p:sp>
    </p:spTree>
    <p:extLst>
      <p:ext uri="{BB962C8B-B14F-4D97-AF65-F5344CB8AC3E}">
        <p14:creationId xmlns:p14="http://schemas.microsoft.com/office/powerpoint/2010/main" val="32572716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28893-37D1-5E5C-DBDC-A1318FEB2B64}"/>
            </a:ext>
          </a:extLst>
        </p:cNvPr>
        <p:cNvGrpSpPr/>
        <p:nvPr/>
      </p:nvGrpSpPr>
      <p:grpSpPr>
        <a:xfrm>
          <a:off x="0" y="0"/>
          <a:ext cx="0" cy="0"/>
          <a:chOff x="0" y="0"/>
          <a:chExt cx="0" cy="0"/>
        </a:xfrm>
      </p:grpSpPr>
      <p:pic>
        <p:nvPicPr>
          <p:cNvPr id="4098" name="Picture 2">
            <a:extLst>
              <a:ext uri="{FF2B5EF4-FFF2-40B4-BE49-F238E27FC236}">
                <a16:creationId xmlns:a16="http://schemas.microsoft.com/office/drawing/2014/main" id="{02940EAE-4E46-3D0D-D919-84307A9F70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5" b="9140"/>
          <a:stretch>
            <a:fillRect/>
          </a:stretch>
        </p:blipFill>
        <p:spPr bwMode="auto">
          <a:xfrm>
            <a:off x="0" y="1"/>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a:extLst>
              <a:ext uri="{FF2B5EF4-FFF2-40B4-BE49-F238E27FC236}">
                <a16:creationId xmlns:a16="http://schemas.microsoft.com/office/drawing/2014/main" id="{FFF0C894-9407-D253-E816-619CAEFD2377}"/>
              </a:ext>
            </a:extLst>
          </p:cNvPr>
          <p:cNvSpPr>
            <a:spLocks noGrp="1"/>
          </p:cNvSpPr>
          <p:nvPr>
            <p:ph type="title"/>
          </p:nvPr>
        </p:nvSpPr>
        <p:spPr>
          <a:xfrm>
            <a:off x="7072907" y="1490168"/>
            <a:ext cx="4442992" cy="818633"/>
          </a:xfrm>
          <a:solidFill>
            <a:schemeClr val="bg1">
              <a:alpha val="40122"/>
            </a:schemeClr>
          </a:solidFill>
          <a:ln>
            <a:noFill/>
          </a:ln>
        </p:spPr>
        <p:txBody>
          <a:bodyPr>
            <a:normAutofit/>
          </a:bodyPr>
          <a:lstStyle/>
          <a:p>
            <a:pPr algn="ctr"/>
            <a:r>
              <a:rPr lang="en-US" sz="3000" dirty="0">
                <a:latin typeface="Bookman Old Style" panose="02050604050505020204" pitchFamily="18" charset="0"/>
              </a:rPr>
              <a:t>The ‘both’ question</a:t>
            </a:r>
          </a:p>
        </p:txBody>
      </p:sp>
      <p:sp>
        <p:nvSpPr>
          <p:cNvPr id="4" name="Content Placeholder 3">
            <a:extLst>
              <a:ext uri="{FF2B5EF4-FFF2-40B4-BE49-F238E27FC236}">
                <a16:creationId xmlns:a16="http://schemas.microsoft.com/office/drawing/2014/main" id="{3FEAE28D-1E7A-FD42-6698-9534FD01B39D}"/>
              </a:ext>
            </a:extLst>
          </p:cNvPr>
          <p:cNvSpPr>
            <a:spLocks noGrp="1"/>
          </p:cNvSpPr>
          <p:nvPr>
            <p:ph idx="1"/>
          </p:nvPr>
        </p:nvSpPr>
        <p:spPr>
          <a:xfrm>
            <a:off x="0" y="4759890"/>
            <a:ext cx="12192000" cy="2152522"/>
          </a:xfrm>
          <a:solidFill>
            <a:schemeClr val="bg2">
              <a:lumMod val="90000"/>
              <a:alpha val="80000"/>
            </a:schemeClr>
          </a:solidFill>
          <a:ln w="15875">
            <a:noFill/>
          </a:ln>
        </p:spPr>
        <p:txBody>
          <a:bodyPr anchor="ctr">
            <a:normAutofit/>
          </a:bodyPr>
          <a:lstStyle/>
          <a:p>
            <a:pPr marL="0" indent="0" algn="just">
              <a:buNone/>
            </a:pPr>
            <a:r>
              <a:rPr lang="en-US" sz="2500" dirty="0">
                <a:latin typeface="Bookman Old Style" panose="02050604050505020204" pitchFamily="18" charset="0"/>
              </a:rPr>
              <a:t>When answering did you also have the feeling that </a:t>
            </a:r>
            <a:r>
              <a:rPr lang="en-US" sz="2500" dirty="0">
                <a:solidFill>
                  <a:schemeClr val="accent5">
                    <a:lumMod val="50000"/>
                  </a:schemeClr>
                </a:solidFill>
                <a:latin typeface="Bookman Old Style" panose="02050604050505020204" pitchFamily="18" charset="0"/>
              </a:rPr>
              <a:t>the person after the accident is not Phineas anymore</a:t>
            </a:r>
            <a:r>
              <a:rPr lang="en-US" sz="2500" dirty="0">
                <a:latin typeface="Bookman Old Style" panose="02050604050505020204" pitchFamily="18" charset="0"/>
              </a:rPr>
              <a:t>, or did you not have that feeling?</a:t>
            </a:r>
          </a:p>
          <a:p>
            <a:pPr marL="0" indent="0" algn="just">
              <a:buNone/>
            </a:pPr>
            <a:endParaRPr lang="en-US" sz="2500" dirty="0">
              <a:latin typeface="Bookman Old Style" panose="02050604050505020204" pitchFamily="18" charset="0"/>
            </a:endParaRPr>
          </a:p>
          <a:p>
            <a:pPr marL="0" indent="0" algn="just">
              <a:buNone/>
            </a:pPr>
            <a:endParaRPr lang="en-US" sz="2500" dirty="0">
              <a:latin typeface="Bookman Old Style" panose="02050604050505020204" pitchFamily="18" charset="0"/>
            </a:endParaRPr>
          </a:p>
        </p:txBody>
      </p:sp>
      <p:sp>
        <p:nvSpPr>
          <p:cNvPr id="2" name="Rounded Rectangle 1">
            <a:extLst>
              <a:ext uri="{FF2B5EF4-FFF2-40B4-BE49-F238E27FC236}">
                <a16:creationId xmlns:a16="http://schemas.microsoft.com/office/drawing/2014/main" id="{97D22D37-7298-DBAD-4C17-A8736DF2F24C}"/>
              </a:ext>
            </a:extLst>
          </p:cNvPr>
          <p:cNvSpPr/>
          <p:nvPr/>
        </p:nvSpPr>
        <p:spPr>
          <a:xfrm>
            <a:off x="1743276" y="6030739"/>
            <a:ext cx="2520000" cy="540000"/>
          </a:xfrm>
          <a:prstGeom prst="roundRect">
            <a:avLst>
              <a:gd name="adj" fmla="val 9667"/>
            </a:avLst>
          </a:prstGeom>
          <a:solidFill>
            <a:schemeClr val="accent1">
              <a:lumMod val="20000"/>
              <a:lumOff val="80000"/>
            </a:schemeClr>
          </a:solidFill>
          <a:ln>
            <a:solidFill>
              <a:schemeClr val="tx2">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sz="2300" dirty="0">
                <a:solidFill>
                  <a:schemeClr val="tx1"/>
                </a:solidFill>
                <a:latin typeface="Bookman Old Style" panose="02050604050505020204" pitchFamily="18" charset="0"/>
              </a:rPr>
              <a:t>No, I did not.</a:t>
            </a:r>
          </a:p>
        </p:txBody>
      </p:sp>
      <p:sp>
        <p:nvSpPr>
          <p:cNvPr id="5" name="Rounded Rectangle 4">
            <a:extLst>
              <a:ext uri="{FF2B5EF4-FFF2-40B4-BE49-F238E27FC236}">
                <a16:creationId xmlns:a16="http://schemas.microsoft.com/office/drawing/2014/main" id="{9CD78D13-65A5-8EF9-1E54-2D1F6133A094}"/>
              </a:ext>
            </a:extLst>
          </p:cNvPr>
          <p:cNvSpPr/>
          <p:nvPr/>
        </p:nvSpPr>
        <p:spPr>
          <a:xfrm>
            <a:off x="8214403" y="6030739"/>
            <a:ext cx="2520000" cy="540000"/>
          </a:xfrm>
          <a:prstGeom prst="roundRect">
            <a:avLst>
              <a:gd name="adj" fmla="val 9667"/>
            </a:avLst>
          </a:prstGeom>
          <a:solidFill>
            <a:schemeClr val="accent2">
              <a:lumMod val="20000"/>
              <a:lumOff val="80000"/>
            </a:schemeClr>
          </a:solidFill>
          <a:ln>
            <a:solidFill>
              <a:schemeClr val="tx2">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sz="2300" dirty="0">
                <a:solidFill>
                  <a:schemeClr val="tx1"/>
                </a:solidFill>
                <a:latin typeface="Bookman Old Style" panose="02050604050505020204" pitchFamily="18" charset="0"/>
              </a:rPr>
              <a:t>Yes, I did.</a:t>
            </a:r>
          </a:p>
        </p:txBody>
      </p:sp>
    </p:spTree>
    <p:extLst>
      <p:ext uri="{BB962C8B-B14F-4D97-AF65-F5344CB8AC3E}">
        <p14:creationId xmlns:p14="http://schemas.microsoft.com/office/powerpoint/2010/main" val="35642207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9A10E-48F6-4C88-1CD4-BFE2C7FFD4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0FDFFF-862B-37B0-1B09-0A74C1F23963}"/>
              </a:ext>
            </a:extLst>
          </p:cNvPr>
          <p:cNvSpPr>
            <a:spLocks noGrp="1"/>
          </p:cNvSpPr>
          <p:nvPr>
            <p:ph type="title"/>
          </p:nvPr>
        </p:nvSpPr>
        <p:spPr>
          <a:xfrm>
            <a:off x="0" y="9601"/>
            <a:ext cx="12192000" cy="1325563"/>
          </a:xfrm>
        </p:spPr>
        <p:txBody>
          <a:bodyPr>
            <a:normAutofit/>
          </a:bodyPr>
          <a:lstStyle/>
          <a:p>
            <a:pPr algn="ctr"/>
            <a:r>
              <a:rPr lang="en-GB" sz="3800" dirty="0">
                <a:latin typeface="Bookman Old Style" panose="02050604050505020204" pitchFamily="18" charset="0"/>
              </a:rPr>
              <a:t>H</a:t>
            </a:r>
            <a:r>
              <a:rPr lang="en-ES" sz="3800" dirty="0">
                <a:latin typeface="Bookman Old Style" panose="02050604050505020204" pitchFamily="18" charset="0"/>
              </a:rPr>
              <a:t>ow prevalent are conflicting intuitions?</a:t>
            </a:r>
          </a:p>
        </p:txBody>
      </p:sp>
      <p:pic>
        <p:nvPicPr>
          <p:cNvPr id="4" name="Content Placeholder 4">
            <a:extLst>
              <a:ext uri="{FF2B5EF4-FFF2-40B4-BE49-F238E27FC236}">
                <a16:creationId xmlns:a16="http://schemas.microsoft.com/office/drawing/2014/main" id="{0B2C5C1B-44F0-CF31-A0F0-92A2BB5B34C9}"/>
              </a:ext>
            </a:extLst>
          </p:cNvPr>
          <p:cNvPicPr>
            <a:picLocks noChangeAspect="1"/>
          </p:cNvPicPr>
          <p:nvPr/>
        </p:nvPicPr>
        <p:blipFill>
          <a:blip r:embed="rId2"/>
          <a:srcRect l="1" r="37325" b="-1220"/>
          <a:stretch>
            <a:fillRect/>
          </a:stretch>
        </p:blipFill>
        <p:spPr bwMode="auto">
          <a:xfrm>
            <a:off x="1521767" y="1630580"/>
            <a:ext cx="5741233" cy="4277484"/>
          </a:xfrm>
          <a:prstGeom prst="rect">
            <a:avLst/>
          </a:prstGeom>
          <a:noFill/>
          <a:ln w="9525">
            <a:noFill/>
            <a:miter lim="800000"/>
            <a:headEnd/>
            <a:tailEnd/>
          </a:ln>
        </p:spPr>
      </p:pic>
      <p:sp>
        <p:nvSpPr>
          <p:cNvPr id="5" name="Rectangle 4">
            <a:extLst>
              <a:ext uri="{FF2B5EF4-FFF2-40B4-BE49-F238E27FC236}">
                <a16:creationId xmlns:a16="http://schemas.microsoft.com/office/drawing/2014/main" id="{A28A0691-0002-2328-EF3E-AEDF87ED8B61}"/>
              </a:ext>
            </a:extLst>
          </p:cNvPr>
          <p:cNvSpPr/>
          <p:nvPr/>
        </p:nvSpPr>
        <p:spPr>
          <a:xfrm>
            <a:off x="3872740" y="1630580"/>
            <a:ext cx="3276809" cy="70511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latin typeface="Bookman Old Style" panose="02050604050505020204" pitchFamily="18" charset="0"/>
            </a:endParaRPr>
          </a:p>
        </p:txBody>
      </p:sp>
      <p:pic>
        <p:nvPicPr>
          <p:cNvPr id="6" name="Content Placeholder 4">
            <a:extLst>
              <a:ext uri="{FF2B5EF4-FFF2-40B4-BE49-F238E27FC236}">
                <a16:creationId xmlns:a16="http://schemas.microsoft.com/office/drawing/2014/main" id="{853FEDED-D033-BA57-9FCD-16BE7E88935F}"/>
              </a:ext>
            </a:extLst>
          </p:cNvPr>
          <p:cNvPicPr>
            <a:picLocks noChangeAspect="1"/>
          </p:cNvPicPr>
          <p:nvPr/>
        </p:nvPicPr>
        <p:blipFill>
          <a:blip r:embed="rId2"/>
          <a:srcRect l="62881" b="3819"/>
          <a:stretch>
            <a:fillRect/>
          </a:stretch>
        </p:blipFill>
        <p:spPr bwMode="auto">
          <a:xfrm>
            <a:off x="3862780" y="1630580"/>
            <a:ext cx="3400220" cy="4064542"/>
          </a:xfrm>
          <a:prstGeom prst="rect">
            <a:avLst/>
          </a:prstGeom>
          <a:noFill/>
          <a:ln w="9525">
            <a:noFill/>
            <a:miter lim="800000"/>
            <a:headEnd/>
            <a:tailEnd/>
          </a:ln>
        </p:spPr>
      </p:pic>
      <p:sp>
        <p:nvSpPr>
          <p:cNvPr id="7" name="Rectangle 6">
            <a:extLst>
              <a:ext uri="{FF2B5EF4-FFF2-40B4-BE49-F238E27FC236}">
                <a16:creationId xmlns:a16="http://schemas.microsoft.com/office/drawing/2014/main" id="{32DA4A1B-BBB2-40F2-F667-8760E804F43A}"/>
              </a:ext>
            </a:extLst>
          </p:cNvPr>
          <p:cNvSpPr/>
          <p:nvPr/>
        </p:nvSpPr>
        <p:spPr>
          <a:xfrm>
            <a:off x="3876779" y="1874904"/>
            <a:ext cx="3328987" cy="46079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latin typeface="Bookman Old Style" panose="02050604050505020204" pitchFamily="18" charset="0"/>
            </a:endParaRPr>
          </a:p>
        </p:txBody>
      </p:sp>
      <p:sp>
        <p:nvSpPr>
          <p:cNvPr id="9" name="Rectangle 8">
            <a:extLst>
              <a:ext uri="{FF2B5EF4-FFF2-40B4-BE49-F238E27FC236}">
                <a16:creationId xmlns:a16="http://schemas.microsoft.com/office/drawing/2014/main" id="{94058F6D-1ADD-4630-56F6-5B6EA5F8C0ED}"/>
              </a:ext>
            </a:extLst>
          </p:cNvPr>
          <p:cNvSpPr/>
          <p:nvPr/>
        </p:nvSpPr>
        <p:spPr>
          <a:xfrm>
            <a:off x="3872740" y="1644507"/>
            <a:ext cx="3760069" cy="58386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latin typeface="Bookman Old Style" panose="02050604050505020204" pitchFamily="18" charset="0"/>
            </a:endParaRPr>
          </a:p>
        </p:txBody>
      </p:sp>
      <p:sp>
        <p:nvSpPr>
          <p:cNvPr id="11" name="TextBox 10">
            <a:extLst>
              <a:ext uri="{FF2B5EF4-FFF2-40B4-BE49-F238E27FC236}">
                <a16:creationId xmlns:a16="http://schemas.microsoft.com/office/drawing/2014/main" id="{6B7F70E1-F4C1-C4A0-3BC7-5E06F81BD340}"/>
              </a:ext>
            </a:extLst>
          </p:cNvPr>
          <p:cNvSpPr txBox="1"/>
          <p:nvPr/>
        </p:nvSpPr>
        <p:spPr>
          <a:xfrm>
            <a:off x="8265826" y="2941476"/>
            <a:ext cx="3240000" cy="1440000"/>
          </a:xfrm>
          <a:prstGeom prst="rect">
            <a:avLst/>
          </a:prstGeom>
          <a:solidFill>
            <a:schemeClr val="accent2">
              <a:lumMod val="20000"/>
              <a:lumOff val="80000"/>
            </a:schemeClr>
          </a:solidFill>
        </p:spPr>
        <p:txBody>
          <a:bodyPr wrap="square" anchor="ctr">
            <a:spAutoFit/>
          </a:bodyPr>
          <a:lstStyle/>
          <a:p>
            <a:pPr algn="ctr"/>
            <a:r>
              <a:rPr lang="en-GB" sz="2400" b="1" dirty="0">
                <a:latin typeface="Bookman Old Style" panose="02050604050505020204" pitchFamily="18" charset="0"/>
              </a:rPr>
              <a:t>58%</a:t>
            </a:r>
          </a:p>
          <a:p>
            <a:pPr algn="ctr"/>
            <a:r>
              <a:rPr lang="en-GB" sz="2400" dirty="0">
                <a:latin typeface="Bookman Old Style" panose="02050604050505020204" pitchFamily="18" charset="0"/>
              </a:rPr>
              <a:t>95% </a:t>
            </a:r>
            <a:r>
              <a:rPr lang="en-GB" sz="2400" i="1" dirty="0">
                <a:latin typeface="Bookman Old Style" panose="02050604050505020204" pitchFamily="18" charset="0"/>
              </a:rPr>
              <a:t>CI </a:t>
            </a:r>
            <a:r>
              <a:rPr lang="en-GB" sz="2400" dirty="0">
                <a:latin typeface="Bookman Old Style" panose="02050604050505020204" pitchFamily="18" charset="0"/>
              </a:rPr>
              <a:t>[54%, 63%]</a:t>
            </a:r>
            <a:endParaRPr lang="en-ES" sz="2400" dirty="0">
              <a:latin typeface="Bookman Old Style" panose="02050604050505020204" pitchFamily="18" charset="0"/>
            </a:endParaRPr>
          </a:p>
        </p:txBody>
      </p:sp>
      <p:sp>
        <p:nvSpPr>
          <p:cNvPr id="10" name="Title 1">
            <a:extLst>
              <a:ext uri="{FF2B5EF4-FFF2-40B4-BE49-F238E27FC236}">
                <a16:creationId xmlns:a16="http://schemas.microsoft.com/office/drawing/2014/main" id="{32DFCB06-11D7-E4A9-959F-93312F590E33}"/>
              </a:ext>
            </a:extLst>
          </p:cNvPr>
          <p:cNvSpPr txBox="1">
            <a:spLocks/>
          </p:cNvSpPr>
          <p:nvPr/>
        </p:nvSpPr>
        <p:spPr>
          <a:xfrm>
            <a:off x="755374" y="569237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ES" sz="3800" dirty="0">
              <a:latin typeface="Bookman Old Style" panose="02050604050505020204" pitchFamily="18" charset="0"/>
            </a:endParaRPr>
          </a:p>
        </p:txBody>
      </p:sp>
      <p:pic>
        <p:nvPicPr>
          <p:cNvPr id="3" name="Picture 2">
            <a:extLst>
              <a:ext uri="{FF2B5EF4-FFF2-40B4-BE49-F238E27FC236}">
                <a16:creationId xmlns:a16="http://schemas.microsoft.com/office/drawing/2014/main" id="{DBE3B418-09B9-5654-0007-2DF19A579435}"/>
              </a:ext>
            </a:extLst>
          </p:cNvPr>
          <p:cNvPicPr>
            <a:picLocks noChangeAspect="1"/>
          </p:cNvPicPr>
          <p:nvPr/>
        </p:nvPicPr>
        <p:blipFill>
          <a:blip r:embed="rId3"/>
          <a:stretch>
            <a:fillRect/>
          </a:stretch>
        </p:blipFill>
        <p:spPr>
          <a:xfrm>
            <a:off x="341293" y="1003219"/>
            <a:ext cx="7772400" cy="5824364"/>
          </a:xfrm>
          <a:prstGeom prst="rect">
            <a:avLst/>
          </a:prstGeom>
        </p:spPr>
      </p:pic>
    </p:spTree>
    <p:extLst>
      <p:ext uri="{BB962C8B-B14F-4D97-AF65-F5344CB8AC3E}">
        <p14:creationId xmlns:p14="http://schemas.microsoft.com/office/powerpoint/2010/main" val="30323069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C5F69-8EF9-74CD-5A60-055DBC7168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93705-8D26-A164-9C72-0475FB39B0F4}"/>
              </a:ext>
            </a:extLst>
          </p:cNvPr>
          <p:cNvSpPr>
            <a:spLocks noGrp="1"/>
          </p:cNvSpPr>
          <p:nvPr>
            <p:ph type="title"/>
          </p:nvPr>
        </p:nvSpPr>
        <p:spPr>
          <a:xfrm>
            <a:off x="0" y="9601"/>
            <a:ext cx="12192000" cy="1325563"/>
          </a:xfrm>
        </p:spPr>
        <p:txBody>
          <a:bodyPr>
            <a:normAutofit/>
          </a:bodyPr>
          <a:lstStyle/>
          <a:p>
            <a:pPr algn="ctr"/>
            <a:r>
              <a:rPr lang="en-GB" sz="3800" dirty="0">
                <a:latin typeface="Bookman Old Style" panose="02050604050505020204" pitchFamily="18" charset="0"/>
              </a:rPr>
              <a:t>H</a:t>
            </a:r>
            <a:r>
              <a:rPr lang="en-ES" sz="3800" dirty="0">
                <a:latin typeface="Bookman Old Style" panose="02050604050505020204" pitchFamily="18" charset="0"/>
              </a:rPr>
              <a:t>ow prevalent are conflicting intuitions?</a:t>
            </a:r>
          </a:p>
        </p:txBody>
      </p:sp>
      <p:pic>
        <p:nvPicPr>
          <p:cNvPr id="4" name="Content Placeholder 4">
            <a:extLst>
              <a:ext uri="{FF2B5EF4-FFF2-40B4-BE49-F238E27FC236}">
                <a16:creationId xmlns:a16="http://schemas.microsoft.com/office/drawing/2014/main" id="{68C0004A-1EE4-E140-AEE9-388DA6BF3CF7}"/>
              </a:ext>
            </a:extLst>
          </p:cNvPr>
          <p:cNvPicPr>
            <a:picLocks noChangeAspect="1"/>
          </p:cNvPicPr>
          <p:nvPr/>
        </p:nvPicPr>
        <p:blipFill>
          <a:blip r:embed="rId2"/>
          <a:srcRect l="1" r="37325" b="-1220"/>
          <a:stretch>
            <a:fillRect/>
          </a:stretch>
        </p:blipFill>
        <p:spPr bwMode="auto">
          <a:xfrm>
            <a:off x="1521767" y="1630580"/>
            <a:ext cx="5741233" cy="4277484"/>
          </a:xfrm>
          <a:prstGeom prst="rect">
            <a:avLst/>
          </a:prstGeom>
          <a:noFill/>
          <a:ln w="9525">
            <a:noFill/>
            <a:miter lim="800000"/>
            <a:headEnd/>
            <a:tailEnd/>
          </a:ln>
        </p:spPr>
      </p:pic>
      <p:sp>
        <p:nvSpPr>
          <p:cNvPr id="5" name="Rectangle 4">
            <a:extLst>
              <a:ext uri="{FF2B5EF4-FFF2-40B4-BE49-F238E27FC236}">
                <a16:creationId xmlns:a16="http://schemas.microsoft.com/office/drawing/2014/main" id="{CF5E107A-1DA7-6A46-F232-751A62A2FE9B}"/>
              </a:ext>
            </a:extLst>
          </p:cNvPr>
          <p:cNvSpPr/>
          <p:nvPr/>
        </p:nvSpPr>
        <p:spPr>
          <a:xfrm>
            <a:off x="3872740" y="1630580"/>
            <a:ext cx="3276809" cy="70511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latin typeface="Bookman Old Style" panose="02050604050505020204" pitchFamily="18" charset="0"/>
            </a:endParaRPr>
          </a:p>
        </p:txBody>
      </p:sp>
      <p:pic>
        <p:nvPicPr>
          <p:cNvPr id="6" name="Content Placeholder 4">
            <a:extLst>
              <a:ext uri="{FF2B5EF4-FFF2-40B4-BE49-F238E27FC236}">
                <a16:creationId xmlns:a16="http://schemas.microsoft.com/office/drawing/2014/main" id="{CB2C9A16-82A9-E632-1A75-BF4C021B9CE0}"/>
              </a:ext>
            </a:extLst>
          </p:cNvPr>
          <p:cNvPicPr>
            <a:picLocks noChangeAspect="1"/>
          </p:cNvPicPr>
          <p:nvPr/>
        </p:nvPicPr>
        <p:blipFill>
          <a:blip r:embed="rId2"/>
          <a:srcRect l="62881" b="3819"/>
          <a:stretch>
            <a:fillRect/>
          </a:stretch>
        </p:blipFill>
        <p:spPr bwMode="auto">
          <a:xfrm>
            <a:off x="3862780" y="1630580"/>
            <a:ext cx="3400220" cy="4064542"/>
          </a:xfrm>
          <a:prstGeom prst="rect">
            <a:avLst/>
          </a:prstGeom>
          <a:noFill/>
          <a:ln w="9525">
            <a:noFill/>
            <a:miter lim="800000"/>
            <a:headEnd/>
            <a:tailEnd/>
          </a:ln>
        </p:spPr>
      </p:pic>
      <p:sp>
        <p:nvSpPr>
          <p:cNvPr id="7" name="Rectangle 6">
            <a:extLst>
              <a:ext uri="{FF2B5EF4-FFF2-40B4-BE49-F238E27FC236}">
                <a16:creationId xmlns:a16="http://schemas.microsoft.com/office/drawing/2014/main" id="{D1934A7D-BE34-B92B-5971-E9981DC68B8B}"/>
              </a:ext>
            </a:extLst>
          </p:cNvPr>
          <p:cNvSpPr/>
          <p:nvPr/>
        </p:nvSpPr>
        <p:spPr>
          <a:xfrm>
            <a:off x="3876779" y="1874904"/>
            <a:ext cx="3328987" cy="46079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latin typeface="Bookman Old Style" panose="02050604050505020204" pitchFamily="18" charset="0"/>
            </a:endParaRPr>
          </a:p>
        </p:txBody>
      </p:sp>
      <p:sp>
        <p:nvSpPr>
          <p:cNvPr id="9" name="Rectangle 8">
            <a:extLst>
              <a:ext uri="{FF2B5EF4-FFF2-40B4-BE49-F238E27FC236}">
                <a16:creationId xmlns:a16="http://schemas.microsoft.com/office/drawing/2014/main" id="{4AC3DA74-5D73-8DFA-6DA7-2229754FDF89}"/>
              </a:ext>
            </a:extLst>
          </p:cNvPr>
          <p:cNvSpPr/>
          <p:nvPr/>
        </p:nvSpPr>
        <p:spPr>
          <a:xfrm>
            <a:off x="3872740" y="1644507"/>
            <a:ext cx="3760069" cy="58386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latin typeface="Bookman Old Style" panose="02050604050505020204" pitchFamily="18" charset="0"/>
            </a:endParaRPr>
          </a:p>
        </p:txBody>
      </p:sp>
      <p:sp>
        <p:nvSpPr>
          <p:cNvPr id="11" name="TextBox 10">
            <a:extLst>
              <a:ext uri="{FF2B5EF4-FFF2-40B4-BE49-F238E27FC236}">
                <a16:creationId xmlns:a16="http://schemas.microsoft.com/office/drawing/2014/main" id="{99BCA4CD-A335-D067-440F-918490446FDF}"/>
              </a:ext>
            </a:extLst>
          </p:cNvPr>
          <p:cNvSpPr txBox="1"/>
          <p:nvPr/>
        </p:nvSpPr>
        <p:spPr>
          <a:xfrm>
            <a:off x="8265826" y="2941476"/>
            <a:ext cx="3240000" cy="1440000"/>
          </a:xfrm>
          <a:prstGeom prst="rect">
            <a:avLst/>
          </a:prstGeom>
          <a:solidFill>
            <a:schemeClr val="accent2">
              <a:lumMod val="20000"/>
              <a:lumOff val="80000"/>
            </a:schemeClr>
          </a:solidFill>
        </p:spPr>
        <p:txBody>
          <a:bodyPr wrap="square" anchor="ctr">
            <a:spAutoFit/>
          </a:bodyPr>
          <a:lstStyle/>
          <a:p>
            <a:pPr algn="ctr"/>
            <a:r>
              <a:rPr lang="en-GB" sz="2400" b="1" dirty="0">
                <a:latin typeface="Bookman Old Style" panose="02050604050505020204" pitchFamily="18" charset="0"/>
              </a:rPr>
              <a:t>58%</a:t>
            </a:r>
          </a:p>
          <a:p>
            <a:pPr algn="ctr"/>
            <a:r>
              <a:rPr lang="en-GB" sz="2400" dirty="0">
                <a:latin typeface="Bookman Old Style" panose="02050604050505020204" pitchFamily="18" charset="0"/>
              </a:rPr>
              <a:t>95% </a:t>
            </a:r>
            <a:r>
              <a:rPr lang="en-GB" sz="2400" i="1" dirty="0">
                <a:latin typeface="Bookman Old Style" panose="02050604050505020204" pitchFamily="18" charset="0"/>
              </a:rPr>
              <a:t>CI </a:t>
            </a:r>
            <a:r>
              <a:rPr lang="en-GB" sz="2400" dirty="0">
                <a:latin typeface="Bookman Old Style" panose="02050604050505020204" pitchFamily="18" charset="0"/>
              </a:rPr>
              <a:t>[54%, 63%]</a:t>
            </a:r>
            <a:endParaRPr lang="en-ES" sz="2400" dirty="0">
              <a:latin typeface="Bookman Old Style" panose="02050604050505020204" pitchFamily="18" charset="0"/>
            </a:endParaRPr>
          </a:p>
        </p:txBody>
      </p:sp>
      <p:sp>
        <p:nvSpPr>
          <p:cNvPr id="10" name="Title 1">
            <a:extLst>
              <a:ext uri="{FF2B5EF4-FFF2-40B4-BE49-F238E27FC236}">
                <a16:creationId xmlns:a16="http://schemas.microsoft.com/office/drawing/2014/main" id="{B4BC1246-E6A9-037E-99ED-04D7881341EE}"/>
              </a:ext>
            </a:extLst>
          </p:cNvPr>
          <p:cNvSpPr txBox="1">
            <a:spLocks/>
          </p:cNvSpPr>
          <p:nvPr/>
        </p:nvSpPr>
        <p:spPr>
          <a:xfrm>
            <a:off x="755374" y="569237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ES" sz="3800" dirty="0">
              <a:latin typeface="Bookman Old Style" panose="02050604050505020204" pitchFamily="18" charset="0"/>
            </a:endParaRPr>
          </a:p>
        </p:txBody>
      </p:sp>
      <p:pic>
        <p:nvPicPr>
          <p:cNvPr id="3" name="Picture 2">
            <a:extLst>
              <a:ext uri="{FF2B5EF4-FFF2-40B4-BE49-F238E27FC236}">
                <a16:creationId xmlns:a16="http://schemas.microsoft.com/office/drawing/2014/main" id="{C11769F1-53FF-764C-8076-E4CFBE030CBD}"/>
              </a:ext>
            </a:extLst>
          </p:cNvPr>
          <p:cNvPicPr>
            <a:picLocks noChangeAspect="1"/>
          </p:cNvPicPr>
          <p:nvPr/>
        </p:nvPicPr>
        <p:blipFill>
          <a:blip r:embed="rId3"/>
          <a:stretch>
            <a:fillRect/>
          </a:stretch>
        </p:blipFill>
        <p:spPr>
          <a:xfrm>
            <a:off x="341293" y="1003219"/>
            <a:ext cx="7772400" cy="5824364"/>
          </a:xfrm>
          <a:prstGeom prst="rect">
            <a:avLst/>
          </a:prstGeom>
        </p:spPr>
      </p:pic>
      <p:sp>
        <p:nvSpPr>
          <p:cNvPr id="8" name="Title 1">
            <a:extLst>
              <a:ext uri="{FF2B5EF4-FFF2-40B4-BE49-F238E27FC236}">
                <a16:creationId xmlns:a16="http://schemas.microsoft.com/office/drawing/2014/main" id="{D4EA7A96-9931-C892-2FAF-1487B0FCDFF7}"/>
              </a:ext>
            </a:extLst>
          </p:cNvPr>
          <p:cNvSpPr txBox="1">
            <a:spLocks/>
          </p:cNvSpPr>
          <p:nvPr/>
        </p:nvSpPr>
        <p:spPr>
          <a:xfrm>
            <a:off x="0" y="0"/>
            <a:ext cx="12192000" cy="6858000"/>
          </a:xfrm>
          <a:prstGeom prst="rect">
            <a:avLst/>
          </a:prstGeom>
          <a:solidFill>
            <a:schemeClr val="bg1">
              <a:alpha val="85000"/>
            </a:schemeClr>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ES" sz="3800" dirty="0" err="1">
                <a:latin typeface="Bookman Old Style" panose="02050604050505020204" pitchFamily="18" charset="0"/>
              </a:rPr>
              <a:t>When</a:t>
            </a:r>
            <a:r>
              <a:rPr lang="es-ES" sz="3800" dirty="0">
                <a:latin typeface="Bookman Old Style" panose="02050604050505020204" pitchFamily="18" charset="0"/>
              </a:rPr>
              <a:t> do </a:t>
            </a:r>
            <a:r>
              <a:rPr lang="es-ES" sz="3800" dirty="0" err="1">
                <a:latin typeface="Bookman Old Style" panose="02050604050505020204" pitchFamily="18" charset="0"/>
              </a:rPr>
              <a:t>people</a:t>
            </a:r>
            <a:r>
              <a:rPr lang="es-ES" sz="3800" dirty="0">
                <a:latin typeface="Bookman Old Style" panose="02050604050505020204" pitchFamily="18" charset="0"/>
              </a:rPr>
              <a:t> </a:t>
            </a:r>
            <a:r>
              <a:rPr lang="es-ES" sz="3800" dirty="0" err="1">
                <a:latin typeface="Bookman Old Style" panose="02050604050505020204" pitchFamily="18" charset="0"/>
              </a:rPr>
              <a:t>have</a:t>
            </a:r>
            <a:r>
              <a:rPr lang="en-ES" sz="3800" dirty="0">
                <a:latin typeface="Bookman Old Style" panose="02050604050505020204" pitchFamily="18" charset="0"/>
              </a:rPr>
              <a:t> conflicting intuitions?</a:t>
            </a:r>
          </a:p>
        </p:txBody>
      </p:sp>
    </p:spTree>
    <p:extLst>
      <p:ext uri="{BB962C8B-B14F-4D97-AF65-F5344CB8AC3E}">
        <p14:creationId xmlns:p14="http://schemas.microsoft.com/office/powerpoint/2010/main" val="16050554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D5E52-D0FC-E4B5-5526-D383251AA727}"/>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B5C386C-1E5B-E8EE-D2CA-3F18E26FA3FC}"/>
              </a:ext>
            </a:extLst>
          </p:cNvPr>
          <p:cNvSpPr/>
          <p:nvPr/>
        </p:nvSpPr>
        <p:spPr>
          <a:xfrm>
            <a:off x="7281862" y="1642826"/>
            <a:ext cx="3328987" cy="113768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latin typeface="Bookman Old Style" panose="02050604050505020204" pitchFamily="18" charset="0"/>
            </a:endParaRPr>
          </a:p>
        </p:txBody>
      </p:sp>
      <p:sp>
        <p:nvSpPr>
          <p:cNvPr id="9" name="Rectangle 8">
            <a:extLst>
              <a:ext uri="{FF2B5EF4-FFF2-40B4-BE49-F238E27FC236}">
                <a16:creationId xmlns:a16="http://schemas.microsoft.com/office/drawing/2014/main" id="{672BB69B-35FD-E814-7F59-EEFF256A64E6}"/>
              </a:ext>
            </a:extLst>
          </p:cNvPr>
          <p:cNvSpPr/>
          <p:nvPr/>
        </p:nvSpPr>
        <p:spPr>
          <a:xfrm>
            <a:off x="7281862" y="2994877"/>
            <a:ext cx="3328987" cy="194891"/>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latin typeface="Bookman Old Style" panose="02050604050505020204" pitchFamily="18" charset="0"/>
            </a:endParaRPr>
          </a:p>
        </p:txBody>
      </p:sp>
      <p:sp>
        <p:nvSpPr>
          <p:cNvPr id="10" name="Rectangle 9">
            <a:extLst>
              <a:ext uri="{FF2B5EF4-FFF2-40B4-BE49-F238E27FC236}">
                <a16:creationId xmlns:a16="http://schemas.microsoft.com/office/drawing/2014/main" id="{33F0EE71-3B0B-DD3D-E98B-E071CDD0BB5A}"/>
              </a:ext>
            </a:extLst>
          </p:cNvPr>
          <p:cNvSpPr/>
          <p:nvPr/>
        </p:nvSpPr>
        <p:spPr>
          <a:xfrm>
            <a:off x="7317748" y="3807106"/>
            <a:ext cx="3328987" cy="194891"/>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latin typeface="Bookman Old Style" panose="02050604050505020204" pitchFamily="18" charset="0"/>
            </a:endParaRPr>
          </a:p>
        </p:txBody>
      </p:sp>
      <p:sp>
        <p:nvSpPr>
          <p:cNvPr id="15" name="Title 1">
            <a:extLst>
              <a:ext uri="{FF2B5EF4-FFF2-40B4-BE49-F238E27FC236}">
                <a16:creationId xmlns:a16="http://schemas.microsoft.com/office/drawing/2014/main" id="{AD02AEC6-C1DD-4362-0388-309BFF031389}"/>
              </a:ext>
            </a:extLst>
          </p:cNvPr>
          <p:cNvSpPr>
            <a:spLocks noGrp="1"/>
          </p:cNvSpPr>
          <p:nvPr>
            <p:ph type="title"/>
          </p:nvPr>
        </p:nvSpPr>
        <p:spPr>
          <a:xfrm>
            <a:off x="1981200" y="91216"/>
            <a:ext cx="8229600" cy="1143000"/>
          </a:xfrm>
        </p:spPr>
        <p:txBody>
          <a:bodyPr/>
          <a:lstStyle/>
          <a:p>
            <a:pPr algn="ctr"/>
            <a:r>
              <a:rPr lang="en-ES" sz="4200" dirty="0">
                <a:latin typeface="Bookman Old Style" panose="02050604050505020204" pitchFamily="18" charset="0"/>
              </a:rPr>
              <a:t>Per-issue analyses</a:t>
            </a:r>
          </a:p>
        </p:txBody>
      </p:sp>
      <p:pic>
        <p:nvPicPr>
          <p:cNvPr id="2" name="Picture 2" descr="The Trolley Problem | U-M LSA U-M College of LSA">
            <a:extLst>
              <a:ext uri="{FF2B5EF4-FFF2-40B4-BE49-F238E27FC236}">
                <a16:creationId xmlns:a16="http://schemas.microsoft.com/office/drawing/2014/main" id="{26CA57CA-48E5-F508-F0D8-F8F3825D52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8326" r="1992" b="-1"/>
          <a:stretch/>
        </p:blipFill>
        <p:spPr bwMode="auto">
          <a:xfrm>
            <a:off x="198134" y="2050271"/>
            <a:ext cx="2832070" cy="2123664"/>
          </a:xfrm>
          <a:prstGeom prst="rect">
            <a:avLst/>
          </a:prstGeom>
          <a:noFill/>
          <a:extLst>
            <a:ext uri="{909E8E84-426E-40DD-AFC4-6F175D3DCCD1}">
              <a14:hiddenFill xmlns:a14="http://schemas.microsoft.com/office/drawing/2010/main">
                <a:solidFill>
                  <a:srgbClr val="FFFFFF"/>
                </a:solidFill>
              </a14:hiddenFill>
            </a:ext>
          </a:extLst>
        </p:spPr>
      </p:pic>
      <p:sp>
        <p:nvSpPr>
          <p:cNvPr id="12" name="Content Placeholder 11">
            <a:extLst>
              <a:ext uri="{FF2B5EF4-FFF2-40B4-BE49-F238E27FC236}">
                <a16:creationId xmlns:a16="http://schemas.microsoft.com/office/drawing/2014/main" id="{E4E9ABA0-E000-62B9-7723-A143CE91C8F2}"/>
              </a:ext>
            </a:extLst>
          </p:cNvPr>
          <p:cNvSpPr>
            <a:spLocks noGrp="1"/>
          </p:cNvSpPr>
          <p:nvPr>
            <p:ph idx="1"/>
          </p:nvPr>
        </p:nvSpPr>
        <p:spPr>
          <a:xfrm>
            <a:off x="198134" y="4425362"/>
            <a:ext cx="2832070" cy="1505392"/>
          </a:xfrm>
        </p:spPr>
        <p:txBody>
          <a:bodyPr/>
          <a:lstStyle/>
          <a:p>
            <a:pPr marL="0" indent="0">
              <a:buNone/>
            </a:pPr>
            <a:r>
              <a:rPr lang="en-ES" b="1" dirty="0">
                <a:solidFill>
                  <a:schemeClr val="accent1"/>
                </a:solidFill>
                <a:latin typeface="Bookman Old Style" panose="02050604050505020204" pitchFamily="18" charset="0"/>
              </a:rPr>
              <a:t>Don’t push.</a:t>
            </a:r>
          </a:p>
          <a:p>
            <a:pPr marL="0" indent="0">
              <a:buNone/>
            </a:pPr>
            <a:r>
              <a:rPr lang="en-ES" i="1" dirty="0">
                <a:solidFill>
                  <a:schemeClr val="accent2"/>
                </a:solidFill>
                <a:latin typeface="Bookman Old Style" panose="02050604050505020204" pitchFamily="18" charset="0"/>
              </a:rPr>
              <a:t>Push.</a:t>
            </a:r>
          </a:p>
        </p:txBody>
      </p:sp>
      <p:pic>
        <p:nvPicPr>
          <p:cNvPr id="7" name="Graphic 6" descr="Users with solid fill">
            <a:extLst>
              <a:ext uri="{FF2B5EF4-FFF2-40B4-BE49-F238E27FC236}">
                <a16:creationId xmlns:a16="http://schemas.microsoft.com/office/drawing/2014/main" id="{2C4FE4AF-067E-E040-E03F-8A38F9E7855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64321" y="4263382"/>
            <a:ext cx="684000" cy="684000"/>
          </a:xfrm>
          <a:prstGeom prst="rect">
            <a:avLst/>
          </a:prstGeom>
        </p:spPr>
      </p:pic>
      <p:pic>
        <p:nvPicPr>
          <p:cNvPr id="18" name="Graphic 17" descr="Fork In Road with solid fill">
            <a:extLst>
              <a:ext uri="{FF2B5EF4-FFF2-40B4-BE49-F238E27FC236}">
                <a16:creationId xmlns:a16="http://schemas.microsoft.com/office/drawing/2014/main" id="{8F833E49-DD07-786C-D44D-489C553C18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06539" y="4833072"/>
            <a:ext cx="612000" cy="612000"/>
          </a:xfrm>
          <a:prstGeom prst="rect">
            <a:avLst/>
          </a:prstGeom>
        </p:spPr>
      </p:pic>
    </p:spTree>
    <p:extLst>
      <p:ext uri="{BB962C8B-B14F-4D97-AF65-F5344CB8AC3E}">
        <p14:creationId xmlns:p14="http://schemas.microsoft.com/office/powerpoint/2010/main" val="37868572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9BC1F-F8E2-EC0F-7859-63F67D4692B8}"/>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C2A03B1-03A3-1E34-F11A-5F4B5E40F3C4}"/>
              </a:ext>
            </a:extLst>
          </p:cNvPr>
          <p:cNvSpPr/>
          <p:nvPr/>
        </p:nvSpPr>
        <p:spPr>
          <a:xfrm>
            <a:off x="7281862" y="1642826"/>
            <a:ext cx="3328987" cy="113768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latin typeface="Bookman Old Style" panose="02050604050505020204" pitchFamily="18" charset="0"/>
            </a:endParaRPr>
          </a:p>
        </p:txBody>
      </p:sp>
      <p:sp>
        <p:nvSpPr>
          <p:cNvPr id="9" name="Rectangle 8">
            <a:extLst>
              <a:ext uri="{FF2B5EF4-FFF2-40B4-BE49-F238E27FC236}">
                <a16:creationId xmlns:a16="http://schemas.microsoft.com/office/drawing/2014/main" id="{A6AC923A-F94A-51F2-87E3-789508B1FA16}"/>
              </a:ext>
            </a:extLst>
          </p:cNvPr>
          <p:cNvSpPr/>
          <p:nvPr/>
        </p:nvSpPr>
        <p:spPr>
          <a:xfrm>
            <a:off x="7281862" y="2994877"/>
            <a:ext cx="3328987" cy="194891"/>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latin typeface="Bookman Old Style" panose="02050604050505020204" pitchFamily="18" charset="0"/>
            </a:endParaRPr>
          </a:p>
        </p:txBody>
      </p:sp>
      <p:sp>
        <p:nvSpPr>
          <p:cNvPr id="10" name="Rectangle 9">
            <a:extLst>
              <a:ext uri="{FF2B5EF4-FFF2-40B4-BE49-F238E27FC236}">
                <a16:creationId xmlns:a16="http://schemas.microsoft.com/office/drawing/2014/main" id="{77948FE6-8C2A-69B5-7486-EF54DA7C83FD}"/>
              </a:ext>
            </a:extLst>
          </p:cNvPr>
          <p:cNvSpPr/>
          <p:nvPr/>
        </p:nvSpPr>
        <p:spPr>
          <a:xfrm>
            <a:off x="7317748" y="3807106"/>
            <a:ext cx="3328987" cy="194891"/>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latin typeface="Bookman Old Style" panose="02050604050505020204" pitchFamily="18" charset="0"/>
            </a:endParaRPr>
          </a:p>
        </p:txBody>
      </p:sp>
      <p:sp>
        <p:nvSpPr>
          <p:cNvPr id="11" name="Rectangle 10">
            <a:extLst>
              <a:ext uri="{FF2B5EF4-FFF2-40B4-BE49-F238E27FC236}">
                <a16:creationId xmlns:a16="http://schemas.microsoft.com/office/drawing/2014/main" id="{A561125A-7B7C-25E9-1556-1A8CC28B8B9E}"/>
              </a:ext>
            </a:extLst>
          </p:cNvPr>
          <p:cNvSpPr/>
          <p:nvPr/>
        </p:nvSpPr>
        <p:spPr>
          <a:xfrm>
            <a:off x="7308122" y="4220576"/>
            <a:ext cx="3328987" cy="60031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latin typeface="Bookman Old Style" panose="02050604050505020204" pitchFamily="18" charset="0"/>
            </a:endParaRPr>
          </a:p>
        </p:txBody>
      </p:sp>
      <p:sp>
        <p:nvSpPr>
          <p:cNvPr id="14" name="TextBox 13">
            <a:extLst>
              <a:ext uri="{FF2B5EF4-FFF2-40B4-BE49-F238E27FC236}">
                <a16:creationId xmlns:a16="http://schemas.microsoft.com/office/drawing/2014/main" id="{5AD0B8C6-3703-E1F5-4352-9DDFC0050813}"/>
              </a:ext>
            </a:extLst>
          </p:cNvPr>
          <p:cNvSpPr txBox="1"/>
          <p:nvPr/>
        </p:nvSpPr>
        <p:spPr>
          <a:xfrm>
            <a:off x="198134" y="5960360"/>
            <a:ext cx="11795732" cy="369332"/>
          </a:xfrm>
          <a:prstGeom prst="rect">
            <a:avLst/>
          </a:prstGeom>
          <a:noFill/>
        </p:spPr>
        <p:txBody>
          <a:bodyPr wrap="square">
            <a:spAutoFit/>
          </a:bodyPr>
          <a:lstStyle/>
          <a:p>
            <a:pPr algn="ctr"/>
            <a:r>
              <a:rPr lang="es-ES" dirty="0">
                <a:latin typeface="Bookman Old Style" panose="02050604050505020204" pitchFamily="18" charset="0"/>
              </a:rPr>
              <a:t>For 6 </a:t>
            </a:r>
            <a:r>
              <a:rPr lang="es-ES" dirty="0" err="1">
                <a:latin typeface="Bookman Old Style" panose="02050604050505020204" pitchFamily="18" charset="0"/>
              </a:rPr>
              <a:t>out</a:t>
            </a:r>
            <a:r>
              <a:rPr lang="es-ES" dirty="0">
                <a:latin typeface="Bookman Old Style" panose="02050604050505020204" pitchFamily="18" charset="0"/>
              </a:rPr>
              <a:t> </a:t>
            </a:r>
            <a:r>
              <a:rPr lang="es-ES" dirty="0" err="1">
                <a:latin typeface="Bookman Old Style" panose="02050604050505020204" pitchFamily="18" charset="0"/>
              </a:rPr>
              <a:t>of</a:t>
            </a:r>
            <a:r>
              <a:rPr lang="es-ES" dirty="0">
                <a:latin typeface="Bookman Old Style" panose="02050604050505020204" pitchFamily="18" charset="0"/>
              </a:rPr>
              <a:t> 7 </a:t>
            </a:r>
            <a:r>
              <a:rPr lang="es-ES" dirty="0" err="1">
                <a:latin typeface="Bookman Old Style" panose="02050604050505020204" pitchFamily="18" charset="0"/>
              </a:rPr>
              <a:t>issues</a:t>
            </a:r>
            <a:r>
              <a:rPr lang="es-ES" dirty="0">
                <a:latin typeface="Bookman Old Style" panose="02050604050505020204" pitchFamily="18" charset="0"/>
              </a:rPr>
              <a:t> in </a:t>
            </a:r>
            <a:r>
              <a:rPr lang="es-ES" dirty="0" err="1">
                <a:latin typeface="Bookman Old Style" panose="02050604050505020204" pitchFamily="18" charset="0"/>
              </a:rPr>
              <a:t>which</a:t>
            </a:r>
            <a:r>
              <a:rPr lang="es-ES" dirty="0">
                <a:latin typeface="Bookman Old Style" panose="02050604050505020204" pitchFamily="18" charset="0"/>
              </a:rPr>
              <a:t> </a:t>
            </a:r>
            <a:r>
              <a:rPr lang="es-ES" i="1" dirty="0">
                <a:latin typeface="Bookman Old Style" panose="02050604050505020204" pitchFamily="18" charset="0"/>
              </a:rPr>
              <a:t>p</a:t>
            </a:r>
            <a:r>
              <a:rPr lang="es-ES" dirty="0">
                <a:latin typeface="Bookman Old Style" panose="02050604050505020204" pitchFamily="18" charset="0"/>
              </a:rPr>
              <a:t> &lt; .05,   </a:t>
            </a:r>
            <a:r>
              <a:rPr lang="es-ES" dirty="0">
                <a:solidFill>
                  <a:srgbClr val="EFBCAF"/>
                </a:solidFill>
                <a:latin typeface="Bookman Old Style" panose="02050604050505020204" pitchFamily="18" charset="0"/>
              </a:rPr>
              <a:t>p(Both | </a:t>
            </a:r>
            <a:r>
              <a:rPr lang="es-ES" dirty="0" err="1">
                <a:solidFill>
                  <a:srgbClr val="EFBCAF"/>
                </a:solidFill>
                <a:latin typeface="Bookman Old Style" panose="02050604050505020204" pitchFamily="18" charset="0"/>
              </a:rPr>
              <a:t>Minority</a:t>
            </a:r>
            <a:r>
              <a:rPr lang="es-ES" dirty="0">
                <a:solidFill>
                  <a:srgbClr val="EFBCAF"/>
                </a:solidFill>
                <a:latin typeface="Bookman Old Style" panose="02050604050505020204" pitchFamily="18" charset="0"/>
              </a:rPr>
              <a:t>)</a:t>
            </a:r>
            <a:r>
              <a:rPr lang="es-ES" dirty="0">
                <a:latin typeface="Bookman Old Style" panose="02050604050505020204" pitchFamily="18" charset="0"/>
              </a:rPr>
              <a:t> &gt; </a:t>
            </a:r>
            <a:r>
              <a:rPr lang="es-ES" dirty="0">
                <a:solidFill>
                  <a:srgbClr val="9DB7DB"/>
                </a:solidFill>
                <a:latin typeface="Bookman Old Style" panose="02050604050505020204" pitchFamily="18" charset="0"/>
              </a:rPr>
              <a:t>p(Both | </a:t>
            </a:r>
            <a:r>
              <a:rPr lang="es-ES" dirty="0" err="1">
                <a:solidFill>
                  <a:srgbClr val="9DB7DB"/>
                </a:solidFill>
                <a:latin typeface="Bookman Old Style" panose="02050604050505020204" pitchFamily="18" charset="0"/>
              </a:rPr>
              <a:t>Majority</a:t>
            </a:r>
            <a:r>
              <a:rPr lang="es-ES" dirty="0">
                <a:solidFill>
                  <a:srgbClr val="9DB7DB"/>
                </a:solidFill>
                <a:latin typeface="Bookman Old Style" panose="02050604050505020204" pitchFamily="18" charset="0"/>
              </a:rPr>
              <a:t>).</a:t>
            </a:r>
            <a:endParaRPr lang="en-ES" dirty="0">
              <a:solidFill>
                <a:srgbClr val="9DB7DB"/>
              </a:solidFill>
              <a:latin typeface="Bookman Old Style" panose="02050604050505020204" pitchFamily="18" charset="0"/>
            </a:endParaRPr>
          </a:p>
        </p:txBody>
      </p:sp>
      <p:sp>
        <p:nvSpPr>
          <p:cNvPr id="15" name="Title 1">
            <a:extLst>
              <a:ext uri="{FF2B5EF4-FFF2-40B4-BE49-F238E27FC236}">
                <a16:creationId xmlns:a16="http://schemas.microsoft.com/office/drawing/2014/main" id="{472C1CC6-48DC-3C15-ADCC-304D0B9F69A3}"/>
              </a:ext>
            </a:extLst>
          </p:cNvPr>
          <p:cNvSpPr>
            <a:spLocks noGrp="1"/>
          </p:cNvSpPr>
          <p:nvPr>
            <p:ph type="title"/>
          </p:nvPr>
        </p:nvSpPr>
        <p:spPr>
          <a:xfrm>
            <a:off x="1981200" y="91216"/>
            <a:ext cx="8229600" cy="1143000"/>
          </a:xfrm>
        </p:spPr>
        <p:txBody>
          <a:bodyPr/>
          <a:lstStyle/>
          <a:p>
            <a:pPr algn="ctr"/>
            <a:r>
              <a:rPr lang="en-ES" sz="4200" dirty="0">
                <a:latin typeface="Bookman Old Style" panose="02050604050505020204" pitchFamily="18" charset="0"/>
              </a:rPr>
              <a:t>Per-issue analyses</a:t>
            </a:r>
          </a:p>
        </p:txBody>
      </p:sp>
      <p:pic>
        <p:nvPicPr>
          <p:cNvPr id="2" name="Picture 2" descr="The Trolley Problem | U-M LSA U-M College of LSA">
            <a:extLst>
              <a:ext uri="{FF2B5EF4-FFF2-40B4-BE49-F238E27FC236}">
                <a16:creationId xmlns:a16="http://schemas.microsoft.com/office/drawing/2014/main" id="{06C204ED-951A-206E-447B-14A49C4F02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8326" r="1992" b="-1"/>
          <a:stretch/>
        </p:blipFill>
        <p:spPr bwMode="auto">
          <a:xfrm>
            <a:off x="198134" y="2050271"/>
            <a:ext cx="2832070" cy="212366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What is Free Will? – The Art of Storytelling">
            <a:extLst>
              <a:ext uri="{FF2B5EF4-FFF2-40B4-BE49-F238E27FC236}">
                <a16:creationId xmlns:a16="http://schemas.microsoft.com/office/drawing/2014/main" id="{784F2B99-23F5-507F-1C53-8F5C046568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8"/>
          <a:stretch/>
        </p:blipFill>
        <p:spPr bwMode="auto">
          <a:xfrm>
            <a:off x="3178939" y="2050268"/>
            <a:ext cx="2832069" cy="21236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I Was a Brain in a Vat | Think | Cambridge Core">
            <a:extLst>
              <a:ext uri="{FF2B5EF4-FFF2-40B4-BE49-F238E27FC236}">
                <a16:creationId xmlns:a16="http://schemas.microsoft.com/office/drawing/2014/main" id="{03E53A94-5327-E6A0-9BCD-8B2283CCE44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2982" r="2" b="2"/>
          <a:stretch>
            <a:fillRect/>
          </a:stretch>
        </p:blipFill>
        <p:spPr bwMode="auto">
          <a:xfrm>
            <a:off x="6180993" y="2050274"/>
            <a:ext cx="2832069" cy="2123658"/>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The Ethical Spectrum: Consequences of Moral Absolutism and Relativism for  Global Society">
            <a:extLst>
              <a:ext uri="{FF2B5EF4-FFF2-40B4-BE49-F238E27FC236}">
                <a16:creationId xmlns:a16="http://schemas.microsoft.com/office/drawing/2014/main" id="{8C58B0DD-069F-3F00-AF2F-3210D63EBA04}"/>
              </a:ext>
            </a:extLst>
          </p:cNvPr>
          <p:cNvPicPr>
            <a:picLocks noChangeAspect="1" noChangeArrowheads="1"/>
          </p:cNvPicPr>
          <p:nvPr/>
        </p:nvPicPr>
        <p:blipFill>
          <a:blip r:embed="rId5">
            <a:alphaModFix amt="75000"/>
            <a:extLst>
              <a:ext uri="{BEBA8EAE-BF5A-486C-A8C5-ECC9F3942E4B}">
                <a14:imgProps xmlns:a14="http://schemas.microsoft.com/office/drawing/2010/main">
                  <a14:imgLayer r:embed="rId6">
                    <a14:imgEffect>
                      <a14:artisticBlur/>
                    </a14:imgEffect>
                    <a14:imgEffect>
                      <a14:saturation sat="49000"/>
                    </a14:imgEffect>
                    <a14:imgEffect>
                      <a14:brightnessContrast bright="-19000" contrast="-26000"/>
                    </a14:imgEffect>
                  </a14:imgLayer>
                </a14:imgProps>
              </a:ext>
              <a:ext uri="{28A0092B-C50C-407E-A947-70E740481C1C}">
                <a14:useLocalDpi xmlns:a14="http://schemas.microsoft.com/office/drawing/2010/main" val="0"/>
              </a:ext>
            </a:extLst>
          </a:blip>
          <a:srcRect b="19"/>
          <a:stretch/>
        </p:blipFill>
        <p:spPr bwMode="auto">
          <a:xfrm>
            <a:off x="9161797" y="2050278"/>
            <a:ext cx="2832069" cy="2123648"/>
          </a:xfrm>
          <a:prstGeom prst="rect">
            <a:avLst/>
          </a:prstGeom>
          <a:solidFill>
            <a:schemeClr val="bg1">
              <a:lumMod val="85000"/>
            </a:schemeClr>
          </a:solidFill>
        </p:spPr>
      </p:pic>
      <p:sp>
        <p:nvSpPr>
          <p:cNvPr id="12" name="Content Placeholder 11">
            <a:extLst>
              <a:ext uri="{FF2B5EF4-FFF2-40B4-BE49-F238E27FC236}">
                <a16:creationId xmlns:a16="http://schemas.microsoft.com/office/drawing/2014/main" id="{5FADEE12-C88A-98A6-5403-619C4E2B8271}"/>
              </a:ext>
            </a:extLst>
          </p:cNvPr>
          <p:cNvSpPr>
            <a:spLocks noGrp="1"/>
          </p:cNvSpPr>
          <p:nvPr>
            <p:ph idx="1"/>
          </p:nvPr>
        </p:nvSpPr>
        <p:spPr>
          <a:xfrm>
            <a:off x="198134" y="4425362"/>
            <a:ext cx="2832070" cy="1505392"/>
          </a:xfrm>
        </p:spPr>
        <p:txBody>
          <a:bodyPr/>
          <a:lstStyle/>
          <a:p>
            <a:pPr marL="0" indent="0">
              <a:buNone/>
            </a:pPr>
            <a:r>
              <a:rPr lang="en-ES" b="1" dirty="0">
                <a:solidFill>
                  <a:schemeClr val="accent1"/>
                </a:solidFill>
                <a:latin typeface="Bookman Old Style" panose="02050604050505020204" pitchFamily="18" charset="0"/>
              </a:rPr>
              <a:t>Don’t push.</a:t>
            </a:r>
          </a:p>
          <a:p>
            <a:pPr marL="0" indent="0">
              <a:buNone/>
            </a:pPr>
            <a:r>
              <a:rPr lang="en-ES" i="1" dirty="0">
                <a:solidFill>
                  <a:schemeClr val="accent2"/>
                </a:solidFill>
                <a:latin typeface="Bookman Old Style" panose="02050604050505020204" pitchFamily="18" charset="0"/>
              </a:rPr>
              <a:t>Push.</a:t>
            </a:r>
          </a:p>
        </p:txBody>
      </p:sp>
      <p:sp>
        <p:nvSpPr>
          <p:cNvPr id="13" name="Content Placeholder 11">
            <a:extLst>
              <a:ext uri="{FF2B5EF4-FFF2-40B4-BE49-F238E27FC236}">
                <a16:creationId xmlns:a16="http://schemas.microsoft.com/office/drawing/2014/main" id="{78E8D322-C107-7FC3-CC21-236703547D14}"/>
              </a:ext>
            </a:extLst>
          </p:cNvPr>
          <p:cNvSpPr txBox="1">
            <a:spLocks/>
          </p:cNvSpPr>
          <p:nvPr/>
        </p:nvSpPr>
        <p:spPr>
          <a:xfrm>
            <a:off x="3178939" y="4407366"/>
            <a:ext cx="2832070" cy="150539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ES" b="1" dirty="0">
                <a:solidFill>
                  <a:schemeClr val="accent1"/>
                </a:solidFill>
                <a:latin typeface="Bookman Old Style" panose="02050604050505020204" pitchFamily="18" charset="0"/>
              </a:rPr>
              <a:t>He’s free.</a:t>
            </a:r>
          </a:p>
          <a:p>
            <a:pPr marL="0" indent="0">
              <a:buFont typeface="Arial" panose="020B0604020202020204" pitchFamily="34" charset="0"/>
              <a:buNone/>
            </a:pPr>
            <a:r>
              <a:rPr lang="en-ES" i="1" dirty="0">
                <a:solidFill>
                  <a:schemeClr val="accent2"/>
                </a:solidFill>
                <a:latin typeface="Bookman Old Style" panose="02050604050505020204" pitchFamily="18" charset="0"/>
              </a:rPr>
              <a:t>He’s not free.</a:t>
            </a:r>
          </a:p>
        </p:txBody>
      </p:sp>
      <p:sp>
        <p:nvSpPr>
          <p:cNvPr id="16" name="Content Placeholder 11">
            <a:extLst>
              <a:ext uri="{FF2B5EF4-FFF2-40B4-BE49-F238E27FC236}">
                <a16:creationId xmlns:a16="http://schemas.microsoft.com/office/drawing/2014/main" id="{260C55ED-3501-EAFE-3FF2-86FFDD44D081}"/>
              </a:ext>
            </a:extLst>
          </p:cNvPr>
          <p:cNvSpPr txBox="1">
            <a:spLocks/>
          </p:cNvSpPr>
          <p:nvPr/>
        </p:nvSpPr>
        <p:spPr>
          <a:xfrm>
            <a:off x="6261877" y="4412187"/>
            <a:ext cx="3510083" cy="150539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ES" b="1" dirty="0">
                <a:solidFill>
                  <a:schemeClr val="accent1"/>
                </a:solidFill>
                <a:latin typeface="Bookman Old Style" panose="02050604050505020204" pitchFamily="18" charset="0"/>
              </a:rPr>
              <a:t>You know.</a:t>
            </a:r>
          </a:p>
          <a:p>
            <a:pPr marL="0" indent="0">
              <a:buFont typeface="Arial" panose="020B0604020202020204" pitchFamily="34" charset="0"/>
              <a:buNone/>
            </a:pPr>
            <a:r>
              <a:rPr lang="en-ES" i="1" dirty="0">
                <a:solidFill>
                  <a:schemeClr val="accent2"/>
                </a:solidFill>
                <a:latin typeface="Bookman Old Style" panose="02050604050505020204" pitchFamily="18" charset="0"/>
              </a:rPr>
              <a:t>You don’t know.</a:t>
            </a:r>
          </a:p>
        </p:txBody>
      </p:sp>
      <p:pic>
        <p:nvPicPr>
          <p:cNvPr id="5" name="Graphic 4" descr="Users with solid fill">
            <a:extLst>
              <a:ext uri="{FF2B5EF4-FFF2-40B4-BE49-F238E27FC236}">
                <a16:creationId xmlns:a16="http://schemas.microsoft.com/office/drawing/2014/main" id="{2D4AAFAB-485E-3DEC-1B2E-27300C0A770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264321" y="4263382"/>
            <a:ext cx="684000" cy="684000"/>
          </a:xfrm>
          <a:prstGeom prst="rect">
            <a:avLst/>
          </a:prstGeom>
        </p:spPr>
      </p:pic>
      <p:pic>
        <p:nvPicPr>
          <p:cNvPr id="17" name="Graphic 16" descr="Fork In Road with solid fill">
            <a:extLst>
              <a:ext uri="{FF2B5EF4-FFF2-40B4-BE49-F238E27FC236}">
                <a16:creationId xmlns:a16="http://schemas.microsoft.com/office/drawing/2014/main" id="{323CC8CE-A0E3-E66A-6371-0093CF0508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306539" y="4833072"/>
            <a:ext cx="612000" cy="612000"/>
          </a:xfrm>
          <a:prstGeom prst="rect">
            <a:avLst/>
          </a:prstGeom>
        </p:spPr>
      </p:pic>
    </p:spTree>
    <p:extLst>
      <p:ext uri="{BB962C8B-B14F-4D97-AF65-F5344CB8AC3E}">
        <p14:creationId xmlns:p14="http://schemas.microsoft.com/office/powerpoint/2010/main" val="27575507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82EAEC-A459-7A23-C647-9709E7BB284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4C70E5A-411A-47EE-BB87-F4A2578555CE}"/>
              </a:ext>
            </a:extLst>
          </p:cNvPr>
          <p:cNvSpPr txBox="1">
            <a:spLocks/>
          </p:cNvSpPr>
          <p:nvPr/>
        </p:nvSpPr>
        <p:spPr>
          <a:xfrm>
            <a:off x="0" y="-69081"/>
            <a:ext cx="12192000" cy="1325563"/>
          </a:xfrm>
          <a:prstGeom prst="rect">
            <a:avLst/>
          </a:prstGeom>
          <a:solidFill>
            <a:schemeClr val="bg1">
              <a:alpha val="90000"/>
            </a:schemeClr>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ES" sz="3800" dirty="0" err="1">
                <a:latin typeface="Bookman Old Style" panose="02050604050505020204" pitchFamily="18" charset="0"/>
              </a:rPr>
              <a:t>When</a:t>
            </a:r>
            <a:r>
              <a:rPr lang="es-ES" sz="3800" dirty="0">
                <a:latin typeface="Bookman Old Style" panose="02050604050505020204" pitchFamily="18" charset="0"/>
              </a:rPr>
              <a:t> do </a:t>
            </a:r>
            <a:r>
              <a:rPr lang="es-ES" sz="3800" dirty="0" err="1">
                <a:latin typeface="Bookman Old Style" panose="02050604050505020204" pitchFamily="18" charset="0"/>
              </a:rPr>
              <a:t>people</a:t>
            </a:r>
            <a:r>
              <a:rPr lang="es-ES" sz="3800" dirty="0">
                <a:latin typeface="Bookman Old Style" panose="02050604050505020204" pitchFamily="18" charset="0"/>
              </a:rPr>
              <a:t> </a:t>
            </a:r>
            <a:r>
              <a:rPr lang="es-ES" sz="3800" dirty="0" err="1">
                <a:latin typeface="Bookman Old Style" panose="02050604050505020204" pitchFamily="18" charset="0"/>
              </a:rPr>
              <a:t>have</a:t>
            </a:r>
            <a:r>
              <a:rPr lang="en-ES" sz="3800" dirty="0">
                <a:latin typeface="Bookman Old Style" panose="02050604050505020204" pitchFamily="18" charset="0"/>
              </a:rPr>
              <a:t> conflicting intuitions?</a:t>
            </a:r>
          </a:p>
        </p:txBody>
      </p:sp>
      <p:pic>
        <p:nvPicPr>
          <p:cNvPr id="2" name="Picture 1">
            <a:extLst>
              <a:ext uri="{FF2B5EF4-FFF2-40B4-BE49-F238E27FC236}">
                <a16:creationId xmlns:a16="http://schemas.microsoft.com/office/drawing/2014/main" id="{B08A2174-5FE6-657A-6405-C1A4920EBC57}"/>
              </a:ext>
            </a:extLst>
          </p:cNvPr>
          <p:cNvPicPr>
            <a:picLocks noChangeAspect="1"/>
          </p:cNvPicPr>
          <p:nvPr/>
        </p:nvPicPr>
        <p:blipFill>
          <a:blip r:embed="rId2"/>
          <a:stretch>
            <a:fillRect/>
          </a:stretch>
        </p:blipFill>
        <p:spPr>
          <a:xfrm>
            <a:off x="1377221" y="1083869"/>
            <a:ext cx="9437557" cy="5658697"/>
          </a:xfrm>
          <a:prstGeom prst="rect">
            <a:avLst/>
          </a:prstGeom>
        </p:spPr>
      </p:pic>
    </p:spTree>
    <p:extLst>
      <p:ext uri="{BB962C8B-B14F-4D97-AF65-F5344CB8AC3E}">
        <p14:creationId xmlns:p14="http://schemas.microsoft.com/office/powerpoint/2010/main" val="38100195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E6D2"/>
        </a:solidFill>
        <a:effectLst/>
      </p:bgPr>
    </p:bg>
    <p:spTree>
      <p:nvGrpSpPr>
        <p:cNvPr id="1" name="">
          <a:extLst>
            <a:ext uri="{FF2B5EF4-FFF2-40B4-BE49-F238E27FC236}">
              <a16:creationId xmlns:a16="http://schemas.microsoft.com/office/drawing/2014/main" id="{AFC0B503-5914-13CC-8C1B-E879AABC514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0160A9F-66E8-1CA2-076E-911522C7E9BD}"/>
              </a:ext>
            </a:extLst>
          </p:cNvPr>
          <p:cNvSpPr txBox="1">
            <a:spLocks/>
          </p:cNvSpPr>
          <p:nvPr/>
        </p:nvSpPr>
        <p:spPr>
          <a:xfrm>
            <a:off x="0" y="-69081"/>
            <a:ext cx="12192000" cy="1325563"/>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ES" sz="3800" dirty="0">
                <a:latin typeface="Bookman Old Style" panose="02050604050505020204" pitchFamily="18" charset="0"/>
              </a:rPr>
              <a:t>The </a:t>
            </a:r>
            <a:r>
              <a:rPr lang="es-ES" sz="3800" dirty="0" err="1">
                <a:latin typeface="Bookman Old Style" panose="02050604050505020204" pitchFamily="18" charset="0"/>
              </a:rPr>
              <a:t>popularity</a:t>
            </a:r>
            <a:r>
              <a:rPr lang="es-ES" sz="3800" dirty="0">
                <a:latin typeface="Bookman Old Style" panose="02050604050505020204" pitchFamily="18" charset="0"/>
              </a:rPr>
              <a:t> </a:t>
            </a:r>
            <a:r>
              <a:rPr lang="es-ES" sz="3800" dirty="0" err="1">
                <a:latin typeface="Bookman Old Style" panose="02050604050505020204" pitchFamily="18" charset="0"/>
              </a:rPr>
              <a:t>of</a:t>
            </a:r>
            <a:r>
              <a:rPr lang="es-ES" sz="3800" dirty="0">
                <a:latin typeface="Bookman Old Style" panose="02050604050505020204" pitchFamily="18" charset="0"/>
              </a:rPr>
              <a:t> </a:t>
            </a:r>
            <a:r>
              <a:rPr lang="es-ES" sz="3800" dirty="0" err="1">
                <a:latin typeface="Bookman Old Style" panose="02050604050505020204" pitchFamily="18" charset="0"/>
              </a:rPr>
              <a:t>the</a:t>
            </a:r>
            <a:r>
              <a:rPr lang="es-ES" sz="3800" dirty="0">
                <a:latin typeface="Bookman Old Style" panose="02050604050505020204" pitchFamily="18" charset="0"/>
              </a:rPr>
              <a:t> </a:t>
            </a:r>
            <a:r>
              <a:rPr lang="es-ES" sz="3800" dirty="0" err="1">
                <a:latin typeface="Bookman Old Style" panose="02050604050505020204" pitchFamily="18" charset="0"/>
              </a:rPr>
              <a:t>unchosen</a:t>
            </a:r>
            <a:r>
              <a:rPr lang="es-ES" sz="3800" dirty="0">
                <a:latin typeface="Bookman Old Style" panose="02050604050505020204" pitchFamily="18" charset="0"/>
              </a:rPr>
              <a:t> </a:t>
            </a:r>
            <a:r>
              <a:rPr lang="es-ES" sz="3800" dirty="0" err="1">
                <a:latin typeface="Bookman Old Style" panose="02050604050505020204" pitchFamily="18" charset="0"/>
              </a:rPr>
              <a:t>answer</a:t>
            </a:r>
            <a:r>
              <a:rPr lang="es-ES" sz="3800" dirty="0">
                <a:latin typeface="Bookman Old Style" panose="02050604050505020204" pitchFamily="18" charset="0"/>
              </a:rPr>
              <a:t> </a:t>
            </a:r>
            <a:endParaRPr lang="en-ES" sz="3800" dirty="0">
              <a:latin typeface="Bookman Old Style" panose="02050604050505020204" pitchFamily="18" charset="0"/>
            </a:endParaRPr>
          </a:p>
        </p:txBody>
      </p:sp>
      <p:pic>
        <p:nvPicPr>
          <p:cNvPr id="8194" name="Picture 2">
            <a:extLst>
              <a:ext uri="{FF2B5EF4-FFF2-40B4-BE49-F238E27FC236}">
                <a16:creationId xmlns:a16="http://schemas.microsoft.com/office/drawing/2014/main" id="{ADBB92A2-2C3A-5558-5457-412CBFBCA5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4669" y="939807"/>
            <a:ext cx="7462661" cy="5782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2306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E6D2"/>
        </a:solidFill>
        <a:effectLst/>
      </p:bgPr>
    </p:bg>
    <p:spTree>
      <p:nvGrpSpPr>
        <p:cNvPr id="1" name="">
          <a:extLst>
            <a:ext uri="{FF2B5EF4-FFF2-40B4-BE49-F238E27FC236}">
              <a16:creationId xmlns:a16="http://schemas.microsoft.com/office/drawing/2014/main" id="{EFB4C5D8-B706-46DF-4BE3-687CECAB7A3F}"/>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9AFE325-B931-5464-2D3F-FB2BE3EDED00}"/>
              </a:ext>
            </a:extLst>
          </p:cNvPr>
          <p:cNvSpPr txBox="1">
            <a:spLocks/>
          </p:cNvSpPr>
          <p:nvPr/>
        </p:nvSpPr>
        <p:spPr>
          <a:xfrm>
            <a:off x="0" y="-69081"/>
            <a:ext cx="12192000" cy="1325563"/>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ES" sz="3800" dirty="0">
                <a:latin typeface="Bookman Old Style" panose="02050604050505020204" pitchFamily="18" charset="0"/>
              </a:rPr>
              <a:t>The </a:t>
            </a:r>
            <a:r>
              <a:rPr lang="es-ES" sz="3800" dirty="0" err="1">
                <a:latin typeface="Bookman Old Style" panose="02050604050505020204" pitchFamily="18" charset="0"/>
              </a:rPr>
              <a:t>popularity</a:t>
            </a:r>
            <a:r>
              <a:rPr lang="es-ES" sz="3800" dirty="0">
                <a:latin typeface="Bookman Old Style" panose="02050604050505020204" pitchFamily="18" charset="0"/>
              </a:rPr>
              <a:t> </a:t>
            </a:r>
            <a:r>
              <a:rPr lang="es-ES" sz="3800" dirty="0" err="1">
                <a:latin typeface="Bookman Old Style" panose="02050604050505020204" pitchFamily="18" charset="0"/>
              </a:rPr>
              <a:t>of</a:t>
            </a:r>
            <a:r>
              <a:rPr lang="es-ES" sz="3800" dirty="0">
                <a:latin typeface="Bookman Old Style" panose="02050604050505020204" pitchFamily="18" charset="0"/>
              </a:rPr>
              <a:t> </a:t>
            </a:r>
            <a:r>
              <a:rPr lang="es-ES" sz="3800" dirty="0" err="1">
                <a:latin typeface="Bookman Old Style" panose="02050604050505020204" pitchFamily="18" charset="0"/>
              </a:rPr>
              <a:t>the</a:t>
            </a:r>
            <a:r>
              <a:rPr lang="es-ES" sz="3800" dirty="0">
                <a:latin typeface="Bookman Old Style" panose="02050604050505020204" pitchFamily="18" charset="0"/>
              </a:rPr>
              <a:t> </a:t>
            </a:r>
            <a:r>
              <a:rPr lang="es-ES" sz="3800" dirty="0" err="1">
                <a:latin typeface="Bookman Old Style" panose="02050604050505020204" pitchFamily="18" charset="0"/>
              </a:rPr>
              <a:t>unchosen</a:t>
            </a:r>
            <a:r>
              <a:rPr lang="es-ES" sz="3800" dirty="0">
                <a:latin typeface="Bookman Old Style" panose="02050604050505020204" pitchFamily="18" charset="0"/>
              </a:rPr>
              <a:t> </a:t>
            </a:r>
            <a:r>
              <a:rPr lang="es-ES" sz="3800" dirty="0" err="1">
                <a:latin typeface="Bookman Old Style" panose="02050604050505020204" pitchFamily="18" charset="0"/>
              </a:rPr>
              <a:t>answer</a:t>
            </a:r>
            <a:r>
              <a:rPr lang="es-ES" sz="3800" dirty="0">
                <a:latin typeface="Bookman Old Style" panose="02050604050505020204" pitchFamily="18" charset="0"/>
              </a:rPr>
              <a:t> </a:t>
            </a:r>
            <a:endParaRPr lang="en-ES" sz="3800" dirty="0">
              <a:latin typeface="Bookman Old Style" panose="02050604050505020204" pitchFamily="18" charset="0"/>
            </a:endParaRPr>
          </a:p>
        </p:txBody>
      </p:sp>
      <p:pic>
        <p:nvPicPr>
          <p:cNvPr id="8194" name="Picture 2">
            <a:extLst>
              <a:ext uri="{FF2B5EF4-FFF2-40B4-BE49-F238E27FC236}">
                <a16:creationId xmlns:a16="http://schemas.microsoft.com/office/drawing/2014/main" id="{387120E0-D247-8176-C6A8-7352989591E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4669" y="939807"/>
            <a:ext cx="7462661" cy="5782725"/>
          </a:xfrm>
          <a:prstGeom prst="rect">
            <a:avLst/>
          </a:prstGeom>
          <a:noFill/>
          <a:extLst>
            <a:ext uri="{909E8E84-426E-40DD-AFC4-6F175D3DCCD1}">
              <a14:hiddenFill xmlns:a14="http://schemas.microsoft.com/office/drawing/2010/main">
                <a:solidFill>
                  <a:srgbClr val="FFFFFF"/>
                </a:solidFill>
              </a14:hiddenFill>
            </a:ext>
          </a:extLst>
        </p:spPr>
      </p:pic>
      <p:pic>
        <p:nvPicPr>
          <p:cNvPr id="8283" name="Picture 8282">
            <a:extLst>
              <a:ext uri="{FF2B5EF4-FFF2-40B4-BE49-F238E27FC236}">
                <a16:creationId xmlns:a16="http://schemas.microsoft.com/office/drawing/2014/main" id="{2595A9B4-499F-49C4-5B8A-03CBE430D8B0}"/>
              </a:ext>
            </a:extLst>
          </p:cNvPr>
          <p:cNvPicPr>
            <a:picLocks noChangeAspect="1"/>
          </p:cNvPicPr>
          <p:nvPr/>
        </p:nvPicPr>
        <p:blipFill>
          <a:blip r:embed="rId3">
            <a:alphaModFix amt="95000"/>
          </a:blip>
          <a:stretch>
            <a:fillRect/>
          </a:stretch>
        </p:blipFill>
        <p:spPr>
          <a:xfrm>
            <a:off x="3174999" y="1643887"/>
            <a:ext cx="5842000" cy="4775200"/>
          </a:xfrm>
          <a:prstGeom prst="rect">
            <a:avLst/>
          </a:prstGeom>
        </p:spPr>
      </p:pic>
    </p:spTree>
    <p:extLst>
      <p:ext uri="{BB962C8B-B14F-4D97-AF65-F5344CB8AC3E}">
        <p14:creationId xmlns:p14="http://schemas.microsoft.com/office/powerpoint/2010/main" val="4169560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AF4B2-03D6-3F7A-BEB7-E0EF82B6C15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C5A144-3112-3144-4278-5106BA52E9B9}"/>
              </a:ext>
            </a:extLst>
          </p:cNvPr>
          <p:cNvSpPr txBox="1">
            <a:spLocks/>
          </p:cNvSpPr>
          <p:nvPr/>
        </p:nvSpPr>
        <p:spPr>
          <a:xfrm>
            <a:off x="0" y="-69081"/>
            <a:ext cx="12192000" cy="1325563"/>
          </a:xfrm>
          <a:prstGeom prst="rect">
            <a:avLst/>
          </a:prstGeom>
          <a:solidFill>
            <a:schemeClr val="bg1">
              <a:alpha val="90000"/>
            </a:schemeClr>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ES" sz="3800" dirty="0">
                <a:latin typeface="Bookman Old Style" panose="02050604050505020204" pitchFamily="18" charset="0"/>
              </a:rPr>
              <a:t>The </a:t>
            </a:r>
            <a:r>
              <a:rPr lang="es-ES" sz="3800" dirty="0" err="1">
                <a:latin typeface="Bookman Old Style" panose="02050604050505020204" pitchFamily="18" charset="0"/>
              </a:rPr>
              <a:t>popularity</a:t>
            </a:r>
            <a:r>
              <a:rPr lang="es-ES" sz="3800" dirty="0">
                <a:latin typeface="Bookman Old Style" panose="02050604050505020204" pitchFamily="18" charset="0"/>
              </a:rPr>
              <a:t> </a:t>
            </a:r>
            <a:r>
              <a:rPr lang="es-ES" sz="3800" dirty="0" err="1">
                <a:latin typeface="Bookman Old Style" panose="02050604050505020204" pitchFamily="18" charset="0"/>
              </a:rPr>
              <a:t>of</a:t>
            </a:r>
            <a:r>
              <a:rPr lang="es-ES" sz="3800" dirty="0">
                <a:latin typeface="Bookman Old Style" panose="02050604050505020204" pitchFamily="18" charset="0"/>
              </a:rPr>
              <a:t> </a:t>
            </a:r>
            <a:r>
              <a:rPr lang="es-ES" sz="3800" dirty="0" err="1">
                <a:latin typeface="Bookman Old Style" panose="02050604050505020204" pitchFamily="18" charset="0"/>
              </a:rPr>
              <a:t>the</a:t>
            </a:r>
            <a:r>
              <a:rPr lang="es-ES" sz="3800" dirty="0">
                <a:latin typeface="Bookman Old Style" panose="02050604050505020204" pitchFamily="18" charset="0"/>
              </a:rPr>
              <a:t> </a:t>
            </a:r>
            <a:r>
              <a:rPr lang="es-ES" sz="3800" dirty="0" err="1">
                <a:latin typeface="Bookman Old Style" panose="02050604050505020204" pitchFamily="18" charset="0"/>
              </a:rPr>
              <a:t>unchosen</a:t>
            </a:r>
            <a:r>
              <a:rPr lang="es-ES" sz="3800" dirty="0">
                <a:latin typeface="Bookman Old Style" panose="02050604050505020204" pitchFamily="18" charset="0"/>
              </a:rPr>
              <a:t> </a:t>
            </a:r>
            <a:r>
              <a:rPr lang="es-ES" sz="3800" dirty="0" err="1">
                <a:latin typeface="Bookman Old Style" panose="02050604050505020204" pitchFamily="18" charset="0"/>
              </a:rPr>
              <a:t>answer</a:t>
            </a:r>
            <a:r>
              <a:rPr lang="es-ES" sz="3800" dirty="0">
                <a:latin typeface="Bookman Old Style" panose="02050604050505020204" pitchFamily="18" charset="0"/>
              </a:rPr>
              <a:t> </a:t>
            </a:r>
            <a:endParaRPr lang="en-ES" sz="3800" dirty="0">
              <a:latin typeface="Bookman Old Style" panose="02050604050505020204" pitchFamily="18" charset="0"/>
            </a:endParaRPr>
          </a:p>
        </p:txBody>
      </p:sp>
      <p:pic>
        <p:nvPicPr>
          <p:cNvPr id="3" name="Content Placeholder 4">
            <a:extLst>
              <a:ext uri="{FF2B5EF4-FFF2-40B4-BE49-F238E27FC236}">
                <a16:creationId xmlns:a16="http://schemas.microsoft.com/office/drawing/2014/main" id="{C0E37CEC-300D-5E60-84CC-5964A9F76662}"/>
              </a:ext>
            </a:extLst>
          </p:cNvPr>
          <p:cNvPicPr>
            <a:picLocks noGrp="1" noChangeAspect="1"/>
          </p:cNvPicPr>
          <p:nvPr>
            <p:ph idx="1"/>
          </p:nvPr>
        </p:nvPicPr>
        <p:blipFill>
          <a:blip r:embed="rId2"/>
          <a:srcRect t="29385"/>
          <a:stretch>
            <a:fillRect/>
          </a:stretch>
        </p:blipFill>
        <p:spPr bwMode="auto">
          <a:xfrm>
            <a:off x="2199230" y="1697576"/>
            <a:ext cx="4903825" cy="3462847"/>
          </a:xfrm>
          <a:prstGeom prst="rect">
            <a:avLst/>
          </a:prstGeom>
          <a:noFill/>
          <a:ln w="9525">
            <a:noFill/>
            <a:miter lim="800000"/>
            <a:headEnd/>
            <a:tailEnd/>
          </a:ln>
        </p:spPr>
      </p:pic>
      <p:pic>
        <p:nvPicPr>
          <p:cNvPr id="4" name="Content Placeholder 4">
            <a:extLst>
              <a:ext uri="{FF2B5EF4-FFF2-40B4-BE49-F238E27FC236}">
                <a16:creationId xmlns:a16="http://schemas.microsoft.com/office/drawing/2014/main" id="{C1693263-A184-965D-8EAD-8105E07B7B5C}"/>
              </a:ext>
            </a:extLst>
          </p:cNvPr>
          <p:cNvPicPr>
            <a:picLocks noChangeAspect="1"/>
          </p:cNvPicPr>
          <p:nvPr/>
        </p:nvPicPr>
        <p:blipFill>
          <a:blip r:embed="rId2"/>
          <a:srcRect r="49861" b="70250"/>
          <a:stretch>
            <a:fillRect/>
          </a:stretch>
        </p:blipFill>
        <p:spPr bwMode="auto">
          <a:xfrm>
            <a:off x="7103054" y="2150380"/>
            <a:ext cx="2063902" cy="1224607"/>
          </a:xfrm>
          <a:prstGeom prst="rect">
            <a:avLst/>
          </a:prstGeom>
          <a:noFill/>
          <a:ln w="9525">
            <a:noFill/>
            <a:miter lim="800000"/>
            <a:headEnd/>
            <a:tailEnd/>
          </a:ln>
        </p:spPr>
      </p:pic>
      <p:pic>
        <p:nvPicPr>
          <p:cNvPr id="5" name="Content Placeholder 4">
            <a:extLst>
              <a:ext uri="{FF2B5EF4-FFF2-40B4-BE49-F238E27FC236}">
                <a16:creationId xmlns:a16="http://schemas.microsoft.com/office/drawing/2014/main" id="{DF3A2BC5-302A-3179-2CEB-6AAA9B642282}"/>
              </a:ext>
            </a:extLst>
          </p:cNvPr>
          <p:cNvPicPr>
            <a:picLocks noChangeAspect="1"/>
          </p:cNvPicPr>
          <p:nvPr/>
        </p:nvPicPr>
        <p:blipFill>
          <a:blip r:embed="rId2"/>
          <a:srcRect l="49861" b="70250"/>
          <a:stretch>
            <a:fillRect/>
          </a:stretch>
        </p:blipFill>
        <p:spPr bwMode="auto">
          <a:xfrm>
            <a:off x="7338357" y="3381719"/>
            <a:ext cx="2063902" cy="1224607"/>
          </a:xfrm>
          <a:prstGeom prst="rect">
            <a:avLst/>
          </a:prstGeom>
          <a:noFill/>
          <a:ln w="9525">
            <a:noFill/>
            <a:miter lim="800000"/>
            <a:headEnd/>
            <a:tailEnd/>
          </a:ln>
        </p:spPr>
      </p:pic>
      <p:sp>
        <p:nvSpPr>
          <p:cNvPr id="6" name="TextBox 5">
            <a:extLst>
              <a:ext uri="{FF2B5EF4-FFF2-40B4-BE49-F238E27FC236}">
                <a16:creationId xmlns:a16="http://schemas.microsoft.com/office/drawing/2014/main" id="{892A57B1-AAB7-B35F-DB12-EC0F041788BC}"/>
              </a:ext>
            </a:extLst>
          </p:cNvPr>
          <p:cNvSpPr txBox="1"/>
          <p:nvPr/>
        </p:nvSpPr>
        <p:spPr>
          <a:xfrm>
            <a:off x="1936474" y="6054321"/>
            <a:ext cx="8319052" cy="430887"/>
          </a:xfrm>
          <a:prstGeom prst="rect">
            <a:avLst/>
          </a:prstGeom>
          <a:noFill/>
        </p:spPr>
        <p:txBody>
          <a:bodyPr wrap="square">
            <a:spAutoFit/>
          </a:bodyPr>
          <a:lstStyle/>
          <a:p>
            <a:pPr algn="ctr">
              <a:buNone/>
            </a:pPr>
            <a:r>
              <a:rPr lang="en-GB" sz="2200" i="1" dirty="0">
                <a:latin typeface="Bookman Old Style" panose="02050604050505020204" pitchFamily="18" charset="0"/>
              </a:rPr>
              <a:t>OR </a:t>
            </a:r>
            <a:r>
              <a:rPr lang="en-GB" sz="2200" dirty="0">
                <a:latin typeface="Bookman Old Style" panose="02050604050505020204" pitchFamily="18" charset="0"/>
              </a:rPr>
              <a:t>= 3.80, 95% </a:t>
            </a:r>
            <a:r>
              <a:rPr lang="en-GB" sz="2200" i="1" dirty="0">
                <a:latin typeface="Bookman Old Style" panose="02050604050505020204" pitchFamily="18" charset="0"/>
              </a:rPr>
              <a:t>CI </a:t>
            </a:r>
            <a:r>
              <a:rPr lang="en-GB" sz="2200" dirty="0">
                <a:latin typeface="Bookman Old Style" panose="02050604050505020204" pitchFamily="18" charset="0"/>
              </a:rPr>
              <a:t>[2.03, 7.10], </a:t>
            </a:r>
            <a:r>
              <a:rPr lang="en-GB" sz="2200" i="1" dirty="0">
                <a:latin typeface="Bookman Old Style" panose="02050604050505020204" pitchFamily="18" charset="0"/>
              </a:rPr>
              <a:t>z </a:t>
            </a:r>
            <a:r>
              <a:rPr lang="en-GB" sz="2200" dirty="0">
                <a:latin typeface="Bookman Old Style" panose="02050604050505020204" pitchFamily="18" charset="0"/>
              </a:rPr>
              <a:t>= 4.19, </a:t>
            </a:r>
            <a:r>
              <a:rPr lang="en-GB" sz="2200" i="1" dirty="0">
                <a:latin typeface="Bookman Old Style" panose="02050604050505020204" pitchFamily="18" charset="0"/>
              </a:rPr>
              <a:t>p </a:t>
            </a:r>
            <a:r>
              <a:rPr lang="en-GB" sz="2200" dirty="0">
                <a:latin typeface="Bookman Old Style" panose="02050604050505020204" pitchFamily="18" charset="0"/>
              </a:rPr>
              <a:t>&lt; .001 </a:t>
            </a:r>
          </a:p>
        </p:txBody>
      </p:sp>
    </p:spTree>
    <p:extLst>
      <p:ext uri="{BB962C8B-B14F-4D97-AF65-F5344CB8AC3E}">
        <p14:creationId xmlns:p14="http://schemas.microsoft.com/office/powerpoint/2010/main" val="31359412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1DD4ACF-AC89-3E69-2824-5CA105AD3D65}"/>
              </a:ext>
            </a:extLst>
          </p:cNvPr>
          <p:cNvPicPr>
            <a:picLocks noChangeAspect="1"/>
          </p:cNvPicPr>
          <p:nvPr/>
        </p:nvPicPr>
        <p:blipFill>
          <a:blip r:embed="rId2"/>
          <a:stretch>
            <a:fillRect/>
          </a:stretch>
        </p:blipFill>
        <p:spPr>
          <a:xfrm>
            <a:off x="2292350" y="1473200"/>
            <a:ext cx="7607300" cy="3911600"/>
          </a:xfrm>
          <a:prstGeom prst="rect">
            <a:avLst/>
          </a:prstGeom>
        </p:spPr>
      </p:pic>
    </p:spTree>
    <p:extLst>
      <p:ext uri="{BB962C8B-B14F-4D97-AF65-F5344CB8AC3E}">
        <p14:creationId xmlns:p14="http://schemas.microsoft.com/office/powerpoint/2010/main" val="3464886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91143-A4CE-7542-D9F0-B3F1ADF56A4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F459A65-7340-4CE0-610A-B3A390E6611E}"/>
              </a:ext>
            </a:extLst>
          </p:cNvPr>
          <p:cNvPicPr>
            <a:picLocks noChangeAspect="1"/>
          </p:cNvPicPr>
          <p:nvPr/>
        </p:nvPicPr>
        <p:blipFill>
          <a:blip r:embed="rId2">
            <a:extLst>
              <a:ext uri="{BEBA8EAE-BF5A-486C-A8C5-ECC9F3942E4B}">
                <a14:imgProps xmlns:a14="http://schemas.microsoft.com/office/drawing/2010/main">
                  <a14:imgLayer r:embed="rId3">
                    <a14:imgEffect>
                      <a14:artisticBlur/>
                    </a14:imgEffect>
                  </a14:imgLayer>
                </a14:imgProps>
              </a:ext>
            </a:extLst>
          </a:blip>
          <a:stretch>
            <a:fillRect/>
          </a:stretch>
        </p:blipFill>
        <p:spPr>
          <a:xfrm>
            <a:off x="2292350" y="1473200"/>
            <a:ext cx="7607300" cy="3911600"/>
          </a:xfrm>
          <a:prstGeom prst="rect">
            <a:avLst/>
          </a:prstGeom>
        </p:spPr>
      </p:pic>
      <p:pic>
        <p:nvPicPr>
          <p:cNvPr id="2" name="Picture 1">
            <a:extLst>
              <a:ext uri="{FF2B5EF4-FFF2-40B4-BE49-F238E27FC236}">
                <a16:creationId xmlns:a16="http://schemas.microsoft.com/office/drawing/2014/main" id="{8173181C-B709-0695-55EF-AA10FA02073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 r="33334"/>
          <a:stretch>
            <a:fillRect/>
          </a:stretch>
        </p:blipFill>
        <p:spPr bwMode="auto">
          <a:xfrm>
            <a:off x="1566322" y="2221371"/>
            <a:ext cx="2596107" cy="259610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0276EE40-755A-2D54-4EF1-0F337E26F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29571" y="2221371"/>
            <a:ext cx="2596107" cy="259610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4BB4D67-CBA2-88A6-34D6-326BCBA463F5}"/>
              </a:ext>
            </a:extLst>
          </p:cNvPr>
          <p:cNvSpPr txBox="1"/>
          <p:nvPr/>
        </p:nvSpPr>
        <p:spPr>
          <a:xfrm>
            <a:off x="1566322" y="5015468"/>
            <a:ext cx="2596107" cy="430887"/>
          </a:xfrm>
          <a:prstGeom prst="rect">
            <a:avLst/>
          </a:prstGeom>
          <a:noFill/>
        </p:spPr>
        <p:txBody>
          <a:bodyPr wrap="square">
            <a:spAutoFit/>
          </a:bodyPr>
          <a:lstStyle/>
          <a:p>
            <a:pPr algn="ctr"/>
            <a:r>
              <a:rPr lang="en-US" sz="2200" dirty="0">
                <a:latin typeface="Bookman Old Style" panose="02050604050505020204" pitchFamily="18" charset="0"/>
              </a:rPr>
              <a:t>1249 laypeople</a:t>
            </a:r>
          </a:p>
        </p:txBody>
      </p:sp>
      <p:sp>
        <p:nvSpPr>
          <p:cNvPr id="6" name="TextBox 5">
            <a:extLst>
              <a:ext uri="{FF2B5EF4-FFF2-40B4-BE49-F238E27FC236}">
                <a16:creationId xmlns:a16="http://schemas.microsoft.com/office/drawing/2014/main" id="{2EE16E61-B1CB-4A0A-8ADF-B8C6CE2EA4B8}"/>
              </a:ext>
            </a:extLst>
          </p:cNvPr>
          <p:cNvSpPr txBox="1"/>
          <p:nvPr/>
        </p:nvSpPr>
        <p:spPr>
          <a:xfrm>
            <a:off x="8029571" y="5015468"/>
            <a:ext cx="2596107" cy="430887"/>
          </a:xfrm>
          <a:prstGeom prst="rect">
            <a:avLst/>
          </a:prstGeom>
          <a:noFill/>
        </p:spPr>
        <p:txBody>
          <a:bodyPr wrap="square">
            <a:spAutoFit/>
          </a:bodyPr>
          <a:lstStyle/>
          <a:p>
            <a:pPr algn="ctr"/>
            <a:r>
              <a:rPr lang="en-US" sz="2200" dirty="0">
                <a:latin typeface="Bookman Old Style" panose="02050604050505020204" pitchFamily="18" charset="0"/>
              </a:rPr>
              <a:t>634 philosophers</a:t>
            </a:r>
          </a:p>
        </p:txBody>
      </p:sp>
    </p:spTree>
    <p:extLst>
      <p:ext uri="{BB962C8B-B14F-4D97-AF65-F5344CB8AC3E}">
        <p14:creationId xmlns:p14="http://schemas.microsoft.com/office/powerpoint/2010/main" val="33933168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8A1AB-DA8E-FBBD-1463-E9D28BD7534E}"/>
            </a:ext>
          </a:extLst>
        </p:cNvPr>
        <p:cNvGrpSpPr/>
        <p:nvPr/>
      </p:nvGrpSpPr>
      <p:grpSpPr>
        <a:xfrm>
          <a:off x="0" y="0"/>
          <a:ext cx="0" cy="0"/>
          <a:chOff x="0" y="0"/>
          <a:chExt cx="0" cy="0"/>
        </a:xfrm>
      </p:grpSpPr>
      <p:pic>
        <p:nvPicPr>
          <p:cNvPr id="3" name="Picture 2" descr="Excellence Comes by Habit: Aristotle on Moral Virtue •">
            <a:extLst>
              <a:ext uri="{FF2B5EF4-FFF2-40B4-BE49-F238E27FC236}">
                <a16:creationId xmlns:a16="http://schemas.microsoft.com/office/drawing/2014/main" id="{13651C32-17E4-37C9-0854-57EE522DBF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67819" y="2221372"/>
            <a:ext cx="2544689" cy="2544689"/>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9B71B4B-B937-C734-B94B-D679A47BECE0}"/>
              </a:ext>
            </a:extLst>
          </p:cNvPr>
          <p:cNvSpPr txBox="1"/>
          <p:nvPr/>
        </p:nvSpPr>
        <p:spPr>
          <a:xfrm>
            <a:off x="6814005" y="4976880"/>
            <a:ext cx="2452317" cy="369332"/>
          </a:xfrm>
          <a:prstGeom prst="rect">
            <a:avLst/>
          </a:prstGeom>
          <a:noFill/>
        </p:spPr>
        <p:txBody>
          <a:bodyPr wrap="square">
            <a:spAutoFit/>
          </a:bodyPr>
          <a:lstStyle/>
          <a:p>
            <a:pPr algn="ctr"/>
            <a:r>
              <a:rPr lang="en-US" b="1" dirty="0"/>
              <a:t>634 Philosophers</a:t>
            </a:r>
          </a:p>
        </p:txBody>
      </p:sp>
      <p:sp>
        <p:nvSpPr>
          <p:cNvPr id="7" name="TextBox 6">
            <a:extLst>
              <a:ext uri="{FF2B5EF4-FFF2-40B4-BE49-F238E27FC236}">
                <a16:creationId xmlns:a16="http://schemas.microsoft.com/office/drawing/2014/main" id="{2C429D89-239F-3095-FCD4-7B6080C06EA6}"/>
              </a:ext>
            </a:extLst>
          </p:cNvPr>
          <p:cNvSpPr txBox="1"/>
          <p:nvPr/>
        </p:nvSpPr>
        <p:spPr>
          <a:xfrm>
            <a:off x="2667001" y="4976880"/>
            <a:ext cx="2811378" cy="369332"/>
          </a:xfrm>
          <a:prstGeom prst="rect">
            <a:avLst/>
          </a:prstGeom>
          <a:noFill/>
        </p:spPr>
        <p:txBody>
          <a:bodyPr wrap="square">
            <a:spAutoFit/>
          </a:bodyPr>
          <a:lstStyle/>
          <a:p>
            <a:pPr algn="ctr"/>
            <a:r>
              <a:rPr lang="en-US" b="1" dirty="0"/>
              <a:t>1249 Laypeople</a:t>
            </a:r>
          </a:p>
        </p:txBody>
      </p:sp>
      <p:sp>
        <p:nvSpPr>
          <p:cNvPr id="8" name="Title 7">
            <a:extLst>
              <a:ext uri="{FF2B5EF4-FFF2-40B4-BE49-F238E27FC236}">
                <a16:creationId xmlns:a16="http://schemas.microsoft.com/office/drawing/2014/main" id="{BABD397D-A371-F54A-66BB-DB865BF54519}"/>
              </a:ext>
            </a:extLst>
          </p:cNvPr>
          <p:cNvSpPr>
            <a:spLocks noGrp="1"/>
          </p:cNvSpPr>
          <p:nvPr>
            <p:ph type="title"/>
          </p:nvPr>
        </p:nvSpPr>
        <p:spPr>
          <a:xfrm>
            <a:off x="1572128" y="274638"/>
            <a:ext cx="9035716" cy="1143000"/>
          </a:xfrm>
        </p:spPr>
        <p:txBody>
          <a:bodyPr/>
          <a:lstStyle/>
          <a:p>
            <a:r>
              <a:rPr lang="en-US" dirty="0"/>
              <a:t>Intuitions of Philosophers</a:t>
            </a:r>
          </a:p>
        </p:txBody>
      </p:sp>
      <p:pic>
        <p:nvPicPr>
          <p:cNvPr id="2" name="Picture 1">
            <a:extLst>
              <a:ext uri="{FF2B5EF4-FFF2-40B4-BE49-F238E27FC236}">
                <a16:creationId xmlns:a16="http://schemas.microsoft.com/office/drawing/2014/main" id="{1DA2461B-971F-B375-CD11-18B1B89DCC4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0211"/>
          <a:stretch>
            <a:fillRect/>
          </a:stretch>
        </p:blipFill>
        <p:spPr bwMode="auto">
          <a:xfrm>
            <a:off x="3141145" y="2221372"/>
            <a:ext cx="1938855" cy="259610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58AA3405-3668-AAA1-082B-326D7D016D37}"/>
              </a:ext>
            </a:extLst>
          </p:cNvPr>
          <p:cNvPicPr>
            <a:picLocks noChangeAspect="1"/>
          </p:cNvPicPr>
          <p:nvPr/>
        </p:nvPicPr>
        <p:blipFill>
          <a:blip r:embed="rId4">
            <a:extLst>
              <a:ext uri="{BEBA8EAE-BF5A-486C-A8C5-ECC9F3942E4B}">
                <a14:imgProps xmlns:a14="http://schemas.microsoft.com/office/drawing/2010/main">
                  <a14:imgLayer r:embed="rId5">
                    <a14:imgEffect>
                      <a14:artisticBlur/>
                    </a14:imgEffect>
                  </a14:imgLayer>
                </a14:imgProps>
              </a:ext>
            </a:extLst>
          </a:blip>
          <a:stretch>
            <a:fillRect/>
          </a:stretch>
        </p:blipFill>
        <p:spPr>
          <a:xfrm>
            <a:off x="204165" y="254226"/>
            <a:ext cx="11783670" cy="6349548"/>
          </a:xfrm>
          <a:prstGeom prst="rect">
            <a:avLst/>
          </a:prstGeom>
        </p:spPr>
      </p:pic>
      <p:pic>
        <p:nvPicPr>
          <p:cNvPr id="15" name="Picture 14" descr="A graph of different types of people&#10;&#10;AI-generated content may be incorrect.">
            <a:extLst>
              <a:ext uri="{FF2B5EF4-FFF2-40B4-BE49-F238E27FC236}">
                <a16:creationId xmlns:a16="http://schemas.microsoft.com/office/drawing/2014/main" id="{E4C3A7B0-B4DD-E49D-106B-F011083AAC89}"/>
              </a:ext>
            </a:extLst>
          </p:cNvPr>
          <p:cNvPicPr>
            <a:picLocks noChangeAspect="1"/>
          </p:cNvPicPr>
          <p:nvPr/>
        </p:nvPicPr>
        <p:blipFill>
          <a:blip r:embed="rId6"/>
          <a:stretch>
            <a:fillRect/>
          </a:stretch>
        </p:blipFill>
        <p:spPr>
          <a:xfrm>
            <a:off x="1584156" y="938881"/>
            <a:ext cx="8435708" cy="5644481"/>
          </a:xfrm>
          <a:prstGeom prst="rect">
            <a:avLst/>
          </a:prstGeom>
        </p:spPr>
      </p:pic>
      <p:sp>
        <p:nvSpPr>
          <p:cNvPr id="16" name="Rectangle 15">
            <a:extLst>
              <a:ext uri="{FF2B5EF4-FFF2-40B4-BE49-F238E27FC236}">
                <a16:creationId xmlns:a16="http://schemas.microsoft.com/office/drawing/2014/main" id="{CA80801B-79F8-8E90-C570-9BF095B08055}"/>
              </a:ext>
            </a:extLst>
          </p:cNvPr>
          <p:cNvSpPr/>
          <p:nvPr/>
        </p:nvSpPr>
        <p:spPr>
          <a:xfrm>
            <a:off x="2818178" y="2721227"/>
            <a:ext cx="2983832" cy="312821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tx1"/>
              </a:solidFill>
            </a:endParaRPr>
          </a:p>
        </p:txBody>
      </p:sp>
      <p:sp>
        <p:nvSpPr>
          <p:cNvPr id="17" name="Rectangle 16">
            <a:extLst>
              <a:ext uri="{FF2B5EF4-FFF2-40B4-BE49-F238E27FC236}">
                <a16:creationId xmlns:a16="http://schemas.microsoft.com/office/drawing/2014/main" id="{E396B2DE-B96F-8C1D-1AA5-1CA46C18AD66}"/>
              </a:ext>
            </a:extLst>
          </p:cNvPr>
          <p:cNvSpPr/>
          <p:nvPr/>
        </p:nvSpPr>
        <p:spPr>
          <a:xfrm>
            <a:off x="6331399" y="2793416"/>
            <a:ext cx="2983832" cy="312821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tx1"/>
              </a:solidFill>
            </a:endParaRPr>
          </a:p>
        </p:txBody>
      </p:sp>
      <p:pic>
        <p:nvPicPr>
          <p:cNvPr id="4" name="Picture 3">
            <a:extLst>
              <a:ext uri="{FF2B5EF4-FFF2-40B4-BE49-F238E27FC236}">
                <a16:creationId xmlns:a16="http://schemas.microsoft.com/office/drawing/2014/main" id="{2BE9E882-FA31-38A9-C07E-11DC8532058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481" t="-308" r="35469" b="308"/>
          <a:stretch>
            <a:fillRect/>
          </a:stretch>
        </p:blipFill>
        <p:spPr bwMode="auto">
          <a:xfrm>
            <a:off x="2796676" y="2690442"/>
            <a:ext cx="3070801" cy="329932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extLst>
              <a:ext uri="{FF2B5EF4-FFF2-40B4-BE49-F238E27FC236}">
                <a16:creationId xmlns:a16="http://schemas.microsoft.com/office/drawing/2014/main" id="{47D7988C-0EBD-76F4-CF06-2892A648BD7E}"/>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r="5379"/>
          <a:stretch>
            <a:fillRect/>
          </a:stretch>
        </p:blipFill>
        <p:spPr bwMode="auto">
          <a:xfrm>
            <a:off x="6280888" y="2712652"/>
            <a:ext cx="3100844" cy="327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46773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996C8-C4FD-1513-CCEC-B69A2CA6F792}"/>
            </a:ext>
          </a:extLst>
        </p:cNvPr>
        <p:cNvGrpSpPr/>
        <p:nvPr/>
      </p:nvGrpSpPr>
      <p:grpSpPr>
        <a:xfrm>
          <a:off x="0" y="0"/>
          <a:ext cx="0" cy="0"/>
          <a:chOff x="0" y="0"/>
          <a:chExt cx="0" cy="0"/>
        </a:xfrm>
      </p:grpSpPr>
      <p:pic>
        <p:nvPicPr>
          <p:cNvPr id="3" name="Picture 2" descr="Excellence Comes by Habit: Aristotle on Moral Virtue •">
            <a:extLst>
              <a:ext uri="{FF2B5EF4-FFF2-40B4-BE49-F238E27FC236}">
                <a16:creationId xmlns:a16="http://schemas.microsoft.com/office/drawing/2014/main" id="{F80A6C11-75C2-13D3-75DE-982F292C8A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67819" y="2221372"/>
            <a:ext cx="2544689" cy="2544689"/>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FF09849-1B37-8C44-AE78-F55D697E7C73}"/>
              </a:ext>
            </a:extLst>
          </p:cNvPr>
          <p:cNvSpPr txBox="1"/>
          <p:nvPr/>
        </p:nvSpPr>
        <p:spPr>
          <a:xfrm>
            <a:off x="6814005" y="4976880"/>
            <a:ext cx="2452317" cy="369332"/>
          </a:xfrm>
          <a:prstGeom prst="rect">
            <a:avLst/>
          </a:prstGeom>
          <a:noFill/>
        </p:spPr>
        <p:txBody>
          <a:bodyPr wrap="square">
            <a:spAutoFit/>
          </a:bodyPr>
          <a:lstStyle/>
          <a:p>
            <a:pPr algn="ctr"/>
            <a:r>
              <a:rPr lang="en-US" b="1" dirty="0"/>
              <a:t>634 Philosophers</a:t>
            </a:r>
          </a:p>
        </p:txBody>
      </p:sp>
      <p:sp>
        <p:nvSpPr>
          <p:cNvPr id="7" name="TextBox 6">
            <a:extLst>
              <a:ext uri="{FF2B5EF4-FFF2-40B4-BE49-F238E27FC236}">
                <a16:creationId xmlns:a16="http://schemas.microsoft.com/office/drawing/2014/main" id="{85C8F5A9-6137-64CA-BA8F-1544BFF34406}"/>
              </a:ext>
            </a:extLst>
          </p:cNvPr>
          <p:cNvSpPr txBox="1"/>
          <p:nvPr/>
        </p:nvSpPr>
        <p:spPr>
          <a:xfrm>
            <a:off x="2667001" y="4976880"/>
            <a:ext cx="2811378" cy="369332"/>
          </a:xfrm>
          <a:prstGeom prst="rect">
            <a:avLst/>
          </a:prstGeom>
          <a:noFill/>
        </p:spPr>
        <p:txBody>
          <a:bodyPr wrap="square">
            <a:spAutoFit/>
          </a:bodyPr>
          <a:lstStyle/>
          <a:p>
            <a:pPr algn="ctr"/>
            <a:r>
              <a:rPr lang="en-US" b="1" dirty="0"/>
              <a:t>1249 Laypeople</a:t>
            </a:r>
          </a:p>
        </p:txBody>
      </p:sp>
      <p:sp>
        <p:nvSpPr>
          <p:cNvPr id="8" name="Title 7">
            <a:extLst>
              <a:ext uri="{FF2B5EF4-FFF2-40B4-BE49-F238E27FC236}">
                <a16:creationId xmlns:a16="http://schemas.microsoft.com/office/drawing/2014/main" id="{83A2A8DA-FCB8-D0C4-C720-BB5677F8A44B}"/>
              </a:ext>
            </a:extLst>
          </p:cNvPr>
          <p:cNvSpPr>
            <a:spLocks noGrp="1"/>
          </p:cNvSpPr>
          <p:nvPr>
            <p:ph type="title"/>
          </p:nvPr>
        </p:nvSpPr>
        <p:spPr>
          <a:xfrm>
            <a:off x="1572128" y="274638"/>
            <a:ext cx="9035716" cy="1143000"/>
          </a:xfrm>
        </p:spPr>
        <p:txBody>
          <a:bodyPr/>
          <a:lstStyle/>
          <a:p>
            <a:r>
              <a:rPr lang="en-US" dirty="0"/>
              <a:t>Intuitions of Philosophers</a:t>
            </a:r>
          </a:p>
        </p:txBody>
      </p:sp>
      <p:pic>
        <p:nvPicPr>
          <p:cNvPr id="2" name="Picture 1">
            <a:extLst>
              <a:ext uri="{FF2B5EF4-FFF2-40B4-BE49-F238E27FC236}">
                <a16:creationId xmlns:a16="http://schemas.microsoft.com/office/drawing/2014/main" id="{1780F4BA-EE31-E173-3EA9-59D5D9A687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0211"/>
          <a:stretch>
            <a:fillRect/>
          </a:stretch>
        </p:blipFill>
        <p:spPr bwMode="auto">
          <a:xfrm>
            <a:off x="3141145" y="2221372"/>
            <a:ext cx="1938855" cy="259610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73427809-DB10-7297-68F5-57093D062244}"/>
              </a:ext>
            </a:extLst>
          </p:cNvPr>
          <p:cNvPicPr>
            <a:picLocks noChangeAspect="1"/>
          </p:cNvPicPr>
          <p:nvPr/>
        </p:nvPicPr>
        <p:blipFill>
          <a:blip r:embed="rId4">
            <a:extLst>
              <a:ext uri="{BEBA8EAE-BF5A-486C-A8C5-ECC9F3942E4B}">
                <a14:imgProps xmlns:a14="http://schemas.microsoft.com/office/drawing/2010/main">
                  <a14:imgLayer r:embed="rId5">
                    <a14:imgEffect>
                      <a14:artisticBlur/>
                    </a14:imgEffect>
                  </a14:imgLayer>
                </a14:imgProps>
              </a:ext>
            </a:extLst>
          </a:blip>
          <a:stretch>
            <a:fillRect/>
          </a:stretch>
        </p:blipFill>
        <p:spPr>
          <a:xfrm>
            <a:off x="204165" y="254226"/>
            <a:ext cx="11783670" cy="6349548"/>
          </a:xfrm>
          <a:prstGeom prst="rect">
            <a:avLst/>
          </a:prstGeom>
        </p:spPr>
      </p:pic>
      <p:pic>
        <p:nvPicPr>
          <p:cNvPr id="15" name="Picture 14" descr="A graph of different types of people&#10;&#10;AI-generated content may be incorrect.">
            <a:extLst>
              <a:ext uri="{FF2B5EF4-FFF2-40B4-BE49-F238E27FC236}">
                <a16:creationId xmlns:a16="http://schemas.microsoft.com/office/drawing/2014/main" id="{E0914BA2-A0DF-5197-D242-FD11B33D1CA3}"/>
              </a:ext>
            </a:extLst>
          </p:cNvPr>
          <p:cNvPicPr>
            <a:picLocks noChangeAspect="1"/>
          </p:cNvPicPr>
          <p:nvPr/>
        </p:nvPicPr>
        <p:blipFill>
          <a:blip r:embed="rId6"/>
          <a:stretch>
            <a:fillRect/>
          </a:stretch>
        </p:blipFill>
        <p:spPr>
          <a:xfrm>
            <a:off x="1584156" y="938881"/>
            <a:ext cx="8435708" cy="5644481"/>
          </a:xfrm>
          <a:prstGeom prst="rect">
            <a:avLst/>
          </a:prstGeom>
        </p:spPr>
      </p:pic>
      <p:sp>
        <p:nvSpPr>
          <p:cNvPr id="17" name="Rectangle 16">
            <a:extLst>
              <a:ext uri="{FF2B5EF4-FFF2-40B4-BE49-F238E27FC236}">
                <a16:creationId xmlns:a16="http://schemas.microsoft.com/office/drawing/2014/main" id="{358C6CEB-3DAE-B0DD-7D30-85F0B6781A33}"/>
              </a:ext>
            </a:extLst>
          </p:cNvPr>
          <p:cNvSpPr/>
          <p:nvPr/>
        </p:nvSpPr>
        <p:spPr>
          <a:xfrm>
            <a:off x="6331399" y="2793416"/>
            <a:ext cx="2983832" cy="312821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tx1"/>
              </a:solidFill>
            </a:endParaRPr>
          </a:p>
        </p:txBody>
      </p:sp>
      <p:pic>
        <p:nvPicPr>
          <p:cNvPr id="9" name="Picture 2">
            <a:extLst>
              <a:ext uri="{FF2B5EF4-FFF2-40B4-BE49-F238E27FC236}">
                <a16:creationId xmlns:a16="http://schemas.microsoft.com/office/drawing/2014/main" id="{249E6D32-FB70-BAF7-6BDE-C0D87ACF6A55}"/>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r="5379"/>
          <a:stretch>
            <a:fillRect/>
          </a:stretch>
        </p:blipFill>
        <p:spPr bwMode="auto">
          <a:xfrm>
            <a:off x="6280888" y="2712652"/>
            <a:ext cx="3100844" cy="327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748346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F2EFE2-A314-AFB3-F150-0AD2C1D4991A}"/>
            </a:ext>
          </a:extLst>
        </p:cNvPr>
        <p:cNvGrpSpPr/>
        <p:nvPr/>
      </p:nvGrpSpPr>
      <p:grpSpPr>
        <a:xfrm>
          <a:off x="0" y="0"/>
          <a:ext cx="0" cy="0"/>
          <a:chOff x="0" y="0"/>
          <a:chExt cx="0" cy="0"/>
        </a:xfrm>
      </p:grpSpPr>
      <p:pic>
        <p:nvPicPr>
          <p:cNvPr id="3" name="Picture 2" descr="Excellence Comes by Habit: Aristotle on Moral Virtue •">
            <a:extLst>
              <a:ext uri="{FF2B5EF4-FFF2-40B4-BE49-F238E27FC236}">
                <a16:creationId xmlns:a16="http://schemas.microsoft.com/office/drawing/2014/main" id="{70DC9194-2693-EE2F-47A5-3339D37FD7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67819" y="2221372"/>
            <a:ext cx="2544689" cy="2544689"/>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64B98BF-C14B-3691-B6FE-13E261DEF803}"/>
              </a:ext>
            </a:extLst>
          </p:cNvPr>
          <p:cNvSpPr txBox="1"/>
          <p:nvPr/>
        </p:nvSpPr>
        <p:spPr>
          <a:xfrm>
            <a:off x="6814005" y="4976880"/>
            <a:ext cx="2452317" cy="369332"/>
          </a:xfrm>
          <a:prstGeom prst="rect">
            <a:avLst/>
          </a:prstGeom>
          <a:noFill/>
        </p:spPr>
        <p:txBody>
          <a:bodyPr wrap="square">
            <a:spAutoFit/>
          </a:bodyPr>
          <a:lstStyle/>
          <a:p>
            <a:pPr algn="ctr"/>
            <a:r>
              <a:rPr lang="en-US" b="1" dirty="0"/>
              <a:t>634 Philosophers</a:t>
            </a:r>
          </a:p>
        </p:txBody>
      </p:sp>
      <p:sp>
        <p:nvSpPr>
          <p:cNvPr id="7" name="TextBox 6">
            <a:extLst>
              <a:ext uri="{FF2B5EF4-FFF2-40B4-BE49-F238E27FC236}">
                <a16:creationId xmlns:a16="http://schemas.microsoft.com/office/drawing/2014/main" id="{BD1FCE66-ED07-6C3D-4EEA-6CB92E3CB826}"/>
              </a:ext>
            </a:extLst>
          </p:cNvPr>
          <p:cNvSpPr txBox="1"/>
          <p:nvPr/>
        </p:nvSpPr>
        <p:spPr>
          <a:xfrm>
            <a:off x="2667001" y="4976880"/>
            <a:ext cx="2811378" cy="369332"/>
          </a:xfrm>
          <a:prstGeom prst="rect">
            <a:avLst/>
          </a:prstGeom>
          <a:noFill/>
        </p:spPr>
        <p:txBody>
          <a:bodyPr wrap="square">
            <a:spAutoFit/>
          </a:bodyPr>
          <a:lstStyle/>
          <a:p>
            <a:pPr algn="ctr"/>
            <a:r>
              <a:rPr lang="en-US" b="1" dirty="0"/>
              <a:t>1249 Laypeople</a:t>
            </a:r>
          </a:p>
        </p:txBody>
      </p:sp>
      <p:sp>
        <p:nvSpPr>
          <p:cNvPr id="8" name="Title 7">
            <a:extLst>
              <a:ext uri="{FF2B5EF4-FFF2-40B4-BE49-F238E27FC236}">
                <a16:creationId xmlns:a16="http://schemas.microsoft.com/office/drawing/2014/main" id="{4FBA27A4-44B8-0F1B-1A86-C58D33AA00EC}"/>
              </a:ext>
            </a:extLst>
          </p:cNvPr>
          <p:cNvSpPr>
            <a:spLocks noGrp="1"/>
          </p:cNvSpPr>
          <p:nvPr>
            <p:ph type="title"/>
          </p:nvPr>
        </p:nvSpPr>
        <p:spPr>
          <a:xfrm>
            <a:off x="1572128" y="274638"/>
            <a:ext cx="9035716" cy="1143000"/>
          </a:xfrm>
        </p:spPr>
        <p:txBody>
          <a:bodyPr/>
          <a:lstStyle/>
          <a:p>
            <a:r>
              <a:rPr lang="en-US" dirty="0"/>
              <a:t>Intuitions of Philosophers</a:t>
            </a:r>
          </a:p>
        </p:txBody>
      </p:sp>
      <p:pic>
        <p:nvPicPr>
          <p:cNvPr id="2" name="Picture 1">
            <a:extLst>
              <a:ext uri="{FF2B5EF4-FFF2-40B4-BE49-F238E27FC236}">
                <a16:creationId xmlns:a16="http://schemas.microsoft.com/office/drawing/2014/main" id="{DEC3BDBF-2A65-D422-1457-BAF91A4788D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0211"/>
          <a:stretch>
            <a:fillRect/>
          </a:stretch>
        </p:blipFill>
        <p:spPr bwMode="auto">
          <a:xfrm>
            <a:off x="3141145" y="2221372"/>
            <a:ext cx="1938855" cy="259610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A939ABF-1B31-C507-2611-03655908E47A}"/>
              </a:ext>
            </a:extLst>
          </p:cNvPr>
          <p:cNvPicPr>
            <a:picLocks noChangeAspect="1"/>
          </p:cNvPicPr>
          <p:nvPr/>
        </p:nvPicPr>
        <p:blipFill>
          <a:blip r:embed="rId4">
            <a:extLst>
              <a:ext uri="{BEBA8EAE-BF5A-486C-A8C5-ECC9F3942E4B}">
                <a14:imgProps xmlns:a14="http://schemas.microsoft.com/office/drawing/2010/main">
                  <a14:imgLayer r:embed="rId5">
                    <a14:imgEffect>
                      <a14:artisticBlur/>
                    </a14:imgEffect>
                  </a14:imgLayer>
                </a14:imgProps>
              </a:ext>
            </a:extLst>
          </a:blip>
          <a:stretch>
            <a:fillRect/>
          </a:stretch>
        </p:blipFill>
        <p:spPr>
          <a:xfrm>
            <a:off x="204165" y="254226"/>
            <a:ext cx="11783670" cy="6349548"/>
          </a:xfrm>
          <a:prstGeom prst="rect">
            <a:avLst/>
          </a:prstGeom>
        </p:spPr>
      </p:pic>
      <p:pic>
        <p:nvPicPr>
          <p:cNvPr id="15" name="Picture 14" descr="A graph of different types of people&#10;&#10;AI-generated content may be incorrect.">
            <a:extLst>
              <a:ext uri="{FF2B5EF4-FFF2-40B4-BE49-F238E27FC236}">
                <a16:creationId xmlns:a16="http://schemas.microsoft.com/office/drawing/2014/main" id="{70E0CD27-CB7A-90DF-A89A-13686181CACA}"/>
              </a:ext>
            </a:extLst>
          </p:cNvPr>
          <p:cNvPicPr>
            <a:picLocks noChangeAspect="1"/>
          </p:cNvPicPr>
          <p:nvPr/>
        </p:nvPicPr>
        <p:blipFill>
          <a:blip r:embed="rId6"/>
          <a:stretch>
            <a:fillRect/>
          </a:stretch>
        </p:blipFill>
        <p:spPr>
          <a:xfrm>
            <a:off x="1584156" y="938881"/>
            <a:ext cx="8435708" cy="5644481"/>
          </a:xfrm>
          <a:prstGeom prst="rect">
            <a:avLst/>
          </a:prstGeom>
        </p:spPr>
      </p:pic>
      <p:sp>
        <p:nvSpPr>
          <p:cNvPr id="4" name="TextBox 3">
            <a:extLst>
              <a:ext uri="{FF2B5EF4-FFF2-40B4-BE49-F238E27FC236}">
                <a16:creationId xmlns:a16="http://schemas.microsoft.com/office/drawing/2014/main" id="{E424206B-846D-A611-3D68-DC25EBA616DC}"/>
              </a:ext>
            </a:extLst>
          </p:cNvPr>
          <p:cNvSpPr txBox="1"/>
          <p:nvPr/>
        </p:nvSpPr>
        <p:spPr>
          <a:xfrm>
            <a:off x="204165" y="464676"/>
            <a:ext cx="11783670" cy="830997"/>
          </a:xfrm>
          <a:prstGeom prst="rect">
            <a:avLst/>
          </a:prstGeom>
          <a:noFill/>
        </p:spPr>
        <p:txBody>
          <a:bodyPr wrap="square">
            <a:spAutoFit/>
          </a:bodyPr>
          <a:lstStyle/>
          <a:p>
            <a:r>
              <a:rPr lang="en-US" sz="2300" dirty="0">
                <a:solidFill>
                  <a:srgbClr val="000000"/>
                </a:solidFill>
                <a:latin typeface="Bookman Old Style" panose="02050604050505020204" pitchFamily="18" charset="0"/>
              </a:rPr>
              <a:t>Philosophers also show the effect: The popularity of the opposite answer predicts the tendency toward conflicting intuitions,</a:t>
            </a:r>
            <a:r>
              <a:rPr lang="en-US" sz="2300" i="1" dirty="0">
                <a:solidFill>
                  <a:srgbClr val="000000"/>
                </a:solidFill>
                <a:latin typeface="Bookman Old Style" panose="02050604050505020204" pitchFamily="18" charset="0"/>
              </a:rPr>
              <a:t> OR</a:t>
            </a:r>
            <a:r>
              <a:rPr lang="en-US" sz="2300" dirty="0">
                <a:solidFill>
                  <a:srgbClr val="000000"/>
                </a:solidFill>
                <a:latin typeface="Bookman Old Style" panose="02050604050505020204" pitchFamily="18" charset="0"/>
              </a:rPr>
              <a:t> = 3.32, </a:t>
            </a:r>
            <a:r>
              <a:rPr lang="en-US" sz="2300" i="1" dirty="0">
                <a:solidFill>
                  <a:srgbClr val="000000"/>
                </a:solidFill>
                <a:latin typeface="Bookman Old Style" panose="02050604050505020204" pitchFamily="18" charset="0"/>
              </a:rPr>
              <a:t>z</a:t>
            </a:r>
            <a:r>
              <a:rPr lang="en-US" sz="2300" dirty="0">
                <a:solidFill>
                  <a:srgbClr val="000000"/>
                </a:solidFill>
                <a:latin typeface="Bookman Old Style" panose="02050604050505020204" pitchFamily="18" charset="0"/>
              </a:rPr>
              <a:t> = 4.38, </a:t>
            </a:r>
            <a:r>
              <a:rPr lang="en-US" sz="2300" i="1" dirty="0">
                <a:solidFill>
                  <a:srgbClr val="000000"/>
                </a:solidFill>
                <a:latin typeface="Bookman Old Style" panose="02050604050505020204" pitchFamily="18" charset="0"/>
              </a:rPr>
              <a:t>p</a:t>
            </a:r>
            <a:r>
              <a:rPr lang="en-US" sz="2300" dirty="0">
                <a:solidFill>
                  <a:srgbClr val="000000"/>
                </a:solidFill>
                <a:latin typeface="Bookman Old Style" panose="02050604050505020204" pitchFamily="18" charset="0"/>
              </a:rPr>
              <a:t> &lt; .001. </a:t>
            </a:r>
            <a:endParaRPr lang="en-US" sz="2300" dirty="0">
              <a:latin typeface="Bookman Old Style" panose="02050604050505020204" pitchFamily="18" charset="0"/>
            </a:endParaRPr>
          </a:p>
        </p:txBody>
      </p:sp>
    </p:spTree>
    <p:extLst>
      <p:ext uri="{BB962C8B-B14F-4D97-AF65-F5344CB8AC3E}">
        <p14:creationId xmlns:p14="http://schemas.microsoft.com/office/powerpoint/2010/main" val="36472938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Picture 45">
            <a:extLst>
              <a:ext uri="{FF2B5EF4-FFF2-40B4-BE49-F238E27FC236}">
                <a16:creationId xmlns:a16="http://schemas.microsoft.com/office/drawing/2014/main" id="{E9C8BDB8-C5AF-0F2F-9C64-F2AF2AC33275}"/>
              </a:ext>
            </a:extLst>
          </p:cNvPr>
          <p:cNvPicPr>
            <a:picLocks noChangeAspect="1"/>
          </p:cNvPicPr>
          <p:nvPr/>
        </p:nvPicPr>
        <p:blipFill>
          <a:blip r:embed="rId2"/>
          <a:srcRect r="50000"/>
          <a:stretch>
            <a:fillRect/>
          </a:stretch>
        </p:blipFill>
        <p:spPr>
          <a:xfrm>
            <a:off x="350395" y="2231239"/>
            <a:ext cx="4501422" cy="4163815"/>
          </a:xfrm>
          <a:prstGeom prst="rect">
            <a:avLst/>
          </a:prstGeom>
        </p:spPr>
      </p:pic>
      <p:pic>
        <p:nvPicPr>
          <p:cNvPr id="47" name="Picture 46">
            <a:extLst>
              <a:ext uri="{FF2B5EF4-FFF2-40B4-BE49-F238E27FC236}">
                <a16:creationId xmlns:a16="http://schemas.microsoft.com/office/drawing/2014/main" id="{7010A3C8-F742-1F09-0426-9CED394BF89A}"/>
              </a:ext>
            </a:extLst>
          </p:cNvPr>
          <p:cNvPicPr>
            <a:picLocks noChangeAspect="1"/>
          </p:cNvPicPr>
          <p:nvPr/>
        </p:nvPicPr>
        <p:blipFill>
          <a:blip r:embed="rId2"/>
          <a:srcRect l="48307"/>
          <a:stretch>
            <a:fillRect/>
          </a:stretch>
        </p:blipFill>
        <p:spPr>
          <a:xfrm>
            <a:off x="7187784" y="2231238"/>
            <a:ext cx="4653821" cy="4163815"/>
          </a:xfrm>
          <a:prstGeom prst="rect">
            <a:avLst/>
          </a:prstGeom>
        </p:spPr>
      </p:pic>
      <p:sp>
        <p:nvSpPr>
          <p:cNvPr id="49" name="Title 9">
            <a:extLst>
              <a:ext uri="{FF2B5EF4-FFF2-40B4-BE49-F238E27FC236}">
                <a16:creationId xmlns:a16="http://schemas.microsoft.com/office/drawing/2014/main" id="{9921B37D-7EF7-95BA-F722-4198F64DA569}"/>
              </a:ext>
            </a:extLst>
          </p:cNvPr>
          <p:cNvSpPr>
            <a:spLocks noGrp="1"/>
          </p:cNvSpPr>
          <p:nvPr>
            <p:ph type="title"/>
          </p:nvPr>
        </p:nvSpPr>
        <p:spPr>
          <a:xfrm>
            <a:off x="838200" y="54533"/>
            <a:ext cx="10515600" cy="987167"/>
          </a:xfrm>
        </p:spPr>
        <p:txBody>
          <a:bodyPr>
            <a:normAutofit/>
          </a:bodyPr>
          <a:lstStyle/>
          <a:p>
            <a:pPr algn="ctr"/>
            <a:r>
              <a:rPr lang="en-ES" sz="3000" dirty="0">
                <a:latin typeface="Bookman Old Style" panose="02050604050505020204" pitchFamily="18" charset="0"/>
                <a:ea typeface="Helvetica Neue" panose="02000503000000020004" pitchFamily="2" charset="0"/>
                <a:cs typeface="Helvetica Neue" panose="02000503000000020004" pitchFamily="2" charset="0"/>
              </a:rPr>
              <a:t>Why?</a:t>
            </a:r>
            <a:endParaRPr lang="en-ES" sz="3000" dirty="0">
              <a:latin typeface="Bookman Old Style" panose="02050604050505020204" pitchFamily="18" charset="0"/>
            </a:endParaRPr>
          </a:p>
        </p:txBody>
      </p:sp>
    </p:spTree>
    <p:extLst>
      <p:ext uri="{BB962C8B-B14F-4D97-AF65-F5344CB8AC3E}">
        <p14:creationId xmlns:p14="http://schemas.microsoft.com/office/powerpoint/2010/main" val="27641876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51DB1-DABD-05F9-1927-6D16F7EF089C}"/>
            </a:ext>
          </a:extLst>
        </p:cNvPr>
        <p:cNvGrpSpPr/>
        <p:nvPr/>
      </p:nvGrpSpPr>
      <p:grpSpPr>
        <a:xfrm>
          <a:off x="0" y="0"/>
          <a:ext cx="0" cy="0"/>
          <a:chOff x="0" y="0"/>
          <a:chExt cx="0" cy="0"/>
        </a:xfrm>
      </p:grpSpPr>
      <p:pic>
        <p:nvPicPr>
          <p:cNvPr id="47" name="Picture 46">
            <a:extLst>
              <a:ext uri="{FF2B5EF4-FFF2-40B4-BE49-F238E27FC236}">
                <a16:creationId xmlns:a16="http://schemas.microsoft.com/office/drawing/2014/main" id="{6F23F080-A429-3A0C-EB1A-1BF83C73D38A}"/>
              </a:ext>
            </a:extLst>
          </p:cNvPr>
          <p:cNvPicPr>
            <a:picLocks noChangeAspect="1"/>
          </p:cNvPicPr>
          <p:nvPr/>
        </p:nvPicPr>
        <p:blipFill>
          <a:blip r:embed="rId2"/>
          <a:srcRect l="48307"/>
          <a:stretch>
            <a:fillRect/>
          </a:stretch>
        </p:blipFill>
        <p:spPr>
          <a:xfrm>
            <a:off x="7187784" y="2231238"/>
            <a:ext cx="4653821" cy="4163815"/>
          </a:xfrm>
          <a:prstGeom prst="rect">
            <a:avLst/>
          </a:prstGeom>
        </p:spPr>
      </p:pic>
      <p:pic>
        <p:nvPicPr>
          <p:cNvPr id="46" name="Picture 45">
            <a:extLst>
              <a:ext uri="{FF2B5EF4-FFF2-40B4-BE49-F238E27FC236}">
                <a16:creationId xmlns:a16="http://schemas.microsoft.com/office/drawing/2014/main" id="{8D512C37-7229-A4C0-8705-D26D6C060366}"/>
              </a:ext>
            </a:extLst>
          </p:cNvPr>
          <p:cNvPicPr>
            <a:picLocks noChangeAspect="1"/>
          </p:cNvPicPr>
          <p:nvPr/>
        </p:nvPicPr>
        <p:blipFill>
          <a:blip r:embed="rId2"/>
          <a:srcRect r="50000"/>
          <a:stretch>
            <a:fillRect/>
          </a:stretch>
        </p:blipFill>
        <p:spPr>
          <a:xfrm>
            <a:off x="350395" y="2231239"/>
            <a:ext cx="4501422" cy="4163815"/>
          </a:xfrm>
          <a:prstGeom prst="rect">
            <a:avLst/>
          </a:prstGeom>
        </p:spPr>
      </p:pic>
      <p:sp>
        <p:nvSpPr>
          <p:cNvPr id="12" name="Rectangle 11">
            <a:extLst>
              <a:ext uri="{FF2B5EF4-FFF2-40B4-BE49-F238E27FC236}">
                <a16:creationId xmlns:a16="http://schemas.microsoft.com/office/drawing/2014/main" id="{EBE38E64-FD50-A6F0-F96C-0D3EADB5D324}"/>
              </a:ext>
            </a:extLst>
          </p:cNvPr>
          <p:cNvSpPr/>
          <p:nvPr/>
        </p:nvSpPr>
        <p:spPr>
          <a:xfrm>
            <a:off x="0" y="0"/>
            <a:ext cx="12192000" cy="6858000"/>
          </a:xfrm>
          <a:prstGeom prst="rect">
            <a:avLst/>
          </a:prstGeom>
          <a:solidFill>
            <a:schemeClr val="bg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dirty="0"/>
          </a:p>
        </p:txBody>
      </p:sp>
      <p:sp>
        <p:nvSpPr>
          <p:cNvPr id="22" name="Rounded Rectangle 21">
            <a:extLst>
              <a:ext uri="{FF2B5EF4-FFF2-40B4-BE49-F238E27FC236}">
                <a16:creationId xmlns:a16="http://schemas.microsoft.com/office/drawing/2014/main" id="{88CADD39-D9BC-9104-3A1D-D5B46F970B0B}"/>
              </a:ext>
            </a:extLst>
          </p:cNvPr>
          <p:cNvSpPr/>
          <p:nvPr/>
        </p:nvSpPr>
        <p:spPr>
          <a:xfrm>
            <a:off x="3098800" y="368300"/>
            <a:ext cx="5626100" cy="3924300"/>
          </a:xfrm>
          <a:prstGeom prst="roundRect">
            <a:avLst>
              <a:gd name="adj" fmla="val 6635"/>
            </a:avLst>
          </a:prstGeom>
          <a:solidFill>
            <a:srgbClr val="EAEA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pic>
        <p:nvPicPr>
          <p:cNvPr id="21" name="Picture 20">
            <a:extLst>
              <a:ext uri="{FF2B5EF4-FFF2-40B4-BE49-F238E27FC236}">
                <a16:creationId xmlns:a16="http://schemas.microsoft.com/office/drawing/2014/main" id="{666CAF38-2AB8-1E25-EA1B-A90108489FD4}"/>
              </a:ext>
            </a:extLst>
          </p:cNvPr>
          <p:cNvPicPr>
            <a:picLocks noChangeAspect="1"/>
          </p:cNvPicPr>
          <p:nvPr/>
        </p:nvPicPr>
        <p:blipFill>
          <a:blip r:embed="rId3"/>
          <a:stretch>
            <a:fillRect/>
          </a:stretch>
        </p:blipFill>
        <p:spPr>
          <a:xfrm>
            <a:off x="3556102" y="741490"/>
            <a:ext cx="5079795" cy="2979495"/>
          </a:xfrm>
          <a:prstGeom prst="rect">
            <a:avLst/>
          </a:prstGeom>
        </p:spPr>
      </p:pic>
    </p:spTree>
    <p:extLst>
      <p:ext uri="{BB962C8B-B14F-4D97-AF65-F5344CB8AC3E}">
        <p14:creationId xmlns:p14="http://schemas.microsoft.com/office/powerpoint/2010/main" val="23072271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170" name="Picture 2">
            <a:extLst>
              <a:ext uri="{FF2B5EF4-FFF2-40B4-BE49-F238E27FC236}">
                <a16:creationId xmlns:a16="http://schemas.microsoft.com/office/drawing/2014/main" id="{66EA5908-FD6F-3959-E8CD-A3C65167F9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6350"/>
          <a:stretch>
            <a:fillRect/>
          </a:stretch>
        </p:blipFill>
        <p:spPr bwMode="auto">
          <a:xfrm>
            <a:off x="6608693" y="3925956"/>
            <a:ext cx="5583306" cy="293204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2ABD8A99-BC33-8B9D-ED0B-CF472B683216}"/>
              </a:ext>
            </a:extLst>
          </p:cNvPr>
          <p:cNvSpPr>
            <a:spLocks noGrp="1"/>
          </p:cNvSpPr>
          <p:nvPr>
            <p:ph type="title"/>
          </p:nvPr>
        </p:nvSpPr>
        <p:spPr>
          <a:xfrm>
            <a:off x="2" y="5391978"/>
            <a:ext cx="7484531" cy="1143000"/>
          </a:xfrm>
        </p:spPr>
        <p:txBody>
          <a:bodyPr/>
          <a:lstStyle/>
          <a:p>
            <a:pPr algn="ctr"/>
            <a:r>
              <a:rPr lang="en-US" sz="5800" dirty="0">
                <a:latin typeface="Bookman Old Style" panose="02050604050505020204" pitchFamily="18" charset="0"/>
              </a:rPr>
              <a:t>Beyond self-report</a:t>
            </a:r>
          </a:p>
        </p:txBody>
      </p:sp>
      <p:pic>
        <p:nvPicPr>
          <p:cNvPr id="5" name="Picture 4">
            <a:extLst>
              <a:ext uri="{FF2B5EF4-FFF2-40B4-BE49-F238E27FC236}">
                <a16:creationId xmlns:a16="http://schemas.microsoft.com/office/drawing/2014/main" id="{BE3C9A94-B457-AB4D-F748-C1DB2DC40EA0}"/>
              </a:ext>
            </a:extLst>
          </p:cNvPr>
          <p:cNvPicPr>
            <a:picLocks noChangeAspect="1"/>
          </p:cNvPicPr>
          <p:nvPr/>
        </p:nvPicPr>
        <p:blipFill>
          <a:blip r:embed="rId3">
            <a:extLst>
              <a:ext uri="{BEBA8EAE-BF5A-486C-A8C5-ECC9F3942E4B}">
                <a14:imgProps xmlns:a14="http://schemas.microsoft.com/office/drawing/2010/main">
                  <a14:imgLayer r:embed="rId4">
                    <a14:imgEffect>
                      <a14:artisticMosiaicBubbles/>
                    </a14:imgEffect>
                    <a14:imgEffect>
                      <a14:brightnessContrast contrast="-40000"/>
                    </a14:imgEffect>
                  </a14:imgLayer>
                </a14:imgProps>
              </a:ext>
            </a:extLst>
          </a:blip>
          <a:stretch>
            <a:fillRect/>
          </a:stretch>
        </p:blipFill>
        <p:spPr>
          <a:xfrm>
            <a:off x="3229486" y="405339"/>
            <a:ext cx="5733028" cy="3520617"/>
          </a:xfrm>
          <a:prstGeom prst="rect">
            <a:avLst/>
          </a:prstGeom>
          <a:ln w="6350">
            <a:noFill/>
          </a:ln>
        </p:spPr>
      </p:pic>
      <p:pic>
        <p:nvPicPr>
          <p:cNvPr id="10" name="Picture 9" descr="https://cdn-icons-png.flaticon.com/512/17424/17424297.png">
            <a:extLst>
              <a:ext uri="{FF2B5EF4-FFF2-40B4-BE49-F238E27FC236}">
                <a16:creationId xmlns:a16="http://schemas.microsoft.com/office/drawing/2014/main" id="{20293051-95CD-8C8D-45B5-6B17802854F7}"/>
              </a:ext>
            </a:extLst>
          </p:cNvPr>
          <p:cNvPicPr>
            <a:picLocks noChangeAspect="1"/>
          </p:cNvPicPr>
          <p:nvPr/>
        </p:nvPicPr>
        <p:blipFill>
          <a:blip r:embed="rId5">
            <a:duotone>
              <a:prstClr val="black"/>
              <a:schemeClr val="accent1">
                <a:tint val="45000"/>
                <a:satMod val="400000"/>
              </a:schemeClr>
            </a:duotone>
          </a:blip>
          <a:stretch>
            <a:fillRect/>
          </a:stretch>
        </p:blipFill>
        <p:spPr>
          <a:xfrm>
            <a:off x="-5774496" y="-10462914"/>
            <a:ext cx="7281792" cy="7281792"/>
          </a:xfrm>
          <a:prstGeom prst="rect">
            <a:avLst/>
          </a:prstGeom>
          <a:noFill/>
        </p:spPr>
      </p:pic>
      <p:pic>
        <p:nvPicPr>
          <p:cNvPr id="16" name="Picture 15" descr="https://cdn-icons-png.flaticon.com/512/3474/3474360.png">
            <a:extLst>
              <a:ext uri="{FF2B5EF4-FFF2-40B4-BE49-F238E27FC236}">
                <a16:creationId xmlns:a16="http://schemas.microsoft.com/office/drawing/2014/main" id="{D8620F9A-329A-17F8-B547-85853F537F53}"/>
              </a:ext>
            </a:extLst>
          </p:cNvPr>
          <p:cNvPicPr>
            <a:picLocks noChangeAspect="1"/>
          </p:cNvPicPr>
          <p:nvPr/>
        </p:nvPicPr>
        <p:blipFill>
          <a:blip r:embed="rId6"/>
          <a:stretch>
            <a:fillRect/>
          </a:stretch>
        </p:blipFill>
        <p:spPr>
          <a:xfrm>
            <a:off x="2897857" y="-307307"/>
            <a:ext cx="6396285" cy="5822855"/>
          </a:xfrm>
          <a:prstGeom prst="rect">
            <a:avLst/>
          </a:prstGeom>
          <a:effectLst>
            <a:softEdge rad="12700"/>
          </a:effectLst>
        </p:spPr>
      </p:pic>
    </p:spTree>
    <p:extLst>
      <p:ext uri="{BB962C8B-B14F-4D97-AF65-F5344CB8AC3E}">
        <p14:creationId xmlns:p14="http://schemas.microsoft.com/office/powerpoint/2010/main" val="14912184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F8D5CB2-EDF3-A03D-73D0-2D12EF84D51B}"/>
              </a:ext>
            </a:extLst>
          </p:cNvPr>
          <p:cNvSpPr>
            <a:spLocks noGrp="1"/>
          </p:cNvSpPr>
          <p:nvPr>
            <p:ph type="title"/>
          </p:nvPr>
        </p:nvSpPr>
        <p:spPr>
          <a:xfrm>
            <a:off x="1880519" y="66867"/>
            <a:ext cx="8229600" cy="1143000"/>
          </a:xfrm>
        </p:spPr>
        <p:txBody>
          <a:bodyPr/>
          <a:lstStyle/>
          <a:p>
            <a:pPr algn="ctr"/>
            <a:r>
              <a:rPr lang="en-US" dirty="0">
                <a:latin typeface="Bookman Old Style" panose="02050604050505020204" pitchFamily="18" charset="0"/>
              </a:rPr>
              <a:t>Curvature as conflict</a:t>
            </a:r>
          </a:p>
        </p:txBody>
      </p:sp>
      <p:pic>
        <p:nvPicPr>
          <p:cNvPr id="16" name="Picture 15">
            <a:extLst>
              <a:ext uri="{FF2B5EF4-FFF2-40B4-BE49-F238E27FC236}">
                <a16:creationId xmlns:a16="http://schemas.microsoft.com/office/drawing/2014/main" id="{8AE3C87F-86E8-DC7F-3471-866CD2B85F1D}"/>
              </a:ext>
            </a:extLst>
          </p:cNvPr>
          <p:cNvPicPr>
            <a:picLocks noChangeAspect="1"/>
          </p:cNvPicPr>
          <p:nvPr/>
        </p:nvPicPr>
        <p:blipFill>
          <a:blip r:embed="rId2"/>
          <a:stretch>
            <a:fillRect/>
          </a:stretch>
        </p:blipFill>
        <p:spPr>
          <a:xfrm>
            <a:off x="986000" y="4009639"/>
            <a:ext cx="4188342" cy="2308204"/>
          </a:xfrm>
          <a:prstGeom prst="rect">
            <a:avLst/>
          </a:prstGeom>
        </p:spPr>
      </p:pic>
      <p:pic>
        <p:nvPicPr>
          <p:cNvPr id="17" name="Picture 16">
            <a:extLst>
              <a:ext uri="{FF2B5EF4-FFF2-40B4-BE49-F238E27FC236}">
                <a16:creationId xmlns:a16="http://schemas.microsoft.com/office/drawing/2014/main" id="{9EB8FE5F-E7E3-1D9A-C98B-B9CEDBA3845C}"/>
              </a:ext>
            </a:extLst>
          </p:cNvPr>
          <p:cNvPicPr>
            <a:picLocks noChangeAspect="1"/>
          </p:cNvPicPr>
          <p:nvPr/>
        </p:nvPicPr>
        <p:blipFill>
          <a:blip r:embed="rId2"/>
          <a:stretch>
            <a:fillRect/>
          </a:stretch>
        </p:blipFill>
        <p:spPr>
          <a:xfrm>
            <a:off x="6965273" y="4009639"/>
            <a:ext cx="4188342" cy="2308204"/>
          </a:xfrm>
          <a:prstGeom prst="rect">
            <a:avLst/>
          </a:prstGeom>
        </p:spPr>
      </p:pic>
      <p:sp>
        <p:nvSpPr>
          <p:cNvPr id="19" name="TextBox 18">
            <a:extLst>
              <a:ext uri="{FF2B5EF4-FFF2-40B4-BE49-F238E27FC236}">
                <a16:creationId xmlns:a16="http://schemas.microsoft.com/office/drawing/2014/main" id="{A2F136E5-156B-A524-BD90-7A12CCA36BA3}"/>
              </a:ext>
            </a:extLst>
          </p:cNvPr>
          <p:cNvSpPr txBox="1"/>
          <p:nvPr/>
        </p:nvSpPr>
        <p:spPr>
          <a:xfrm>
            <a:off x="7196328" y="4875902"/>
            <a:ext cx="3831336" cy="892552"/>
          </a:xfrm>
          <a:prstGeom prst="rect">
            <a:avLst/>
          </a:prstGeom>
          <a:solidFill>
            <a:srgbClr val="EAEAF1"/>
          </a:solidFill>
        </p:spPr>
        <p:txBody>
          <a:bodyPr wrap="square">
            <a:spAutoFit/>
          </a:bodyPr>
          <a:lstStyle/>
          <a:p>
            <a:r>
              <a:rPr lang="en-US" sz="2600" dirty="0">
                <a:latin typeface="Bookman Old Style" panose="02050604050505020204" pitchFamily="18" charset="0"/>
              </a:rPr>
              <a:t>In an indeterministic universe…</a:t>
            </a:r>
            <a:endParaRPr lang="en-ES" sz="2600" dirty="0"/>
          </a:p>
        </p:txBody>
      </p:sp>
      <p:sp>
        <p:nvSpPr>
          <p:cNvPr id="21" name="TextBox 20">
            <a:extLst>
              <a:ext uri="{FF2B5EF4-FFF2-40B4-BE49-F238E27FC236}">
                <a16:creationId xmlns:a16="http://schemas.microsoft.com/office/drawing/2014/main" id="{BB51E9D8-A873-DC45-5F64-80AC9AC39E52}"/>
              </a:ext>
            </a:extLst>
          </p:cNvPr>
          <p:cNvSpPr txBox="1"/>
          <p:nvPr/>
        </p:nvSpPr>
        <p:spPr>
          <a:xfrm>
            <a:off x="986000" y="3112240"/>
            <a:ext cx="4188342" cy="830997"/>
          </a:xfrm>
          <a:prstGeom prst="rect">
            <a:avLst/>
          </a:prstGeom>
          <a:noFill/>
        </p:spPr>
        <p:txBody>
          <a:bodyPr wrap="square">
            <a:spAutoFit/>
          </a:bodyPr>
          <a:lstStyle/>
          <a:p>
            <a:pPr algn="ctr"/>
            <a:r>
              <a:rPr lang="en-ES" sz="2400" dirty="0">
                <a:latin typeface="Bookman Old Style" panose="02050604050505020204" pitchFamily="18" charset="0"/>
                <a:ea typeface="Helvetica Neue" panose="02000503000000020004" pitchFamily="2" charset="0"/>
                <a:cs typeface="Helvetica Neue" panose="02000503000000020004" pitchFamily="2" charset="0"/>
              </a:rPr>
              <a:t>(Nichols &amp; Knobe, 2007)</a:t>
            </a:r>
          </a:p>
          <a:p>
            <a:pPr algn="ctr"/>
            <a:r>
              <a:rPr lang="en-ES" sz="2400" i="1" dirty="0">
                <a:latin typeface="Bookman Old Style" panose="02050604050505020204" pitchFamily="18" charset="0"/>
                <a:ea typeface="Helvetica Neue" panose="02000503000000020004" pitchFamily="2" charset="0"/>
                <a:cs typeface="Helvetica Neue" panose="02000503000000020004" pitchFamily="2" charset="0"/>
              </a:rPr>
              <a:t>Original</a:t>
            </a:r>
            <a:endParaRPr lang="en-ES" sz="2400" i="1" dirty="0"/>
          </a:p>
        </p:txBody>
      </p:sp>
      <p:sp>
        <p:nvSpPr>
          <p:cNvPr id="22" name="TextBox 21">
            <a:extLst>
              <a:ext uri="{FF2B5EF4-FFF2-40B4-BE49-F238E27FC236}">
                <a16:creationId xmlns:a16="http://schemas.microsoft.com/office/drawing/2014/main" id="{15FD532A-7334-BAC0-4E6C-642ECDFCC69E}"/>
              </a:ext>
            </a:extLst>
          </p:cNvPr>
          <p:cNvSpPr txBox="1"/>
          <p:nvPr/>
        </p:nvSpPr>
        <p:spPr>
          <a:xfrm>
            <a:off x="6965273" y="3178642"/>
            <a:ext cx="4188342" cy="754053"/>
          </a:xfrm>
          <a:prstGeom prst="rect">
            <a:avLst/>
          </a:prstGeom>
          <a:noFill/>
        </p:spPr>
        <p:txBody>
          <a:bodyPr wrap="square">
            <a:spAutoFit/>
          </a:bodyPr>
          <a:lstStyle/>
          <a:p>
            <a:pPr algn="ctr"/>
            <a:r>
              <a:rPr lang="en-ES" sz="1900" dirty="0">
                <a:latin typeface="Bookman Old Style" panose="02050604050505020204" pitchFamily="18" charset="0"/>
                <a:ea typeface="Helvetica Neue" panose="02000503000000020004" pitchFamily="2" charset="0"/>
                <a:cs typeface="Helvetica Neue" panose="02000503000000020004" pitchFamily="2" charset="0"/>
              </a:rPr>
              <a:t>(Modified</a:t>
            </a:r>
            <a:r>
              <a:rPr lang="en-ES" sz="1900" i="1" dirty="0">
                <a:latin typeface="Bookman Old Style" panose="02050604050505020204" pitchFamily="18" charset="0"/>
                <a:ea typeface="Helvetica Neue" panose="02000503000000020004" pitchFamily="2" charset="0"/>
                <a:cs typeface="Helvetica Neue" panose="02000503000000020004" pitchFamily="2" charset="0"/>
              </a:rPr>
              <a:t> </a:t>
            </a:r>
            <a:r>
              <a:rPr lang="en-ES" sz="1900" dirty="0">
                <a:latin typeface="Bookman Old Style" panose="02050604050505020204" pitchFamily="18" charset="0"/>
                <a:ea typeface="Helvetica Neue" panose="02000503000000020004" pitchFamily="2" charset="0"/>
                <a:cs typeface="Helvetica Neue" panose="02000503000000020004" pitchFamily="2" charset="0"/>
              </a:rPr>
              <a:t>Nichols &amp; Knobe, 2007)</a:t>
            </a:r>
          </a:p>
          <a:p>
            <a:pPr algn="ctr"/>
            <a:r>
              <a:rPr lang="en-ES" sz="2400" i="1" dirty="0">
                <a:latin typeface="Bookman Old Style" panose="02050604050505020204" pitchFamily="18" charset="0"/>
                <a:ea typeface="Helvetica Neue" panose="02000503000000020004" pitchFamily="2" charset="0"/>
                <a:cs typeface="Helvetica Neue" panose="02000503000000020004" pitchFamily="2" charset="0"/>
              </a:rPr>
              <a:t>Control</a:t>
            </a:r>
            <a:endParaRPr lang="en-ES" sz="2400" i="1" dirty="0"/>
          </a:p>
        </p:txBody>
      </p:sp>
    </p:spTree>
    <p:extLst>
      <p:ext uri="{BB962C8B-B14F-4D97-AF65-F5344CB8AC3E}">
        <p14:creationId xmlns:p14="http://schemas.microsoft.com/office/powerpoint/2010/main" val="31891480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A28EA-758D-12B1-8F78-6DE6DD6D9A4F}"/>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8EF05D6B-2B43-CC34-33A9-BD46DB0F7482}"/>
              </a:ext>
            </a:extLst>
          </p:cNvPr>
          <p:cNvSpPr>
            <a:spLocks noGrp="1"/>
          </p:cNvSpPr>
          <p:nvPr>
            <p:ph type="title"/>
          </p:nvPr>
        </p:nvSpPr>
        <p:spPr>
          <a:xfrm>
            <a:off x="1880519" y="66867"/>
            <a:ext cx="8229600" cy="1143000"/>
          </a:xfrm>
        </p:spPr>
        <p:txBody>
          <a:bodyPr/>
          <a:lstStyle/>
          <a:p>
            <a:pPr algn="ctr"/>
            <a:r>
              <a:rPr lang="en-US" dirty="0">
                <a:latin typeface="Bookman Old Style" panose="02050604050505020204" pitchFamily="18" charset="0"/>
              </a:rPr>
              <a:t>Curvature as conflict</a:t>
            </a:r>
          </a:p>
        </p:txBody>
      </p:sp>
      <p:pic>
        <p:nvPicPr>
          <p:cNvPr id="7" name="Picture 6">
            <a:extLst>
              <a:ext uri="{FF2B5EF4-FFF2-40B4-BE49-F238E27FC236}">
                <a16:creationId xmlns:a16="http://schemas.microsoft.com/office/drawing/2014/main" id="{AF6A75D2-EF0E-FF0A-8C94-36328C329773}"/>
              </a:ext>
            </a:extLst>
          </p:cNvPr>
          <p:cNvPicPr>
            <a:picLocks noChangeAspect="1"/>
          </p:cNvPicPr>
          <p:nvPr/>
        </p:nvPicPr>
        <p:blipFill>
          <a:blip r:embed="rId2"/>
          <a:stretch>
            <a:fillRect/>
          </a:stretch>
        </p:blipFill>
        <p:spPr>
          <a:xfrm>
            <a:off x="1719955" y="1391215"/>
            <a:ext cx="2399307" cy="2399307"/>
          </a:xfrm>
          <a:prstGeom prst="rect">
            <a:avLst/>
          </a:prstGeom>
        </p:spPr>
      </p:pic>
      <p:sp>
        <p:nvSpPr>
          <p:cNvPr id="8" name="Freeform 7">
            <a:extLst>
              <a:ext uri="{FF2B5EF4-FFF2-40B4-BE49-F238E27FC236}">
                <a16:creationId xmlns:a16="http://schemas.microsoft.com/office/drawing/2014/main" id="{ACE1C82E-8827-548B-1B88-05E01C497909}"/>
              </a:ext>
            </a:extLst>
          </p:cNvPr>
          <p:cNvSpPr/>
          <p:nvPr/>
        </p:nvSpPr>
        <p:spPr>
          <a:xfrm>
            <a:off x="2111681" y="1699265"/>
            <a:ext cx="1828842" cy="1762699"/>
          </a:xfrm>
          <a:custGeom>
            <a:avLst/>
            <a:gdLst>
              <a:gd name="csX0" fmla="*/ 1762740 w 1828842"/>
              <a:gd name="csY0" fmla="*/ 1762699 h 1762699"/>
              <a:gd name="csX1" fmla="*/ 1773757 w 1828842"/>
              <a:gd name="csY1" fmla="*/ 1222872 h 1762699"/>
              <a:gd name="csX2" fmla="*/ 1795791 w 1828842"/>
              <a:gd name="csY2" fmla="*/ 1156771 h 1762699"/>
              <a:gd name="csX3" fmla="*/ 1806808 w 1828842"/>
              <a:gd name="csY3" fmla="*/ 1101687 h 1762699"/>
              <a:gd name="csX4" fmla="*/ 1828842 w 1828842"/>
              <a:gd name="csY4" fmla="*/ 969484 h 1762699"/>
              <a:gd name="csX5" fmla="*/ 1817825 w 1828842"/>
              <a:gd name="csY5" fmla="*/ 804231 h 1762699"/>
              <a:gd name="csX6" fmla="*/ 1806808 w 1828842"/>
              <a:gd name="csY6" fmla="*/ 727113 h 1762699"/>
              <a:gd name="csX7" fmla="*/ 1740707 w 1828842"/>
              <a:gd name="csY7" fmla="*/ 683046 h 1762699"/>
              <a:gd name="csX8" fmla="*/ 1641555 w 1828842"/>
              <a:gd name="csY8" fmla="*/ 616944 h 1762699"/>
              <a:gd name="csX9" fmla="*/ 1608504 w 1828842"/>
              <a:gd name="csY9" fmla="*/ 594911 h 1762699"/>
              <a:gd name="csX10" fmla="*/ 1575454 w 1828842"/>
              <a:gd name="csY10" fmla="*/ 572877 h 1762699"/>
              <a:gd name="csX11" fmla="*/ 1542403 w 1828842"/>
              <a:gd name="csY11" fmla="*/ 561860 h 1762699"/>
              <a:gd name="csX12" fmla="*/ 1509352 w 1828842"/>
              <a:gd name="csY12" fmla="*/ 539826 h 1762699"/>
              <a:gd name="csX13" fmla="*/ 1355116 w 1828842"/>
              <a:gd name="csY13" fmla="*/ 495759 h 1762699"/>
              <a:gd name="csX14" fmla="*/ 1266981 w 1828842"/>
              <a:gd name="csY14" fmla="*/ 473725 h 1762699"/>
              <a:gd name="csX15" fmla="*/ 1112745 w 1828842"/>
              <a:gd name="csY15" fmla="*/ 429658 h 1762699"/>
              <a:gd name="csX16" fmla="*/ 1046644 w 1828842"/>
              <a:gd name="csY16" fmla="*/ 407624 h 1762699"/>
              <a:gd name="csX17" fmla="*/ 771222 w 1828842"/>
              <a:gd name="csY17" fmla="*/ 385590 h 1762699"/>
              <a:gd name="csX18" fmla="*/ 727155 w 1828842"/>
              <a:gd name="csY18" fmla="*/ 363556 h 1762699"/>
              <a:gd name="csX19" fmla="*/ 639020 w 1828842"/>
              <a:gd name="csY19" fmla="*/ 308472 h 1762699"/>
              <a:gd name="csX20" fmla="*/ 506817 w 1828842"/>
              <a:gd name="csY20" fmla="*/ 253388 h 1762699"/>
              <a:gd name="csX21" fmla="*/ 440716 w 1828842"/>
              <a:gd name="csY21" fmla="*/ 209320 h 1762699"/>
              <a:gd name="csX22" fmla="*/ 407666 w 1828842"/>
              <a:gd name="csY22" fmla="*/ 198303 h 1762699"/>
              <a:gd name="csX23" fmla="*/ 374615 w 1828842"/>
              <a:gd name="csY23" fmla="*/ 176270 h 1762699"/>
              <a:gd name="csX24" fmla="*/ 297497 w 1828842"/>
              <a:gd name="csY24" fmla="*/ 154236 h 1762699"/>
              <a:gd name="csX25" fmla="*/ 231396 w 1828842"/>
              <a:gd name="csY25" fmla="*/ 121185 h 1762699"/>
              <a:gd name="csX26" fmla="*/ 198345 w 1828842"/>
              <a:gd name="csY26" fmla="*/ 99152 h 1762699"/>
              <a:gd name="csX27" fmla="*/ 154278 w 1828842"/>
              <a:gd name="csY27" fmla="*/ 88135 h 1762699"/>
              <a:gd name="csX28" fmla="*/ 88177 w 1828842"/>
              <a:gd name="csY28" fmla="*/ 66101 h 1762699"/>
              <a:gd name="csX29" fmla="*/ 55126 w 1828842"/>
              <a:gd name="csY29" fmla="*/ 55084 h 1762699"/>
              <a:gd name="csX30" fmla="*/ 22075 w 1828842"/>
              <a:gd name="csY30" fmla="*/ 44067 h 1762699"/>
              <a:gd name="csX31" fmla="*/ 42 w 1828842"/>
              <a:gd name="csY31" fmla="*/ 0 h 17626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828842" h="1762699">
                <a:moveTo>
                  <a:pt x="1762740" y="1762699"/>
                </a:moveTo>
                <a:cubicBezTo>
                  <a:pt x="1766412" y="1582757"/>
                  <a:pt x="1763954" y="1402585"/>
                  <a:pt x="1773757" y="1222872"/>
                </a:cubicBezTo>
                <a:cubicBezTo>
                  <a:pt x="1775022" y="1199681"/>
                  <a:pt x="1791236" y="1179546"/>
                  <a:pt x="1795791" y="1156771"/>
                </a:cubicBezTo>
                <a:cubicBezTo>
                  <a:pt x="1799463" y="1138410"/>
                  <a:pt x="1803730" y="1120157"/>
                  <a:pt x="1806808" y="1101687"/>
                </a:cubicBezTo>
                <a:cubicBezTo>
                  <a:pt x="1834140" y="937700"/>
                  <a:pt x="1802877" y="1099307"/>
                  <a:pt x="1828842" y="969484"/>
                </a:cubicBezTo>
                <a:cubicBezTo>
                  <a:pt x="1825170" y="914400"/>
                  <a:pt x="1822823" y="859211"/>
                  <a:pt x="1817825" y="804231"/>
                </a:cubicBezTo>
                <a:cubicBezTo>
                  <a:pt x="1815474" y="778371"/>
                  <a:pt x="1820749" y="749020"/>
                  <a:pt x="1806808" y="727113"/>
                </a:cubicBezTo>
                <a:cubicBezTo>
                  <a:pt x="1792591" y="704772"/>
                  <a:pt x="1762741" y="697735"/>
                  <a:pt x="1740707" y="683046"/>
                </a:cubicBezTo>
                <a:lnTo>
                  <a:pt x="1641555" y="616944"/>
                </a:lnTo>
                <a:lnTo>
                  <a:pt x="1608504" y="594911"/>
                </a:lnTo>
                <a:cubicBezTo>
                  <a:pt x="1597487" y="587567"/>
                  <a:pt x="1588015" y="577064"/>
                  <a:pt x="1575454" y="572877"/>
                </a:cubicBezTo>
                <a:cubicBezTo>
                  <a:pt x="1564437" y="569205"/>
                  <a:pt x="1552790" y="567053"/>
                  <a:pt x="1542403" y="561860"/>
                </a:cubicBezTo>
                <a:cubicBezTo>
                  <a:pt x="1530560" y="555939"/>
                  <a:pt x="1521452" y="545204"/>
                  <a:pt x="1509352" y="539826"/>
                </a:cubicBezTo>
                <a:cubicBezTo>
                  <a:pt x="1445697" y="511535"/>
                  <a:pt x="1425136" y="519100"/>
                  <a:pt x="1355116" y="495759"/>
                </a:cubicBezTo>
                <a:cubicBezTo>
                  <a:pt x="1291935" y="474698"/>
                  <a:pt x="1353394" y="493667"/>
                  <a:pt x="1266981" y="473725"/>
                </a:cubicBezTo>
                <a:cubicBezTo>
                  <a:pt x="1177075" y="452977"/>
                  <a:pt x="1191652" y="455960"/>
                  <a:pt x="1112745" y="429658"/>
                </a:cubicBezTo>
                <a:lnTo>
                  <a:pt x="1046644" y="407624"/>
                </a:lnTo>
                <a:cubicBezTo>
                  <a:pt x="896455" y="388850"/>
                  <a:pt x="988065" y="398346"/>
                  <a:pt x="771222" y="385590"/>
                </a:cubicBezTo>
                <a:cubicBezTo>
                  <a:pt x="756533" y="378245"/>
                  <a:pt x="741082" y="372260"/>
                  <a:pt x="727155" y="363556"/>
                </a:cubicBezTo>
                <a:cubicBezTo>
                  <a:pt x="675167" y="331064"/>
                  <a:pt x="694843" y="329406"/>
                  <a:pt x="639020" y="308472"/>
                </a:cubicBezTo>
                <a:cubicBezTo>
                  <a:pt x="557329" y="277838"/>
                  <a:pt x="620984" y="329501"/>
                  <a:pt x="506817" y="253388"/>
                </a:cubicBezTo>
                <a:cubicBezTo>
                  <a:pt x="484783" y="238699"/>
                  <a:pt x="465838" y="217694"/>
                  <a:pt x="440716" y="209320"/>
                </a:cubicBezTo>
                <a:cubicBezTo>
                  <a:pt x="429699" y="205648"/>
                  <a:pt x="418053" y="203496"/>
                  <a:pt x="407666" y="198303"/>
                </a:cubicBezTo>
                <a:cubicBezTo>
                  <a:pt x="395823" y="192382"/>
                  <a:pt x="386458" y="182191"/>
                  <a:pt x="374615" y="176270"/>
                </a:cubicBezTo>
                <a:cubicBezTo>
                  <a:pt x="358810" y="168368"/>
                  <a:pt x="311617" y="157766"/>
                  <a:pt x="297497" y="154236"/>
                </a:cubicBezTo>
                <a:cubicBezTo>
                  <a:pt x="202785" y="91095"/>
                  <a:pt x="322612" y="166792"/>
                  <a:pt x="231396" y="121185"/>
                </a:cubicBezTo>
                <a:cubicBezTo>
                  <a:pt x="219553" y="115264"/>
                  <a:pt x="210515" y="104368"/>
                  <a:pt x="198345" y="99152"/>
                </a:cubicBezTo>
                <a:cubicBezTo>
                  <a:pt x="184428" y="93188"/>
                  <a:pt x="168781" y="92486"/>
                  <a:pt x="154278" y="88135"/>
                </a:cubicBezTo>
                <a:cubicBezTo>
                  <a:pt x="132032" y="81461"/>
                  <a:pt x="110211" y="73446"/>
                  <a:pt x="88177" y="66101"/>
                </a:cubicBezTo>
                <a:lnTo>
                  <a:pt x="55126" y="55084"/>
                </a:lnTo>
                <a:lnTo>
                  <a:pt x="22075" y="44067"/>
                </a:lnTo>
                <a:cubicBezTo>
                  <a:pt x="-1995" y="7961"/>
                  <a:pt x="42" y="24257"/>
                  <a:pt x="42" y="0"/>
                </a:cubicBezTo>
              </a:path>
            </a:pathLst>
          </a:custGeom>
          <a:noFill/>
          <a:ln w="28575">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p>
        </p:txBody>
      </p:sp>
      <p:pic>
        <p:nvPicPr>
          <p:cNvPr id="9" name="Picture 8">
            <a:extLst>
              <a:ext uri="{FF2B5EF4-FFF2-40B4-BE49-F238E27FC236}">
                <a16:creationId xmlns:a16="http://schemas.microsoft.com/office/drawing/2014/main" id="{5972E413-4362-EA0A-5B40-45228A67E24B}"/>
              </a:ext>
            </a:extLst>
          </p:cNvPr>
          <p:cNvPicPr>
            <a:picLocks noChangeAspect="1"/>
          </p:cNvPicPr>
          <p:nvPr/>
        </p:nvPicPr>
        <p:blipFill>
          <a:blip r:embed="rId2"/>
          <a:stretch>
            <a:fillRect/>
          </a:stretch>
        </p:blipFill>
        <p:spPr>
          <a:xfrm>
            <a:off x="7681012" y="1334561"/>
            <a:ext cx="2399307" cy="2399307"/>
          </a:xfrm>
          <a:prstGeom prst="rect">
            <a:avLst/>
          </a:prstGeom>
        </p:spPr>
      </p:pic>
      <p:sp>
        <p:nvSpPr>
          <p:cNvPr id="10" name="Freeform 9">
            <a:extLst>
              <a:ext uri="{FF2B5EF4-FFF2-40B4-BE49-F238E27FC236}">
                <a16:creationId xmlns:a16="http://schemas.microsoft.com/office/drawing/2014/main" id="{07456DA0-0F7D-EBEE-7D7E-665F062CCA2B}"/>
              </a:ext>
            </a:extLst>
          </p:cNvPr>
          <p:cNvSpPr/>
          <p:nvPr/>
        </p:nvSpPr>
        <p:spPr>
          <a:xfrm>
            <a:off x="8037333" y="1664645"/>
            <a:ext cx="1817783" cy="1729648"/>
          </a:xfrm>
          <a:custGeom>
            <a:avLst/>
            <a:gdLst>
              <a:gd name="csX0" fmla="*/ 1817783 w 1817783"/>
              <a:gd name="csY0" fmla="*/ 1729648 h 1729648"/>
              <a:gd name="csX1" fmla="*/ 1718631 w 1817783"/>
              <a:gd name="csY1" fmla="*/ 1597445 h 1729648"/>
              <a:gd name="csX2" fmla="*/ 1674563 w 1817783"/>
              <a:gd name="csY2" fmla="*/ 1542361 h 1729648"/>
              <a:gd name="csX3" fmla="*/ 1641513 w 1817783"/>
              <a:gd name="csY3" fmla="*/ 1509310 h 1729648"/>
              <a:gd name="csX4" fmla="*/ 1619479 w 1817783"/>
              <a:gd name="csY4" fmla="*/ 1476260 h 1729648"/>
              <a:gd name="csX5" fmla="*/ 1553378 w 1817783"/>
              <a:gd name="csY5" fmla="*/ 1388125 h 1729648"/>
              <a:gd name="csX6" fmla="*/ 1531344 w 1817783"/>
              <a:gd name="csY6" fmla="*/ 1355074 h 1729648"/>
              <a:gd name="csX7" fmla="*/ 1498294 w 1817783"/>
              <a:gd name="csY7" fmla="*/ 1322024 h 1729648"/>
              <a:gd name="csX8" fmla="*/ 1476260 w 1817783"/>
              <a:gd name="csY8" fmla="*/ 1288973 h 1729648"/>
              <a:gd name="csX9" fmla="*/ 1410159 w 1817783"/>
              <a:gd name="csY9" fmla="*/ 1222872 h 1729648"/>
              <a:gd name="csX10" fmla="*/ 1377108 w 1817783"/>
              <a:gd name="csY10" fmla="*/ 1178804 h 1729648"/>
              <a:gd name="csX11" fmla="*/ 1355074 w 1817783"/>
              <a:gd name="csY11" fmla="*/ 1145754 h 1729648"/>
              <a:gd name="csX12" fmla="*/ 1288973 w 1817783"/>
              <a:gd name="csY12" fmla="*/ 1079653 h 1729648"/>
              <a:gd name="csX13" fmla="*/ 1244906 w 1817783"/>
              <a:gd name="csY13" fmla="*/ 1046602 h 1729648"/>
              <a:gd name="csX14" fmla="*/ 1222872 w 1817783"/>
              <a:gd name="csY14" fmla="*/ 1013551 h 1729648"/>
              <a:gd name="csX15" fmla="*/ 1145754 w 1817783"/>
              <a:gd name="csY15" fmla="*/ 936433 h 1729648"/>
              <a:gd name="csX16" fmla="*/ 1057619 w 1817783"/>
              <a:gd name="csY16" fmla="*/ 859315 h 1729648"/>
              <a:gd name="csX17" fmla="*/ 1002535 w 1817783"/>
              <a:gd name="csY17" fmla="*/ 815248 h 1729648"/>
              <a:gd name="csX18" fmla="*/ 914400 w 1817783"/>
              <a:gd name="csY18" fmla="*/ 727113 h 1729648"/>
              <a:gd name="csX19" fmla="*/ 881349 w 1817783"/>
              <a:gd name="csY19" fmla="*/ 683045 h 1729648"/>
              <a:gd name="csX20" fmla="*/ 804231 w 1817783"/>
              <a:gd name="csY20" fmla="*/ 605927 h 1729648"/>
              <a:gd name="csX21" fmla="*/ 760163 w 1817783"/>
              <a:gd name="csY21" fmla="*/ 561860 h 1729648"/>
              <a:gd name="csX22" fmla="*/ 716096 w 1817783"/>
              <a:gd name="csY22" fmla="*/ 517792 h 1729648"/>
              <a:gd name="csX23" fmla="*/ 672029 w 1817783"/>
              <a:gd name="csY23" fmla="*/ 484742 h 1729648"/>
              <a:gd name="csX24" fmla="*/ 616944 w 1817783"/>
              <a:gd name="csY24" fmla="*/ 418641 h 1729648"/>
              <a:gd name="csX25" fmla="*/ 517792 w 1817783"/>
              <a:gd name="csY25" fmla="*/ 352539 h 1729648"/>
              <a:gd name="csX26" fmla="*/ 484742 w 1817783"/>
              <a:gd name="csY26" fmla="*/ 330506 h 1729648"/>
              <a:gd name="csX27" fmla="*/ 385590 w 1817783"/>
              <a:gd name="csY27" fmla="*/ 253388 h 1729648"/>
              <a:gd name="csX28" fmla="*/ 352539 w 1817783"/>
              <a:gd name="csY28" fmla="*/ 231354 h 1729648"/>
              <a:gd name="csX29" fmla="*/ 308472 w 1817783"/>
              <a:gd name="csY29" fmla="*/ 209320 h 1729648"/>
              <a:gd name="csX30" fmla="*/ 242371 w 1817783"/>
              <a:gd name="csY30" fmla="*/ 165253 h 1729648"/>
              <a:gd name="csX31" fmla="*/ 165253 w 1817783"/>
              <a:gd name="csY31" fmla="*/ 132202 h 1729648"/>
              <a:gd name="csX32" fmla="*/ 99151 w 1817783"/>
              <a:gd name="csY32" fmla="*/ 88135 h 1729648"/>
              <a:gd name="csX33" fmla="*/ 66101 w 1817783"/>
              <a:gd name="csY33" fmla="*/ 66101 h 1729648"/>
              <a:gd name="csX34" fmla="*/ 44067 w 1817783"/>
              <a:gd name="csY34" fmla="*/ 33050 h 1729648"/>
              <a:gd name="csX35" fmla="*/ 11017 w 1817783"/>
              <a:gd name="csY35" fmla="*/ 11016 h 1729648"/>
              <a:gd name="csX36" fmla="*/ 0 w 1817783"/>
              <a:gd name="csY36" fmla="*/ 0 h 17296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817783" h="1729648" extrusionOk="0">
                <a:moveTo>
                  <a:pt x="1817783" y="1729648"/>
                </a:moveTo>
                <a:cubicBezTo>
                  <a:pt x="1785211" y="1694939"/>
                  <a:pt x="1749851" y="1642325"/>
                  <a:pt x="1718631" y="1597445"/>
                </a:cubicBezTo>
                <a:cubicBezTo>
                  <a:pt x="1705538" y="1576872"/>
                  <a:pt x="1691845" y="1555545"/>
                  <a:pt x="1674563" y="1542361"/>
                </a:cubicBezTo>
                <a:cubicBezTo>
                  <a:pt x="1664379" y="1533016"/>
                  <a:pt x="1653582" y="1523986"/>
                  <a:pt x="1641513" y="1509310"/>
                </a:cubicBezTo>
                <a:cubicBezTo>
                  <a:pt x="1632264" y="1500932"/>
                  <a:pt x="1627386" y="1486690"/>
                  <a:pt x="1619479" y="1476260"/>
                </a:cubicBezTo>
                <a:cubicBezTo>
                  <a:pt x="1595010" y="1447270"/>
                  <a:pt x="1569967" y="1419789"/>
                  <a:pt x="1553378" y="1388125"/>
                </a:cubicBezTo>
                <a:cubicBezTo>
                  <a:pt x="1547115" y="1376756"/>
                  <a:pt x="1536728" y="1366326"/>
                  <a:pt x="1531344" y="1355074"/>
                </a:cubicBezTo>
                <a:cubicBezTo>
                  <a:pt x="1519637" y="1339822"/>
                  <a:pt x="1511626" y="1335542"/>
                  <a:pt x="1498294" y="1322024"/>
                </a:cubicBezTo>
                <a:cubicBezTo>
                  <a:pt x="1488498" y="1309727"/>
                  <a:pt x="1485852" y="1301350"/>
                  <a:pt x="1476260" y="1288973"/>
                </a:cubicBezTo>
                <a:cubicBezTo>
                  <a:pt x="1460290" y="1259754"/>
                  <a:pt x="1431265" y="1246861"/>
                  <a:pt x="1410159" y="1222872"/>
                </a:cubicBezTo>
                <a:cubicBezTo>
                  <a:pt x="1397668" y="1210009"/>
                  <a:pt x="1389336" y="1195703"/>
                  <a:pt x="1377108" y="1178804"/>
                </a:cubicBezTo>
                <a:cubicBezTo>
                  <a:pt x="1369471" y="1166033"/>
                  <a:pt x="1362960" y="1155146"/>
                  <a:pt x="1355074" y="1145754"/>
                </a:cubicBezTo>
                <a:cubicBezTo>
                  <a:pt x="1332795" y="1120169"/>
                  <a:pt x="1313626" y="1101735"/>
                  <a:pt x="1288973" y="1079653"/>
                </a:cubicBezTo>
                <a:cubicBezTo>
                  <a:pt x="1273791" y="1067812"/>
                  <a:pt x="1256647" y="1057696"/>
                  <a:pt x="1244906" y="1046602"/>
                </a:cubicBezTo>
                <a:cubicBezTo>
                  <a:pt x="1234670" y="1036474"/>
                  <a:pt x="1232999" y="1024036"/>
                  <a:pt x="1222872" y="1013551"/>
                </a:cubicBezTo>
                <a:cubicBezTo>
                  <a:pt x="1197224" y="984811"/>
                  <a:pt x="1169879" y="954498"/>
                  <a:pt x="1145754" y="936433"/>
                </a:cubicBezTo>
                <a:cubicBezTo>
                  <a:pt x="1041287" y="847433"/>
                  <a:pt x="1192058" y="954189"/>
                  <a:pt x="1057619" y="859315"/>
                </a:cubicBezTo>
                <a:cubicBezTo>
                  <a:pt x="1038063" y="842588"/>
                  <a:pt x="1018501" y="832305"/>
                  <a:pt x="1002535" y="815248"/>
                </a:cubicBezTo>
                <a:cubicBezTo>
                  <a:pt x="969404" y="787395"/>
                  <a:pt x="940220" y="759533"/>
                  <a:pt x="914400" y="727113"/>
                </a:cubicBezTo>
                <a:cubicBezTo>
                  <a:pt x="903034" y="710957"/>
                  <a:pt x="896975" y="696751"/>
                  <a:pt x="881349" y="683045"/>
                </a:cubicBezTo>
                <a:cubicBezTo>
                  <a:pt x="855060" y="653515"/>
                  <a:pt x="827494" y="627039"/>
                  <a:pt x="804231" y="605927"/>
                </a:cubicBezTo>
                <a:cubicBezTo>
                  <a:pt x="784551" y="589294"/>
                  <a:pt x="771938" y="569380"/>
                  <a:pt x="760163" y="561860"/>
                </a:cubicBezTo>
                <a:cubicBezTo>
                  <a:pt x="743399" y="549722"/>
                  <a:pt x="735166" y="529814"/>
                  <a:pt x="716096" y="517792"/>
                </a:cubicBezTo>
                <a:cubicBezTo>
                  <a:pt x="700451" y="507603"/>
                  <a:pt x="685719" y="492808"/>
                  <a:pt x="672029" y="484742"/>
                </a:cubicBezTo>
                <a:cubicBezTo>
                  <a:pt x="654582" y="454754"/>
                  <a:pt x="646422" y="443828"/>
                  <a:pt x="616944" y="418641"/>
                </a:cubicBezTo>
                <a:cubicBezTo>
                  <a:pt x="615139" y="416384"/>
                  <a:pt x="534002" y="362337"/>
                  <a:pt x="517792" y="352539"/>
                </a:cubicBezTo>
                <a:cubicBezTo>
                  <a:pt x="508416" y="345386"/>
                  <a:pt x="496744" y="339297"/>
                  <a:pt x="484742" y="330506"/>
                </a:cubicBezTo>
                <a:cubicBezTo>
                  <a:pt x="435372" y="280418"/>
                  <a:pt x="459347" y="309815"/>
                  <a:pt x="385590" y="253388"/>
                </a:cubicBezTo>
                <a:cubicBezTo>
                  <a:pt x="373593" y="247769"/>
                  <a:pt x="366665" y="235711"/>
                  <a:pt x="352539" y="231354"/>
                </a:cubicBezTo>
                <a:cubicBezTo>
                  <a:pt x="334927" y="226812"/>
                  <a:pt x="324681" y="216919"/>
                  <a:pt x="308472" y="209320"/>
                </a:cubicBezTo>
                <a:cubicBezTo>
                  <a:pt x="285376" y="196839"/>
                  <a:pt x="267771" y="170255"/>
                  <a:pt x="242371" y="165253"/>
                </a:cubicBezTo>
                <a:cubicBezTo>
                  <a:pt x="207287" y="153423"/>
                  <a:pt x="198115" y="153308"/>
                  <a:pt x="165253" y="132202"/>
                </a:cubicBezTo>
                <a:cubicBezTo>
                  <a:pt x="137473" y="120183"/>
                  <a:pt x="115830" y="106587"/>
                  <a:pt x="99151" y="88135"/>
                </a:cubicBezTo>
                <a:cubicBezTo>
                  <a:pt x="83863" y="75857"/>
                  <a:pt x="77640" y="72797"/>
                  <a:pt x="66101" y="66101"/>
                </a:cubicBezTo>
                <a:cubicBezTo>
                  <a:pt x="58800" y="54334"/>
                  <a:pt x="53794" y="44076"/>
                  <a:pt x="44067" y="33050"/>
                </a:cubicBezTo>
                <a:cubicBezTo>
                  <a:pt x="34122" y="25068"/>
                  <a:pt x="22272" y="20008"/>
                  <a:pt x="11017" y="11016"/>
                </a:cubicBezTo>
                <a:cubicBezTo>
                  <a:pt x="6813" y="8010"/>
                  <a:pt x="3562" y="3945"/>
                  <a:pt x="0" y="0"/>
                </a:cubicBezTo>
              </a:path>
            </a:pathLst>
          </a:custGeom>
          <a:noFill/>
          <a:ln w="28575">
            <a:solidFill>
              <a:schemeClr val="accent2"/>
            </a:solidFill>
            <a:extLst>
              <a:ext uri="{C807C97D-BFC1-408E-A445-0C87EB9F89A2}">
                <ask:lineSketchStyleProps xmlns:ask="http://schemas.microsoft.com/office/drawing/2018/sketchyshapes" sd="4277943029">
                  <a:custGeom>
                    <a:avLst/>
                    <a:gdLst>
                      <a:gd name="csX0" fmla="*/ 1817783 w 1817783"/>
                      <a:gd name="csY0" fmla="*/ 1729648 h 1729648"/>
                      <a:gd name="csX1" fmla="*/ 1718631 w 1817783"/>
                      <a:gd name="csY1" fmla="*/ 1597445 h 1729648"/>
                      <a:gd name="csX2" fmla="*/ 1674563 w 1817783"/>
                      <a:gd name="csY2" fmla="*/ 1542361 h 1729648"/>
                      <a:gd name="csX3" fmla="*/ 1641513 w 1817783"/>
                      <a:gd name="csY3" fmla="*/ 1509310 h 1729648"/>
                      <a:gd name="csX4" fmla="*/ 1619479 w 1817783"/>
                      <a:gd name="csY4" fmla="*/ 1476260 h 1729648"/>
                      <a:gd name="csX5" fmla="*/ 1553378 w 1817783"/>
                      <a:gd name="csY5" fmla="*/ 1388125 h 1729648"/>
                      <a:gd name="csX6" fmla="*/ 1531344 w 1817783"/>
                      <a:gd name="csY6" fmla="*/ 1355074 h 1729648"/>
                      <a:gd name="csX7" fmla="*/ 1498294 w 1817783"/>
                      <a:gd name="csY7" fmla="*/ 1322024 h 1729648"/>
                      <a:gd name="csX8" fmla="*/ 1476260 w 1817783"/>
                      <a:gd name="csY8" fmla="*/ 1288973 h 1729648"/>
                      <a:gd name="csX9" fmla="*/ 1410159 w 1817783"/>
                      <a:gd name="csY9" fmla="*/ 1222872 h 1729648"/>
                      <a:gd name="csX10" fmla="*/ 1377108 w 1817783"/>
                      <a:gd name="csY10" fmla="*/ 1178804 h 1729648"/>
                      <a:gd name="csX11" fmla="*/ 1355074 w 1817783"/>
                      <a:gd name="csY11" fmla="*/ 1145754 h 1729648"/>
                      <a:gd name="csX12" fmla="*/ 1288973 w 1817783"/>
                      <a:gd name="csY12" fmla="*/ 1079653 h 1729648"/>
                      <a:gd name="csX13" fmla="*/ 1244906 w 1817783"/>
                      <a:gd name="csY13" fmla="*/ 1046602 h 1729648"/>
                      <a:gd name="csX14" fmla="*/ 1222872 w 1817783"/>
                      <a:gd name="csY14" fmla="*/ 1013551 h 1729648"/>
                      <a:gd name="csX15" fmla="*/ 1145754 w 1817783"/>
                      <a:gd name="csY15" fmla="*/ 936433 h 1729648"/>
                      <a:gd name="csX16" fmla="*/ 1057619 w 1817783"/>
                      <a:gd name="csY16" fmla="*/ 859315 h 1729648"/>
                      <a:gd name="csX17" fmla="*/ 1002535 w 1817783"/>
                      <a:gd name="csY17" fmla="*/ 815248 h 1729648"/>
                      <a:gd name="csX18" fmla="*/ 914400 w 1817783"/>
                      <a:gd name="csY18" fmla="*/ 727113 h 1729648"/>
                      <a:gd name="csX19" fmla="*/ 881349 w 1817783"/>
                      <a:gd name="csY19" fmla="*/ 683045 h 1729648"/>
                      <a:gd name="csX20" fmla="*/ 804231 w 1817783"/>
                      <a:gd name="csY20" fmla="*/ 605927 h 1729648"/>
                      <a:gd name="csX21" fmla="*/ 760163 w 1817783"/>
                      <a:gd name="csY21" fmla="*/ 561860 h 1729648"/>
                      <a:gd name="csX22" fmla="*/ 716096 w 1817783"/>
                      <a:gd name="csY22" fmla="*/ 517792 h 1729648"/>
                      <a:gd name="csX23" fmla="*/ 672029 w 1817783"/>
                      <a:gd name="csY23" fmla="*/ 484742 h 1729648"/>
                      <a:gd name="csX24" fmla="*/ 616944 w 1817783"/>
                      <a:gd name="csY24" fmla="*/ 418641 h 1729648"/>
                      <a:gd name="csX25" fmla="*/ 517792 w 1817783"/>
                      <a:gd name="csY25" fmla="*/ 352539 h 1729648"/>
                      <a:gd name="csX26" fmla="*/ 484742 w 1817783"/>
                      <a:gd name="csY26" fmla="*/ 330506 h 1729648"/>
                      <a:gd name="csX27" fmla="*/ 385590 w 1817783"/>
                      <a:gd name="csY27" fmla="*/ 253388 h 1729648"/>
                      <a:gd name="csX28" fmla="*/ 352539 w 1817783"/>
                      <a:gd name="csY28" fmla="*/ 231354 h 1729648"/>
                      <a:gd name="csX29" fmla="*/ 308472 w 1817783"/>
                      <a:gd name="csY29" fmla="*/ 209320 h 1729648"/>
                      <a:gd name="csX30" fmla="*/ 242371 w 1817783"/>
                      <a:gd name="csY30" fmla="*/ 165253 h 1729648"/>
                      <a:gd name="csX31" fmla="*/ 165253 w 1817783"/>
                      <a:gd name="csY31" fmla="*/ 132202 h 1729648"/>
                      <a:gd name="csX32" fmla="*/ 99151 w 1817783"/>
                      <a:gd name="csY32" fmla="*/ 88135 h 1729648"/>
                      <a:gd name="csX33" fmla="*/ 66101 w 1817783"/>
                      <a:gd name="csY33" fmla="*/ 66101 h 1729648"/>
                      <a:gd name="csX34" fmla="*/ 44067 w 1817783"/>
                      <a:gd name="csY34" fmla="*/ 33050 h 1729648"/>
                      <a:gd name="csX35" fmla="*/ 11017 w 1817783"/>
                      <a:gd name="csY35" fmla="*/ 11016 h 1729648"/>
                      <a:gd name="csX36" fmla="*/ 0 w 1817783"/>
                      <a:gd name="csY36" fmla="*/ 0 h 17296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817783" h="1729648">
                        <a:moveTo>
                          <a:pt x="1817783" y="1729648"/>
                        </a:moveTo>
                        <a:cubicBezTo>
                          <a:pt x="1784732" y="1685580"/>
                          <a:pt x="1752092" y="1641202"/>
                          <a:pt x="1718631" y="1597445"/>
                        </a:cubicBezTo>
                        <a:cubicBezTo>
                          <a:pt x="1704347" y="1578766"/>
                          <a:pt x="1691190" y="1558988"/>
                          <a:pt x="1674563" y="1542361"/>
                        </a:cubicBezTo>
                        <a:cubicBezTo>
                          <a:pt x="1663546" y="1531344"/>
                          <a:pt x="1651487" y="1521279"/>
                          <a:pt x="1641513" y="1509310"/>
                        </a:cubicBezTo>
                        <a:cubicBezTo>
                          <a:pt x="1633037" y="1499138"/>
                          <a:pt x="1627267" y="1486968"/>
                          <a:pt x="1619479" y="1476260"/>
                        </a:cubicBezTo>
                        <a:cubicBezTo>
                          <a:pt x="1597880" y="1446561"/>
                          <a:pt x="1573748" y="1418680"/>
                          <a:pt x="1553378" y="1388125"/>
                        </a:cubicBezTo>
                        <a:cubicBezTo>
                          <a:pt x="1546033" y="1377108"/>
                          <a:pt x="1539821" y="1365246"/>
                          <a:pt x="1531344" y="1355074"/>
                        </a:cubicBezTo>
                        <a:cubicBezTo>
                          <a:pt x="1521370" y="1343105"/>
                          <a:pt x="1508268" y="1333993"/>
                          <a:pt x="1498294" y="1322024"/>
                        </a:cubicBezTo>
                        <a:cubicBezTo>
                          <a:pt x="1489817" y="1311852"/>
                          <a:pt x="1485057" y="1298869"/>
                          <a:pt x="1476260" y="1288973"/>
                        </a:cubicBezTo>
                        <a:cubicBezTo>
                          <a:pt x="1455558" y="1265683"/>
                          <a:pt x="1428855" y="1247800"/>
                          <a:pt x="1410159" y="1222872"/>
                        </a:cubicBezTo>
                        <a:cubicBezTo>
                          <a:pt x="1399142" y="1208183"/>
                          <a:pt x="1387781" y="1193745"/>
                          <a:pt x="1377108" y="1178804"/>
                        </a:cubicBezTo>
                        <a:cubicBezTo>
                          <a:pt x="1369412" y="1168030"/>
                          <a:pt x="1363871" y="1155650"/>
                          <a:pt x="1355074" y="1145754"/>
                        </a:cubicBezTo>
                        <a:cubicBezTo>
                          <a:pt x="1334372" y="1122465"/>
                          <a:pt x="1313901" y="1098349"/>
                          <a:pt x="1288973" y="1079653"/>
                        </a:cubicBezTo>
                        <a:cubicBezTo>
                          <a:pt x="1274284" y="1068636"/>
                          <a:pt x="1257889" y="1059586"/>
                          <a:pt x="1244906" y="1046602"/>
                        </a:cubicBezTo>
                        <a:cubicBezTo>
                          <a:pt x="1235543" y="1037239"/>
                          <a:pt x="1231730" y="1023393"/>
                          <a:pt x="1222872" y="1013551"/>
                        </a:cubicBezTo>
                        <a:cubicBezTo>
                          <a:pt x="1198553" y="986529"/>
                          <a:pt x="1174837" y="958245"/>
                          <a:pt x="1145754" y="936433"/>
                        </a:cubicBezTo>
                        <a:cubicBezTo>
                          <a:pt x="1044730" y="860667"/>
                          <a:pt x="1160306" y="950593"/>
                          <a:pt x="1057619" y="859315"/>
                        </a:cubicBezTo>
                        <a:cubicBezTo>
                          <a:pt x="1040045" y="843693"/>
                          <a:pt x="1019813" y="831197"/>
                          <a:pt x="1002535" y="815248"/>
                        </a:cubicBezTo>
                        <a:cubicBezTo>
                          <a:pt x="972006" y="787067"/>
                          <a:pt x="939328" y="760351"/>
                          <a:pt x="914400" y="727113"/>
                        </a:cubicBezTo>
                        <a:cubicBezTo>
                          <a:pt x="903383" y="712424"/>
                          <a:pt x="893700" y="696632"/>
                          <a:pt x="881349" y="683045"/>
                        </a:cubicBezTo>
                        <a:cubicBezTo>
                          <a:pt x="856895" y="656145"/>
                          <a:pt x="829937" y="631633"/>
                          <a:pt x="804231" y="605927"/>
                        </a:cubicBezTo>
                        <a:lnTo>
                          <a:pt x="760163" y="561860"/>
                        </a:lnTo>
                        <a:cubicBezTo>
                          <a:pt x="745474" y="547171"/>
                          <a:pt x="732715" y="530256"/>
                          <a:pt x="716096" y="517792"/>
                        </a:cubicBezTo>
                        <a:lnTo>
                          <a:pt x="672029" y="484742"/>
                        </a:lnTo>
                        <a:cubicBezTo>
                          <a:pt x="652442" y="455362"/>
                          <a:pt x="646309" y="441480"/>
                          <a:pt x="616944" y="418641"/>
                        </a:cubicBezTo>
                        <a:cubicBezTo>
                          <a:pt x="616939" y="418637"/>
                          <a:pt x="534320" y="363558"/>
                          <a:pt x="517792" y="352539"/>
                        </a:cubicBezTo>
                        <a:cubicBezTo>
                          <a:pt x="506775" y="345195"/>
                          <a:pt x="494104" y="339868"/>
                          <a:pt x="484742" y="330506"/>
                        </a:cubicBezTo>
                        <a:cubicBezTo>
                          <a:pt x="432966" y="278730"/>
                          <a:pt x="464655" y="306098"/>
                          <a:pt x="385590" y="253388"/>
                        </a:cubicBezTo>
                        <a:cubicBezTo>
                          <a:pt x="374573" y="246043"/>
                          <a:pt x="364382" y="237276"/>
                          <a:pt x="352539" y="231354"/>
                        </a:cubicBezTo>
                        <a:cubicBezTo>
                          <a:pt x="337850" y="224009"/>
                          <a:pt x="322554" y="217770"/>
                          <a:pt x="308472" y="209320"/>
                        </a:cubicBezTo>
                        <a:cubicBezTo>
                          <a:pt x="285765" y="195696"/>
                          <a:pt x="267493" y="173627"/>
                          <a:pt x="242371" y="165253"/>
                        </a:cubicBezTo>
                        <a:cubicBezTo>
                          <a:pt x="208177" y="153855"/>
                          <a:pt x="199289" y="152624"/>
                          <a:pt x="165253" y="132202"/>
                        </a:cubicBezTo>
                        <a:cubicBezTo>
                          <a:pt x="142545" y="118577"/>
                          <a:pt x="121185" y="102824"/>
                          <a:pt x="99151" y="88135"/>
                        </a:cubicBezTo>
                        <a:lnTo>
                          <a:pt x="66101" y="66101"/>
                        </a:lnTo>
                        <a:cubicBezTo>
                          <a:pt x="58756" y="55084"/>
                          <a:pt x="53430" y="42413"/>
                          <a:pt x="44067" y="33050"/>
                        </a:cubicBezTo>
                        <a:cubicBezTo>
                          <a:pt x="34705" y="23687"/>
                          <a:pt x="21609" y="18960"/>
                          <a:pt x="11017" y="11016"/>
                        </a:cubicBezTo>
                        <a:cubicBezTo>
                          <a:pt x="6862" y="7900"/>
                          <a:pt x="3672" y="3672"/>
                          <a:pt x="0" y="0"/>
                        </a:cubicBezTo>
                      </a:path>
                    </a:pathLst>
                  </a:custGeom>
                  <ask:type>
                    <ask:lineSketchFreehand/>
                  </ask:type>
                </ask:lineSketchStyleProps>
              </a:ext>
            </a:extLst>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p>
        </p:txBody>
      </p:sp>
      <p:pic>
        <p:nvPicPr>
          <p:cNvPr id="16" name="Picture 15">
            <a:extLst>
              <a:ext uri="{FF2B5EF4-FFF2-40B4-BE49-F238E27FC236}">
                <a16:creationId xmlns:a16="http://schemas.microsoft.com/office/drawing/2014/main" id="{150C8BCE-43E2-EC62-6C6D-9FEDA8AEB261}"/>
              </a:ext>
            </a:extLst>
          </p:cNvPr>
          <p:cNvPicPr>
            <a:picLocks noChangeAspect="1"/>
          </p:cNvPicPr>
          <p:nvPr/>
        </p:nvPicPr>
        <p:blipFill>
          <a:blip r:embed="rId3"/>
          <a:stretch>
            <a:fillRect/>
          </a:stretch>
        </p:blipFill>
        <p:spPr>
          <a:xfrm>
            <a:off x="986000" y="4009639"/>
            <a:ext cx="4188342" cy="2308204"/>
          </a:xfrm>
          <a:prstGeom prst="rect">
            <a:avLst/>
          </a:prstGeom>
        </p:spPr>
      </p:pic>
      <p:pic>
        <p:nvPicPr>
          <p:cNvPr id="17" name="Picture 16">
            <a:extLst>
              <a:ext uri="{FF2B5EF4-FFF2-40B4-BE49-F238E27FC236}">
                <a16:creationId xmlns:a16="http://schemas.microsoft.com/office/drawing/2014/main" id="{1288E5A2-FE61-A002-3B33-7B277A99ACB8}"/>
              </a:ext>
            </a:extLst>
          </p:cNvPr>
          <p:cNvPicPr>
            <a:picLocks noChangeAspect="1"/>
          </p:cNvPicPr>
          <p:nvPr/>
        </p:nvPicPr>
        <p:blipFill>
          <a:blip r:embed="rId3"/>
          <a:stretch>
            <a:fillRect/>
          </a:stretch>
        </p:blipFill>
        <p:spPr>
          <a:xfrm>
            <a:off x="6965273" y="4009639"/>
            <a:ext cx="4188342" cy="2308204"/>
          </a:xfrm>
          <a:prstGeom prst="rect">
            <a:avLst/>
          </a:prstGeom>
        </p:spPr>
      </p:pic>
      <p:sp>
        <p:nvSpPr>
          <p:cNvPr id="19" name="TextBox 18">
            <a:extLst>
              <a:ext uri="{FF2B5EF4-FFF2-40B4-BE49-F238E27FC236}">
                <a16:creationId xmlns:a16="http://schemas.microsoft.com/office/drawing/2014/main" id="{FEB31BEA-541C-91D4-B003-3D1A4F7AE6D5}"/>
              </a:ext>
            </a:extLst>
          </p:cNvPr>
          <p:cNvSpPr txBox="1"/>
          <p:nvPr/>
        </p:nvSpPr>
        <p:spPr>
          <a:xfrm>
            <a:off x="7196328" y="4875902"/>
            <a:ext cx="3831336" cy="892552"/>
          </a:xfrm>
          <a:prstGeom prst="rect">
            <a:avLst/>
          </a:prstGeom>
          <a:solidFill>
            <a:srgbClr val="EAEAF1"/>
          </a:solidFill>
        </p:spPr>
        <p:txBody>
          <a:bodyPr wrap="square">
            <a:spAutoFit/>
          </a:bodyPr>
          <a:lstStyle/>
          <a:p>
            <a:r>
              <a:rPr lang="en-US" sz="2600" dirty="0">
                <a:latin typeface="Bookman Old Style" panose="02050604050505020204" pitchFamily="18" charset="0"/>
              </a:rPr>
              <a:t>In an indeterministic universe…</a:t>
            </a:r>
            <a:endParaRPr lang="en-ES" sz="2600" dirty="0"/>
          </a:p>
        </p:txBody>
      </p:sp>
    </p:spTree>
    <p:extLst>
      <p:ext uri="{BB962C8B-B14F-4D97-AF65-F5344CB8AC3E}">
        <p14:creationId xmlns:p14="http://schemas.microsoft.com/office/powerpoint/2010/main" val="1102063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AI-generated content may be incorrect.">
            <a:extLst>
              <a:ext uri="{FF2B5EF4-FFF2-40B4-BE49-F238E27FC236}">
                <a16:creationId xmlns:a16="http://schemas.microsoft.com/office/drawing/2014/main" id="{CE55BDB7-2197-5D0E-5300-7E723B0A0DCB}"/>
              </a:ext>
            </a:extLst>
          </p:cNvPr>
          <p:cNvPicPr>
            <a:picLocks noChangeAspect="1"/>
          </p:cNvPicPr>
          <p:nvPr/>
        </p:nvPicPr>
        <p:blipFill>
          <a:blip r:embed="rId2"/>
          <a:stretch>
            <a:fillRect/>
          </a:stretch>
        </p:blipFill>
        <p:spPr>
          <a:xfrm>
            <a:off x="381000" y="0"/>
            <a:ext cx="11430000" cy="6858000"/>
          </a:xfrm>
          <a:prstGeom prst="rect">
            <a:avLst/>
          </a:prstGeom>
        </p:spPr>
      </p:pic>
    </p:spTree>
    <p:extLst>
      <p:ext uri="{BB962C8B-B14F-4D97-AF65-F5344CB8AC3E}">
        <p14:creationId xmlns:p14="http://schemas.microsoft.com/office/powerpoint/2010/main" val="30566860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A6D63-968A-5001-8C4C-94B47D543FBB}"/>
              </a:ext>
            </a:extLst>
          </p:cNvPr>
          <p:cNvSpPr>
            <a:spLocks noGrp="1"/>
          </p:cNvSpPr>
          <p:nvPr>
            <p:ph type="title"/>
          </p:nvPr>
        </p:nvSpPr>
        <p:spPr/>
        <p:txBody>
          <a:bodyPr/>
          <a:lstStyle/>
          <a:p>
            <a:endParaRPr lang="en-ES"/>
          </a:p>
        </p:txBody>
      </p:sp>
      <p:pic>
        <p:nvPicPr>
          <p:cNvPr id="4" name="Picture 3">
            <a:extLst>
              <a:ext uri="{FF2B5EF4-FFF2-40B4-BE49-F238E27FC236}">
                <a16:creationId xmlns:a16="http://schemas.microsoft.com/office/drawing/2014/main" id="{0CF8CD3E-EF8B-3FA1-E86B-F6F9B13A891C}"/>
              </a:ext>
            </a:extLst>
          </p:cNvPr>
          <p:cNvPicPr>
            <a:picLocks noChangeAspect="1"/>
          </p:cNvPicPr>
          <p:nvPr/>
        </p:nvPicPr>
        <p:blipFill>
          <a:blip r:embed="rId2"/>
          <a:stretch>
            <a:fillRect/>
          </a:stretch>
        </p:blipFill>
        <p:spPr>
          <a:xfrm>
            <a:off x="3022135" y="365125"/>
            <a:ext cx="6147729" cy="6147729"/>
          </a:xfrm>
          <a:prstGeom prst="rect">
            <a:avLst/>
          </a:prstGeom>
        </p:spPr>
      </p:pic>
    </p:spTree>
    <p:extLst>
      <p:ext uri="{BB962C8B-B14F-4D97-AF65-F5344CB8AC3E}">
        <p14:creationId xmlns:p14="http://schemas.microsoft.com/office/powerpoint/2010/main" val="4873274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41E9C-0D77-5FC6-E682-529467E315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5B8CC3-BDC9-4FB7-5C86-FA0CA0FBE58D}"/>
              </a:ext>
            </a:extLst>
          </p:cNvPr>
          <p:cNvSpPr>
            <a:spLocks noGrp="1"/>
          </p:cNvSpPr>
          <p:nvPr>
            <p:ph type="title"/>
          </p:nvPr>
        </p:nvSpPr>
        <p:spPr>
          <a:xfrm>
            <a:off x="838200" y="88028"/>
            <a:ext cx="10515600" cy="1325563"/>
          </a:xfrm>
        </p:spPr>
        <p:txBody>
          <a:bodyPr>
            <a:normAutofit/>
          </a:bodyPr>
          <a:lstStyle/>
          <a:p>
            <a:pPr algn="ctr"/>
            <a:r>
              <a:rPr lang="en-ES" sz="3600" dirty="0">
                <a:latin typeface="Bookman Old Style" panose="02050604050505020204" pitchFamily="18" charset="0"/>
              </a:rPr>
              <a:t>Time-resolved analyses</a:t>
            </a:r>
          </a:p>
        </p:txBody>
      </p:sp>
      <p:sp>
        <p:nvSpPr>
          <p:cNvPr id="4" name="TextBox 3">
            <a:extLst>
              <a:ext uri="{FF2B5EF4-FFF2-40B4-BE49-F238E27FC236}">
                <a16:creationId xmlns:a16="http://schemas.microsoft.com/office/drawing/2014/main" id="{3B2F6428-B642-6BFD-CFD0-BE65C007BEB9}"/>
              </a:ext>
            </a:extLst>
          </p:cNvPr>
          <p:cNvSpPr txBox="1"/>
          <p:nvPr/>
        </p:nvSpPr>
        <p:spPr>
          <a:xfrm>
            <a:off x="2656750" y="5738387"/>
            <a:ext cx="6878499" cy="830997"/>
          </a:xfrm>
          <a:prstGeom prst="rect">
            <a:avLst/>
          </a:prstGeom>
          <a:noFill/>
        </p:spPr>
        <p:txBody>
          <a:bodyPr wrap="square">
            <a:spAutoFit/>
          </a:bodyPr>
          <a:lstStyle/>
          <a:p>
            <a:r>
              <a:rPr lang="en-ES" sz="2400" dirty="0">
                <a:latin typeface="Bookman Old Style" panose="02050604050505020204" pitchFamily="18" charset="0"/>
              </a:rPr>
              <a:t>Time normalization (101 time steps)</a:t>
            </a:r>
          </a:p>
          <a:p>
            <a:r>
              <a:rPr lang="en-ES" sz="2400" dirty="0">
                <a:latin typeface="Bookman Old Style" panose="02050604050505020204" pitchFamily="18" charset="0"/>
              </a:rPr>
              <a:t>Horizontal position as dependent variable</a:t>
            </a:r>
          </a:p>
        </p:txBody>
      </p:sp>
      <p:pic>
        <p:nvPicPr>
          <p:cNvPr id="5" name="Picture 4">
            <a:extLst>
              <a:ext uri="{FF2B5EF4-FFF2-40B4-BE49-F238E27FC236}">
                <a16:creationId xmlns:a16="http://schemas.microsoft.com/office/drawing/2014/main" id="{9833C9B9-1AB6-2144-058B-6A2523CAD5BF}"/>
              </a:ext>
            </a:extLst>
          </p:cNvPr>
          <p:cNvPicPr>
            <a:picLocks noChangeAspect="1"/>
          </p:cNvPicPr>
          <p:nvPr/>
        </p:nvPicPr>
        <p:blipFill>
          <a:blip r:embed="rId2"/>
          <a:stretch>
            <a:fillRect/>
          </a:stretch>
        </p:blipFill>
        <p:spPr>
          <a:xfrm>
            <a:off x="3723771" y="1284559"/>
            <a:ext cx="4445000" cy="4445000"/>
          </a:xfrm>
          <a:prstGeom prst="rect">
            <a:avLst/>
          </a:prstGeom>
        </p:spPr>
      </p:pic>
      <p:cxnSp>
        <p:nvCxnSpPr>
          <p:cNvPr id="10" name="Straight Connector 9">
            <a:extLst>
              <a:ext uri="{FF2B5EF4-FFF2-40B4-BE49-F238E27FC236}">
                <a16:creationId xmlns:a16="http://schemas.microsoft.com/office/drawing/2014/main" id="{A7BE5F4E-CBB4-F7E0-5F10-3C3491F9B48A}"/>
              </a:ext>
            </a:extLst>
          </p:cNvPr>
          <p:cNvCxnSpPr>
            <a:cxnSpLocks/>
          </p:cNvCxnSpPr>
          <p:nvPr/>
        </p:nvCxnSpPr>
        <p:spPr>
          <a:xfrm flipV="1">
            <a:off x="5564764" y="2106827"/>
            <a:ext cx="0" cy="1173892"/>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78E1050D-464C-AF9D-E770-1DB4674B9924}"/>
              </a:ext>
            </a:extLst>
          </p:cNvPr>
          <p:cNvCxnSpPr>
            <a:cxnSpLocks/>
          </p:cNvCxnSpPr>
          <p:nvPr/>
        </p:nvCxnSpPr>
        <p:spPr>
          <a:xfrm flipV="1">
            <a:off x="5336163" y="2100851"/>
            <a:ext cx="0" cy="1173892"/>
          </a:xfrm>
          <a:prstGeom prst="line">
            <a:avLst/>
          </a:prstGeom>
          <a:ln>
            <a:solidFill>
              <a:schemeClr val="accent2">
                <a:lumMod val="7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24784702-694E-0498-D1D0-144CA0E98601}"/>
              </a:ext>
            </a:extLst>
          </p:cNvPr>
          <p:cNvCxnSpPr>
            <a:cxnSpLocks/>
          </p:cNvCxnSpPr>
          <p:nvPr/>
        </p:nvCxnSpPr>
        <p:spPr>
          <a:xfrm flipH="1" flipV="1">
            <a:off x="7053648" y="2582562"/>
            <a:ext cx="4224" cy="762618"/>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0D345657-9EEC-B9EA-FDBD-538FB3D683D3}"/>
              </a:ext>
            </a:extLst>
          </p:cNvPr>
          <p:cNvCxnSpPr>
            <a:cxnSpLocks/>
          </p:cNvCxnSpPr>
          <p:nvPr/>
        </p:nvCxnSpPr>
        <p:spPr>
          <a:xfrm flipV="1">
            <a:off x="6551243" y="2516096"/>
            <a:ext cx="0" cy="823109"/>
          </a:xfrm>
          <a:prstGeom prst="line">
            <a:avLst/>
          </a:prstGeom>
          <a:ln>
            <a:solidFill>
              <a:schemeClr val="accent2">
                <a:lumMod val="75000"/>
              </a:schemeClr>
            </a:solidFill>
            <a:prstDash val="dash"/>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238B231C-C3CB-908C-F1A4-A3D3A9F4F978}"/>
              </a:ext>
            </a:extLst>
          </p:cNvPr>
          <p:cNvSpPr/>
          <p:nvPr/>
        </p:nvSpPr>
        <p:spPr>
          <a:xfrm>
            <a:off x="4346263" y="5277480"/>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sp>
        <p:nvSpPr>
          <p:cNvPr id="20" name="Rectangle 19">
            <a:extLst>
              <a:ext uri="{FF2B5EF4-FFF2-40B4-BE49-F238E27FC236}">
                <a16:creationId xmlns:a16="http://schemas.microsoft.com/office/drawing/2014/main" id="{AC2EE27D-1C40-CD2F-00B3-37D9EFF652CD}"/>
              </a:ext>
            </a:extLst>
          </p:cNvPr>
          <p:cNvSpPr/>
          <p:nvPr/>
        </p:nvSpPr>
        <p:spPr>
          <a:xfrm>
            <a:off x="5141933" y="5282617"/>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sp>
        <p:nvSpPr>
          <p:cNvPr id="21" name="Rectangle 20">
            <a:extLst>
              <a:ext uri="{FF2B5EF4-FFF2-40B4-BE49-F238E27FC236}">
                <a16:creationId xmlns:a16="http://schemas.microsoft.com/office/drawing/2014/main" id="{15F3E3F7-108C-32A6-4F7B-37859522D8F3}"/>
              </a:ext>
            </a:extLst>
          </p:cNvPr>
          <p:cNvSpPr/>
          <p:nvPr/>
        </p:nvSpPr>
        <p:spPr>
          <a:xfrm>
            <a:off x="5926971" y="5277480"/>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sp>
        <p:nvSpPr>
          <p:cNvPr id="22" name="Rectangle 21">
            <a:extLst>
              <a:ext uri="{FF2B5EF4-FFF2-40B4-BE49-F238E27FC236}">
                <a16:creationId xmlns:a16="http://schemas.microsoft.com/office/drawing/2014/main" id="{179B32F3-A445-D0AF-D698-91B4B8957680}"/>
              </a:ext>
            </a:extLst>
          </p:cNvPr>
          <p:cNvSpPr/>
          <p:nvPr/>
        </p:nvSpPr>
        <p:spPr>
          <a:xfrm>
            <a:off x="6717871" y="5281219"/>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cxnSp>
        <p:nvCxnSpPr>
          <p:cNvPr id="27" name="Straight Arrow Connector 26">
            <a:extLst>
              <a:ext uri="{FF2B5EF4-FFF2-40B4-BE49-F238E27FC236}">
                <a16:creationId xmlns:a16="http://schemas.microsoft.com/office/drawing/2014/main" id="{D26A21FE-E7C3-14B2-98D4-A73058A8CE72}"/>
              </a:ext>
            </a:extLst>
          </p:cNvPr>
          <p:cNvCxnSpPr>
            <a:cxnSpLocks/>
          </p:cNvCxnSpPr>
          <p:nvPr/>
        </p:nvCxnSpPr>
        <p:spPr>
          <a:xfrm>
            <a:off x="5340157" y="3335211"/>
            <a:ext cx="228601" cy="0"/>
          </a:xfrm>
          <a:prstGeom prst="straightConnector1">
            <a:avLst/>
          </a:prstGeom>
          <a:ln w="6350">
            <a:tailEnd type="triangle"/>
          </a:ln>
        </p:spPr>
        <p:style>
          <a:lnRef idx="2">
            <a:schemeClr val="dk1"/>
          </a:lnRef>
          <a:fillRef idx="0">
            <a:schemeClr val="dk1"/>
          </a:fillRef>
          <a:effectRef idx="1">
            <a:schemeClr val="dk1"/>
          </a:effectRef>
          <a:fontRef idx="minor">
            <a:schemeClr val="tx1"/>
          </a:fontRef>
        </p:style>
      </p:cxnSp>
      <p:cxnSp>
        <p:nvCxnSpPr>
          <p:cNvPr id="30" name="Straight Arrow Connector 29">
            <a:extLst>
              <a:ext uri="{FF2B5EF4-FFF2-40B4-BE49-F238E27FC236}">
                <a16:creationId xmlns:a16="http://schemas.microsoft.com/office/drawing/2014/main" id="{A7F819FB-88B2-F7C0-6A32-42328600E97A}"/>
              </a:ext>
            </a:extLst>
          </p:cNvPr>
          <p:cNvCxnSpPr>
            <a:cxnSpLocks/>
          </p:cNvCxnSpPr>
          <p:nvPr/>
        </p:nvCxnSpPr>
        <p:spPr>
          <a:xfrm>
            <a:off x="6551244" y="3375807"/>
            <a:ext cx="502405" cy="0"/>
          </a:xfrm>
          <a:prstGeom prst="straightConnector1">
            <a:avLst/>
          </a:prstGeom>
          <a:ln w="6350">
            <a:tailEnd type="triangle"/>
          </a:ln>
        </p:spPr>
        <p:style>
          <a:lnRef idx="2">
            <a:schemeClr val="dk1"/>
          </a:lnRef>
          <a:fillRef idx="0">
            <a:schemeClr val="dk1"/>
          </a:fillRef>
          <a:effectRef idx="1">
            <a:schemeClr val="dk1"/>
          </a:effectRef>
          <a:fontRef idx="minor">
            <a:schemeClr val="tx1"/>
          </a:fontRef>
        </p:style>
      </p:cxnSp>
      <p:sp>
        <p:nvSpPr>
          <p:cNvPr id="32" name="TextBox 31">
            <a:extLst>
              <a:ext uri="{FF2B5EF4-FFF2-40B4-BE49-F238E27FC236}">
                <a16:creationId xmlns:a16="http://schemas.microsoft.com/office/drawing/2014/main" id="{6C863AC1-8446-1B7B-55D7-0AEAE1161BAC}"/>
              </a:ext>
            </a:extLst>
          </p:cNvPr>
          <p:cNvSpPr txBox="1"/>
          <p:nvPr/>
        </p:nvSpPr>
        <p:spPr>
          <a:xfrm>
            <a:off x="5200595" y="1941248"/>
            <a:ext cx="269626" cy="276999"/>
          </a:xfrm>
          <a:prstGeom prst="rect">
            <a:avLst/>
          </a:prstGeom>
          <a:noFill/>
        </p:spPr>
        <p:txBody>
          <a:bodyPr wrap="none" rtlCol="0">
            <a:spAutoFit/>
          </a:bodyPr>
          <a:lstStyle/>
          <a:p>
            <a:r>
              <a:rPr lang="en-ES" sz="1200" b="1" dirty="0">
                <a:solidFill>
                  <a:schemeClr val="accent2">
                    <a:lumMod val="60000"/>
                    <a:lumOff val="40000"/>
                  </a:schemeClr>
                </a:solidFill>
              </a:rPr>
              <a:t>x</a:t>
            </a:r>
          </a:p>
        </p:txBody>
      </p:sp>
      <p:sp>
        <p:nvSpPr>
          <p:cNvPr id="35" name="TextBox 34">
            <a:extLst>
              <a:ext uri="{FF2B5EF4-FFF2-40B4-BE49-F238E27FC236}">
                <a16:creationId xmlns:a16="http://schemas.microsoft.com/office/drawing/2014/main" id="{7B6C1420-4F90-F7A5-5615-71A41BD5A0E5}"/>
              </a:ext>
            </a:extLst>
          </p:cNvPr>
          <p:cNvSpPr txBox="1"/>
          <p:nvPr/>
        </p:nvSpPr>
        <p:spPr>
          <a:xfrm>
            <a:off x="6415675" y="2359295"/>
            <a:ext cx="269626" cy="276999"/>
          </a:xfrm>
          <a:prstGeom prst="rect">
            <a:avLst/>
          </a:prstGeom>
          <a:noFill/>
        </p:spPr>
        <p:txBody>
          <a:bodyPr wrap="none" rtlCol="0">
            <a:spAutoFit/>
          </a:bodyPr>
          <a:lstStyle/>
          <a:p>
            <a:r>
              <a:rPr lang="en-ES" sz="1200" b="1" dirty="0">
                <a:solidFill>
                  <a:schemeClr val="accent2">
                    <a:lumMod val="60000"/>
                    <a:lumOff val="40000"/>
                  </a:schemeClr>
                </a:solidFill>
              </a:rPr>
              <a:t>x</a:t>
            </a:r>
          </a:p>
        </p:txBody>
      </p:sp>
      <p:sp>
        <p:nvSpPr>
          <p:cNvPr id="37" name="TextBox 36">
            <a:extLst>
              <a:ext uri="{FF2B5EF4-FFF2-40B4-BE49-F238E27FC236}">
                <a16:creationId xmlns:a16="http://schemas.microsoft.com/office/drawing/2014/main" id="{4F450A0B-C30E-D2F5-664D-B0313DB8FB93}"/>
              </a:ext>
            </a:extLst>
          </p:cNvPr>
          <p:cNvSpPr txBox="1"/>
          <p:nvPr/>
        </p:nvSpPr>
        <p:spPr>
          <a:xfrm>
            <a:off x="5429951" y="1960927"/>
            <a:ext cx="269626" cy="276999"/>
          </a:xfrm>
          <a:prstGeom prst="rect">
            <a:avLst/>
          </a:prstGeom>
          <a:noFill/>
        </p:spPr>
        <p:txBody>
          <a:bodyPr wrap="none" rtlCol="0">
            <a:spAutoFit/>
          </a:bodyPr>
          <a:lstStyle/>
          <a:p>
            <a:r>
              <a:rPr lang="en-ES" sz="1200" b="1" dirty="0">
                <a:solidFill>
                  <a:schemeClr val="accent1"/>
                </a:solidFill>
              </a:rPr>
              <a:t>x</a:t>
            </a:r>
          </a:p>
        </p:txBody>
      </p:sp>
      <p:sp>
        <p:nvSpPr>
          <p:cNvPr id="38" name="TextBox 37">
            <a:extLst>
              <a:ext uri="{FF2B5EF4-FFF2-40B4-BE49-F238E27FC236}">
                <a16:creationId xmlns:a16="http://schemas.microsoft.com/office/drawing/2014/main" id="{DD723EDB-4D73-9BDF-8F3E-3F4B4F36CBA7}"/>
              </a:ext>
            </a:extLst>
          </p:cNvPr>
          <p:cNvSpPr txBox="1"/>
          <p:nvPr/>
        </p:nvSpPr>
        <p:spPr>
          <a:xfrm>
            <a:off x="6918835" y="2434766"/>
            <a:ext cx="269626" cy="276999"/>
          </a:xfrm>
          <a:prstGeom prst="rect">
            <a:avLst/>
          </a:prstGeom>
          <a:noFill/>
        </p:spPr>
        <p:txBody>
          <a:bodyPr wrap="none" rtlCol="0">
            <a:spAutoFit/>
          </a:bodyPr>
          <a:lstStyle/>
          <a:p>
            <a:r>
              <a:rPr lang="en-ES" sz="1200" b="1" dirty="0">
                <a:solidFill>
                  <a:schemeClr val="accent1"/>
                </a:solidFill>
              </a:rPr>
              <a:t>x</a:t>
            </a:r>
          </a:p>
        </p:txBody>
      </p:sp>
      <p:sp>
        <p:nvSpPr>
          <p:cNvPr id="40" name="TextBox 39">
            <a:extLst>
              <a:ext uri="{FF2B5EF4-FFF2-40B4-BE49-F238E27FC236}">
                <a16:creationId xmlns:a16="http://schemas.microsoft.com/office/drawing/2014/main" id="{77A35872-1AA3-796A-1C54-11AE0AAE4DF1}"/>
              </a:ext>
            </a:extLst>
          </p:cNvPr>
          <p:cNvSpPr txBox="1"/>
          <p:nvPr/>
        </p:nvSpPr>
        <p:spPr>
          <a:xfrm>
            <a:off x="5195410" y="3365044"/>
            <a:ext cx="502404" cy="276999"/>
          </a:xfrm>
          <a:prstGeom prst="rect">
            <a:avLst/>
          </a:prstGeom>
          <a:noFill/>
        </p:spPr>
        <p:txBody>
          <a:bodyPr wrap="square">
            <a:spAutoFit/>
          </a:bodyPr>
          <a:lstStyle/>
          <a:p>
            <a:pPr algn="ctr"/>
            <a:r>
              <a:rPr lang="en-ES" sz="1200" dirty="0"/>
              <a:t>-32</a:t>
            </a:r>
          </a:p>
        </p:txBody>
      </p:sp>
      <p:sp>
        <p:nvSpPr>
          <p:cNvPr id="41" name="TextBox 40">
            <a:extLst>
              <a:ext uri="{FF2B5EF4-FFF2-40B4-BE49-F238E27FC236}">
                <a16:creationId xmlns:a16="http://schemas.microsoft.com/office/drawing/2014/main" id="{D4539DEB-1D94-C467-D11A-C1DE0E483147}"/>
              </a:ext>
            </a:extLst>
          </p:cNvPr>
          <p:cNvSpPr txBox="1"/>
          <p:nvPr/>
        </p:nvSpPr>
        <p:spPr>
          <a:xfrm>
            <a:off x="6541768" y="3397969"/>
            <a:ext cx="502404" cy="276999"/>
          </a:xfrm>
          <a:prstGeom prst="rect">
            <a:avLst/>
          </a:prstGeom>
          <a:noFill/>
        </p:spPr>
        <p:txBody>
          <a:bodyPr wrap="square">
            <a:spAutoFit/>
          </a:bodyPr>
          <a:lstStyle/>
          <a:p>
            <a:pPr algn="ctr"/>
            <a:r>
              <a:rPr lang="en-ES" sz="1200" dirty="0"/>
              <a:t>-67</a:t>
            </a:r>
          </a:p>
        </p:txBody>
      </p:sp>
      <p:cxnSp>
        <p:nvCxnSpPr>
          <p:cNvPr id="3" name="Straight Connector 2">
            <a:extLst>
              <a:ext uri="{FF2B5EF4-FFF2-40B4-BE49-F238E27FC236}">
                <a16:creationId xmlns:a16="http://schemas.microsoft.com/office/drawing/2014/main" id="{F06E2AA7-749E-7C74-3312-51E19CFF83C6}"/>
              </a:ext>
            </a:extLst>
          </p:cNvPr>
          <p:cNvCxnSpPr>
            <a:cxnSpLocks/>
          </p:cNvCxnSpPr>
          <p:nvPr/>
        </p:nvCxnSpPr>
        <p:spPr>
          <a:xfrm flipV="1">
            <a:off x="4461041" y="1847819"/>
            <a:ext cx="0" cy="1173892"/>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055405F3-60ED-0B49-65A2-20B2A5756932}"/>
              </a:ext>
            </a:extLst>
          </p:cNvPr>
          <p:cNvCxnSpPr>
            <a:cxnSpLocks/>
          </p:cNvCxnSpPr>
          <p:nvPr/>
        </p:nvCxnSpPr>
        <p:spPr>
          <a:xfrm flipV="1">
            <a:off x="4461041" y="1847819"/>
            <a:ext cx="0" cy="1173892"/>
          </a:xfrm>
          <a:prstGeom prst="line">
            <a:avLst/>
          </a:prstGeom>
          <a:ln>
            <a:solidFill>
              <a:schemeClr val="accent2">
                <a:lumMod val="75000"/>
              </a:schemeClr>
            </a:solidFill>
            <a:prstDash val="dash"/>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8E40F67E-4ABA-D7A3-692A-0FB49105EA9E}"/>
              </a:ext>
            </a:extLst>
          </p:cNvPr>
          <p:cNvSpPr txBox="1"/>
          <p:nvPr/>
        </p:nvSpPr>
        <p:spPr>
          <a:xfrm>
            <a:off x="4220304" y="3044518"/>
            <a:ext cx="502404" cy="276999"/>
          </a:xfrm>
          <a:prstGeom prst="rect">
            <a:avLst/>
          </a:prstGeom>
          <a:noFill/>
        </p:spPr>
        <p:txBody>
          <a:bodyPr wrap="square">
            <a:spAutoFit/>
          </a:bodyPr>
          <a:lstStyle/>
          <a:p>
            <a:pPr algn="ctr"/>
            <a:r>
              <a:rPr lang="en-ES" sz="1200" dirty="0"/>
              <a:t>0</a:t>
            </a:r>
          </a:p>
        </p:txBody>
      </p:sp>
    </p:spTree>
    <p:extLst>
      <p:ext uri="{BB962C8B-B14F-4D97-AF65-F5344CB8AC3E}">
        <p14:creationId xmlns:p14="http://schemas.microsoft.com/office/powerpoint/2010/main" val="21861844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87871A-3756-7286-455F-705D460FF001}"/>
              </a:ext>
            </a:extLst>
          </p:cNvPr>
          <p:cNvSpPr>
            <a:spLocks noGrp="1"/>
          </p:cNvSpPr>
          <p:nvPr>
            <p:ph type="title"/>
          </p:nvPr>
        </p:nvSpPr>
        <p:spPr/>
        <p:txBody>
          <a:bodyPr/>
          <a:lstStyle/>
          <a:p>
            <a:endParaRPr lang="en-ES" dirty="0"/>
          </a:p>
        </p:txBody>
      </p:sp>
      <p:sp>
        <p:nvSpPr>
          <p:cNvPr id="8" name="Rectangle 7">
            <a:extLst>
              <a:ext uri="{FF2B5EF4-FFF2-40B4-BE49-F238E27FC236}">
                <a16:creationId xmlns:a16="http://schemas.microsoft.com/office/drawing/2014/main" id="{8252CAFE-5534-D132-4282-FA7848D1F715}"/>
              </a:ext>
            </a:extLst>
          </p:cNvPr>
          <p:cNvSpPr/>
          <p:nvPr/>
        </p:nvSpPr>
        <p:spPr>
          <a:xfrm>
            <a:off x="9521196" y="747078"/>
            <a:ext cx="1189736" cy="74339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p>
        </p:txBody>
      </p:sp>
      <p:pic>
        <p:nvPicPr>
          <p:cNvPr id="3" name="Picture 2">
            <a:extLst>
              <a:ext uri="{FF2B5EF4-FFF2-40B4-BE49-F238E27FC236}">
                <a16:creationId xmlns:a16="http://schemas.microsoft.com/office/drawing/2014/main" id="{9C815392-67D0-592D-9431-16E75866B7E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51333"/>
          <a:stretch>
            <a:fillRect/>
          </a:stretch>
        </p:blipFill>
        <p:spPr bwMode="auto">
          <a:xfrm>
            <a:off x="1524000" y="161925"/>
            <a:ext cx="9144000" cy="3179989"/>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A983DCD7-1ADB-D16D-C3C6-50B82FEC0C7B}"/>
              </a:ext>
            </a:extLst>
          </p:cNvPr>
          <p:cNvSpPr/>
          <p:nvPr/>
        </p:nvSpPr>
        <p:spPr>
          <a:xfrm>
            <a:off x="6727181" y="543804"/>
            <a:ext cx="3645257" cy="250419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p>
        </p:txBody>
      </p:sp>
      <p:sp>
        <p:nvSpPr>
          <p:cNvPr id="11" name="TextBox 10">
            <a:extLst>
              <a:ext uri="{FF2B5EF4-FFF2-40B4-BE49-F238E27FC236}">
                <a16:creationId xmlns:a16="http://schemas.microsoft.com/office/drawing/2014/main" id="{D28A55D8-D9D2-91E6-EAB9-3C2E6A4B90E8}"/>
              </a:ext>
            </a:extLst>
          </p:cNvPr>
          <p:cNvSpPr txBox="1"/>
          <p:nvPr/>
        </p:nvSpPr>
        <p:spPr>
          <a:xfrm>
            <a:off x="4288241" y="661472"/>
            <a:ext cx="1931581" cy="369332"/>
          </a:xfrm>
          <a:prstGeom prst="rect">
            <a:avLst/>
          </a:prstGeom>
          <a:noFill/>
        </p:spPr>
        <p:txBody>
          <a:bodyPr wrap="square">
            <a:spAutoFit/>
          </a:bodyPr>
          <a:lstStyle/>
          <a:p>
            <a:pPr algn="ctr"/>
            <a:r>
              <a:rPr lang="es-ES" dirty="0"/>
              <a:t>52</a:t>
            </a:r>
            <a:r>
              <a:rPr lang="es-ES" baseline="30000" dirty="0"/>
              <a:t>nd</a:t>
            </a:r>
            <a:r>
              <a:rPr lang="es-ES" dirty="0"/>
              <a:t> – 95</a:t>
            </a:r>
            <a:r>
              <a:rPr lang="es-ES" baseline="30000" dirty="0"/>
              <a:t>th</a:t>
            </a:r>
            <a:r>
              <a:rPr lang="es-ES" dirty="0"/>
              <a:t> </a:t>
            </a:r>
            <a:endParaRPr lang="en-ES" dirty="0"/>
          </a:p>
        </p:txBody>
      </p:sp>
      <p:sp>
        <p:nvSpPr>
          <p:cNvPr id="12" name="Rectangle 11">
            <a:extLst>
              <a:ext uri="{FF2B5EF4-FFF2-40B4-BE49-F238E27FC236}">
                <a16:creationId xmlns:a16="http://schemas.microsoft.com/office/drawing/2014/main" id="{C535BDDF-5DD3-68DA-9CC3-0D5A1BE9377B}"/>
              </a:ext>
            </a:extLst>
          </p:cNvPr>
          <p:cNvSpPr/>
          <p:nvPr/>
        </p:nvSpPr>
        <p:spPr>
          <a:xfrm>
            <a:off x="2500263" y="543804"/>
            <a:ext cx="3608616" cy="250419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p>
        </p:txBody>
      </p:sp>
      <p:sp>
        <p:nvSpPr>
          <p:cNvPr id="13" name="TextBox 12">
            <a:extLst>
              <a:ext uri="{FF2B5EF4-FFF2-40B4-BE49-F238E27FC236}">
                <a16:creationId xmlns:a16="http://schemas.microsoft.com/office/drawing/2014/main" id="{F7474EB9-E667-ED48-5784-D190E69874A0}"/>
              </a:ext>
            </a:extLst>
          </p:cNvPr>
          <p:cNvSpPr txBox="1"/>
          <p:nvPr/>
        </p:nvSpPr>
        <p:spPr>
          <a:xfrm>
            <a:off x="2954779" y="4244550"/>
            <a:ext cx="6530086" cy="369332"/>
          </a:xfrm>
          <a:prstGeom prst="rect">
            <a:avLst/>
          </a:prstGeom>
          <a:noFill/>
        </p:spPr>
        <p:txBody>
          <a:bodyPr wrap="square">
            <a:spAutoFit/>
          </a:bodyPr>
          <a:lstStyle/>
          <a:p>
            <a:r>
              <a:rPr lang="en-GB" i="1" dirty="0">
                <a:latin typeface="Bookman Old Style" panose="02050604050505020204" pitchFamily="18" charset="0"/>
              </a:rPr>
              <a:t>p</a:t>
            </a:r>
            <a:r>
              <a:rPr lang="en-ES" i="1" dirty="0">
                <a:latin typeface="Bookman Old Style" panose="02050604050505020204" pitchFamily="18" charset="0"/>
              </a:rPr>
              <a:t>osition = a * step + b * original + </a:t>
            </a:r>
            <a:r>
              <a:rPr lang="en-ES" b="1" i="1" dirty="0">
                <a:latin typeface="Bookman Old Style" panose="02050604050505020204" pitchFamily="18" charset="0"/>
              </a:rPr>
              <a:t>c * step * original</a:t>
            </a:r>
          </a:p>
        </p:txBody>
      </p:sp>
    </p:spTree>
    <p:extLst>
      <p:ext uri="{BB962C8B-B14F-4D97-AF65-F5344CB8AC3E}">
        <p14:creationId xmlns:p14="http://schemas.microsoft.com/office/powerpoint/2010/main" val="1287950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8B918-75CD-64FA-8CD0-B91E9A69D0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F2B2AE-26B2-103F-0A0E-FD67DCE4EC04}"/>
              </a:ext>
            </a:extLst>
          </p:cNvPr>
          <p:cNvSpPr>
            <a:spLocks noGrp="1"/>
          </p:cNvSpPr>
          <p:nvPr>
            <p:ph type="title"/>
          </p:nvPr>
        </p:nvSpPr>
        <p:spPr/>
        <p:txBody>
          <a:bodyPr/>
          <a:lstStyle/>
          <a:p>
            <a:endParaRPr lang="en-ES" dirty="0"/>
          </a:p>
        </p:txBody>
      </p:sp>
      <p:sp>
        <p:nvSpPr>
          <p:cNvPr id="6" name="TextBox 5">
            <a:extLst>
              <a:ext uri="{FF2B5EF4-FFF2-40B4-BE49-F238E27FC236}">
                <a16:creationId xmlns:a16="http://schemas.microsoft.com/office/drawing/2014/main" id="{9F9E1A6D-A43E-C65F-F5F8-D20DFEBDD5B6}"/>
              </a:ext>
            </a:extLst>
          </p:cNvPr>
          <p:cNvSpPr txBox="1"/>
          <p:nvPr/>
        </p:nvSpPr>
        <p:spPr>
          <a:xfrm>
            <a:off x="2954779" y="4244550"/>
            <a:ext cx="6530086" cy="369332"/>
          </a:xfrm>
          <a:prstGeom prst="rect">
            <a:avLst/>
          </a:prstGeom>
          <a:noFill/>
        </p:spPr>
        <p:txBody>
          <a:bodyPr wrap="square">
            <a:spAutoFit/>
          </a:bodyPr>
          <a:lstStyle/>
          <a:p>
            <a:r>
              <a:rPr lang="en-GB" i="1" dirty="0">
                <a:latin typeface="Bookman Old Style" panose="02050604050505020204" pitchFamily="18" charset="0"/>
              </a:rPr>
              <a:t>p</a:t>
            </a:r>
            <a:r>
              <a:rPr lang="en-ES" i="1" dirty="0">
                <a:latin typeface="Bookman Old Style" panose="02050604050505020204" pitchFamily="18" charset="0"/>
              </a:rPr>
              <a:t>osition = a * step + b * original + </a:t>
            </a:r>
            <a:r>
              <a:rPr lang="en-ES" b="1" i="1" dirty="0">
                <a:solidFill>
                  <a:srgbClr val="C26D7E"/>
                </a:solidFill>
                <a:latin typeface="Bookman Old Style" panose="02050604050505020204" pitchFamily="18" charset="0"/>
              </a:rPr>
              <a:t>c * step * original</a:t>
            </a:r>
          </a:p>
        </p:txBody>
      </p:sp>
      <p:sp>
        <p:nvSpPr>
          <p:cNvPr id="8" name="Rectangle 7">
            <a:extLst>
              <a:ext uri="{FF2B5EF4-FFF2-40B4-BE49-F238E27FC236}">
                <a16:creationId xmlns:a16="http://schemas.microsoft.com/office/drawing/2014/main" id="{8A620A86-458B-09D5-85F2-D4B3C17BD1D1}"/>
              </a:ext>
            </a:extLst>
          </p:cNvPr>
          <p:cNvSpPr/>
          <p:nvPr/>
        </p:nvSpPr>
        <p:spPr>
          <a:xfrm>
            <a:off x="9521196" y="747078"/>
            <a:ext cx="1189736" cy="74339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p>
        </p:txBody>
      </p:sp>
      <p:pic>
        <p:nvPicPr>
          <p:cNvPr id="3" name="Picture 2">
            <a:extLst>
              <a:ext uri="{FF2B5EF4-FFF2-40B4-BE49-F238E27FC236}">
                <a16:creationId xmlns:a16="http://schemas.microsoft.com/office/drawing/2014/main" id="{FD15F8EE-DC6F-EC3B-AD08-1E13BF45F95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51333"/>
          <a:stretch>
            <a:fillRect/>
          </a:stretch>
        </p:blipFill>
        <p:spPr bwMode="auto">
          <a:xfrm>
            <a:off x="1524000" y="161925"/>
            <a:ext cx="9144000" cy="3179989"/>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62FC4A14-C163-F583-DFD0-3C6004E0D95E}"/>
              </a:ext>
            </a:extLst>
          </p:cNvPr>
          <p:cNvSpPr/>
          <p:nvPr/>
        </p:nvSpPr>
        <p:spPr>
          <a:xfrm>
            <a:off x="6727181" y="543804"/>
            <a:ext cx="3645257" cy="250419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p>
        </p:txBody>
      </p:sp>
      <p:sp>
        <p:nvSpPr>
          <p:cNvPr id="11" name="TextBox 10">
            <a:extLst>
              <a:ext uri="{FF2B5EF4-FFF2-40B4-BE49-F238E27FC236}">
                <a16:creationId xmlns:a16="http://schemas.microsoft.com/office/drawing/2014/main" id="{AF9E8FFF-A9DD-AB8A-A6EF-B7F362EC7281}"/>
              </a:ext>
            </a:extLst>
          </p:cNvPr>
          <p:cNvSpPr txBox="1"/>
          <p:nvPr/>
        </p:nvSpPr>
        <p:spPr>
          <a:xfrm>
            <a:off x="4288241" y="661472"/>
            <a:ext cx="1931581" cy="369332"/>
          </a:xfrm>
          <a:prstGeom prst="rect">
            <a:avLst/>
          </a:prstGeom>
          <a:noFill/>
        </p:spPr>
        <p:txBody>
          <a:bodyPr wrap="square">
            <a:spAutoFit/>
          </a:bodyPr>
          <a:lstStyle/>
          <a:p>
            <a:pPr algn="ctr"/>
            <a:r>
              <a:rPr lang="es-ES" dirty="0">
                <a:latin typeface="Bookman Old Style" panose="02050604050505020204" pitchFamily="18" charset="0"/>
              </a:rPr>
              <a:t>52</a:t>
            </a:r>
            <a:r>
              <a:rPr lang="es-ES" baseline="30000" dirty="0">
                <a:latin typeface="Bookman Old Style" panose="02050604050505020204" pitchFamily="18" charset="0"/>
              </a:rPr>
              <a:t>nd</a:t>
            </a:r>
            <a:r>
              <a:rPr lang="es-ES" dirty="0">
                <a:latin typeface="Bookman Old Style" panose="02050604050505020204" pitchFamily="18" charset="0"/>
              </a:rPr>
              <a:t> – 95</a:t>
            </a:r>
            <a:r>
              <a:rPr lang="es-ES" baseline="30000" dirty="0">
                <a:latin typeface="Bookman Old Style" panose="02050604050505020204" pitchFamily="18" charset="0"/>
              </a:rPr>
              <a:t>th</a:t>
            </a:r>
            <a:r>
              <a:rPr lang="es-ES" dirty="0">
                <a:latin typeface="Bookman Old Style" panose="02050604050505020204" pitchFamily="18" charset="0"/>
              </a:rPr>
              <a:t> </a:t>
            </a:r>
            <a:endParaRPr lang="en-ES" dirty="0">
              <a:latin typeface="Bookman Old Style" panose="02050604050505020204" pitchFamily="18" charset="0"/>
            </a:endParaRPr>
          </a:p>
        </p:txBody>
      </p:sp>
      <p:sp>
        <p:nvSpPr>
          <p:cNvPr id="4" name="TextBox 3">
            <a:extLst>
              <a:ext uri="{FF2B5EF4-FFF2-40B4-BE49-F238E27FC236}">
                <a16:creationId xmlns:a16="http://schemas.microsoft.com/office/drawing/2014/main" id="{FC47A5B1-DF06-5466-D6DC-FB1EFFC0438B}"/>
              </a:ext>
            </a:extLst>
          </p:cNvPr>
          <p:cNvSpPr txBox="1"/>
          <p:nvPr/>
        </p:nvSpPr>
        <p:spPr>
          <a:xfrm>
            <a:off x="1524000" y="4936700"/>
            <a:ext cx="9144000" cy="369332"/>
          </a:xfrm>
          <a:prstGeom prst="rect">
            <a:avLst/>
          </a:prstGeom>
          <a:noFill/>
        </p:spPr>
        <p:txBody>
          <a:bodyPr wrap="square">
            <a:spAutoFit/>
          </a:bodyPr>
          <a:lstStyle/>
          <a:p>
            <a:r>
              <a:rPr lang="en-GB" i="1" dirty="0">
                <a:latin typeface="Bookman Old Style" panose="02050604050505020204" pitchFamily="18" charset="0"/>
              </a:rPr>
              <a:t>p</a:t>
            </a:r>
            <a:r>
              <a:rPr lang="en-ES" i="1" dirty="0">
                <a:latin typeface="Bookman Old Style" panose="02050604050505020204" pitchFamily="18" charset="0"/>
              </a:rPr>
              <a:t>osition = a * step + b * popularity-opposite + </a:t>
            </a:r>
            <a:r>
              <a:rPr lang="en-ES" b="1" i="1" dirty="0">
                <a:latin typeface="Bookman Old Style" panose="02050604050505020204" pitchFamily="18" charset="0"/>
              </a:rPr>
              <a:t>c * step * popularity-opposite</a:t>
            </a:r>
          </a:p>
        </p:txBody>
      </p:sp>
    </p:spTree>
    <p:extLst>
      <p:ext uri="{BB962C8B-B14F-4D97-AF65-F5344CB8AC3E}">
        <p14:creationId xmlns:p14="http://schemas.microsoft.com/office/powerpoint/2010/main" val="22277425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0429A-1D92-0627-72F4-9F2FDCFFAA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3FE7F2-3373-BDD0-CFED-8CF1F4DBA361}"/>
              </a:ext>
            </a:extLst>
          </p:cNvPr>
          <p:cNvSpPr>
            <a:spLocks noGrp="1"/>
          </p:cNvSpPr>
          <p:nvPr>
            <p:ph type="title"/>
          </p:nvPr>
        </p:nvSpPr>
        <p:spPr/>
        <p:txBody>
          <a:bodyPr/>
          <a:lstStyle/>
          <a:p>
            <a:endParaRPr lang="en-ES" dirty="0"/>
          </a:p>
        </p:txBody>
      </p:sp>
      <p:sp>
        <p:nvSpPr>
          <p:cNvPr id="6" name="TextBox 5">
            <a:extLst>
              <a:ext uri="{FF2B5EF4-FFF2-40B4-BE49-F238E27FC236}">
                <a16:creationId xmlns:a16="http://schemas.microsoft.com/office/drawing/2014/main" id="{E4C7225F-8C1F-4F41-BBBF-4FF38164D924}"/>
              </a:ext>
            </a:extLst>
          </p:cNvPr>
          <p:cNvSpPr txBox="1"/>
          <p:nvPr/>
        </p:nvSpPr>
        <p:spPr>
          <a:xfrm>
            <a:off x="2954779" y="4244550"/>
            <a:ext cx="6530086" cy="369332"/>
          </a:xfrm>
          <a:prstGeom prst="rect">
            <a:avLst/>
          </a:prstGeom>
          <a:noFill/>
        </p:spPr>
        <p:txBody>
          <a:bodyPr wrap="square">
            <a:spAutoFit/>
          </a:bodyPr>
          <a:lstStyle/>
          <a:p>
            <a:r>
              <a:rPr lang="en-GB" i="1" dirty="0">
                <a:latin typeface="Bookman Old Style" panose="02050604050505020204" pitchFamily="18" charset="0"/>
              </a:rPr>
              <a:t>p</a:t>
            </a:r>
            <a:r>
              <a:rPr lang="en-ES" i="1" dirty="0">
                <a:latin typeface="Bookman Old Style" panose="02050604050505020204" pitchFamily="18" charset="0"/>
              </a:rPr>
              <a:t>osition = a * step + b * original + </a:t>
            </a:r>
            <a:r>
              <a:rPr lang="en-ES" b="1" i="1" dirty="0">
                <a:solidFill>
                  <a:srgbClr val="C26D7E"/>
                </a:solidFill>
                <a:latin typeface="Bookman Old Style" panose="02050604050505020204" pitchFamily="18" charset="0"/>
              </a:rPr>
              <a:t>c * step * original</a:t>
            </a:r>
          </a:p>
        </p:txBody>
      </p:sp>
      <p:sp>
        <p:nvSpPr>
          <p:cNvPr id="8" name="Rectangle 7">
            <a:extLst>
              <a:ext uri="{FF2B5EF4-FFF2-40B4-BE49-F238E27FC236}">
                <a16:creationId xmlns:a16="http://schemas.microsoft.com/office/drawing/2014/main" id="{E9A176A3-9805-7CCD-47E2-BBE897879ECF}"/>
              </a:ext>
            </a:extLst>
          </p:cNvPr>
          <p:cNvSpPr/>
          <p:nvPr/>
        </p:nvSpPr>
        <p:spPr>
          <a:xfrm>
            <a:off x="9521196" y="747078"/>
            <a:ext cx="1189736" cy="74339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p>
        </p:txBody>
      </p:sp>
      <p:pic>
        <p:nvPicPr>
          <p:cNvPr id="3" name="Picture 2">
            <a:extLst>
              <a:ext uri="{FF2B5EF4-FFF2-40B4-BE49-F238E27FC236}">
                <a16:creationId xmlns:a16="http://schemas.microsoft.com/office/drawing/2014/main" id="{76B22E51-944A-BA1A-2D00-6F84B74A0C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51333"/>
          <a:stretch>
            <a:fillRect/>
          </a:stretch>
        </p:blipFill>
        <p:spPr bwMode="auto">
          <a:xfrm>
            <a:off x="1524000" y="161925"/>
            <a:ext cx="9144000" cy="3179989"/>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045DC9C2-7801-2FD2-B0A7-0AF4E6B4B8C7}"/>
              </a:ext>
            </a:extLst>
          </p:cNvPr>
          <p:cNvSpPr txBox="1"/>
          <p:nvPr/>
        </p:nvSpPr>
        <p:spPr>
          <a:xfrm>
            <a:off x="4288241" y="661472"/>
            <a:ext cx="1931581" cy="369332"/>
          </a:xfrm>
          <a:prstGeom prst="rect">
            <a:avLst/>
          </a:prstGeom>
          <a:noFill/>
        </p:spPr>
        <p:txBody>
          <a:bodyPr wrap="square">
            <a:spAutoFit/>
          </a:bodyPr>
          <a:lstStyle/>
          <a:p>
            <a:pPr algn="ctr"/>
            <a:r>
              <a:rPr lang="es-ES" dirty="0">
                <a:latin typeface="Bookman Old Style" panose="02050604050505020204" pitchFamily="18" charset="0"/>
              </a:rPr>
              <a:t>52</a:t>
            </a:r>
            <a:r>
              <a:rPr lang="es-ES" baseline="30000" dirty="0">
                <a:latin typeface="Bookman Old Style" panose="02050604050505020204" pitchFamily="18" charset="0"/>
              </a:rPr>
              <a:t>nd</a:t>
            </a:r>
            <a:r>
              <a:rPr lang="es-ES" dirty="0">
                <a:latin typeface="Bookman Old Style" panose="02050604050505020204" pitchFamily="18" charset="0"/>
              </a:rPr>
              <a:t> – 95</a:t>
            </a:r>
            <a:r>
              <a:rPr lang="es-ES" baseline="30000" dirty="0">
                <a:latin typeface="Bookman Old Style" panose="02050604050505020204" pitchFamily="18" charset="0"/>
              </a:rPr>
              <a:t>th</a:t>
            </a:r>
            <a:r>
              <a:rPr lang="es-ES" dirty="0">
                <a:latin typeface="Bookman Old Style" panose="02050604050505020204" pitchFamily="18" charset="0"/>
              </a:rPr>
              <a:t> </a:t>
            </a:r>
            <a:endParaRPr lang="en-ES" dirty="0">
              <a:latin typeface="Bookman Old Style" panose="02050604050505020204" pitchFamily="18" charset="0"/>
            </a:endParaRPr>
          </a:p>
        </p:txBody>
      </p:sp>
      <p:sp>
        <p:nvSpPr>
          <p:cNvPr id="4" name="TextBox 3">
            <a:extLst>
              <a:ext uri="{FF2B5EF4-FFF2-40B4-BE49-F238E27FC236}">
                <a16:creationId xmlns:a16="http://schemas.microsoft.com/office/drawing/2014/main" id="{DFFD53FF-BE75-1D8C-07BF-3EDFBF23399A}"/>
              </a:ext>
            </a:extLst>
          </p:cNvPr>
          <p:cNvSpPr txBox="1"/>
          <p:nvPr/>
        </p:nvSpPr>
        <p:spPr>
          <a:xfrm>
            <a:off x="1524000" y="4936700"/>
            <a:ext cx="9144000" cy="369332"/>
          </a:xfrm>
          <a:prstGeom prst="rect">
            <a:avLst/>
          </a:prstGeom>
          <a:noFill/>
        </p:spPr>
        <p:txBody>
          <a:bodyPr wrap="square">
            <a:spAutoFit/>
          </a:bodyPr>
          <a:lstStyle/>
          <a:p>
            <a:r>
              <a:rPr lang="en-GB" i="1" dirty="0">
                <a:latin typeface="Bookman Old Style" panose="02050604050505020204" pitchFamily="18" charset="0"/>
              </a:rPr>
              <a:t>p</a:t>
            </a:r>
            <a:r>
              <a:rPr lang="en-ES" i="1" dirty="0">
                <a:latin typeface="Bookman Old Style" panose="02050604050505020204" pitchFamily="18" charset="0"/>
              </a:rPr>
              <a:t>osition = a * step + b * popularity-opposite + </a:t>
            </a:r>
            <a:r>
              <a:rPr lang="en-ES" b="1" i="1" dirty="0">
                <a:latin typeface="Bookman Old Style" panose="02050604050505020204" pitchFamily="18" charset="0"/>
              </a:rPr>
              <a:t>c * step * popularity-opposite</a:t>
            </a:r>
          </a:p>
        </p:txBody>
      </p:sp>
      <p:sp>
        <p:nvSpPr>
          <p:cNvPr id="7" name="TextBox 6">
            <a:extLst>
              <a:ext uri="{FF2B5EF4-FFF2-40B4-BE49-F238E27FC236}">
                <a16:creationId xmlns:a16="http://schemas.microsoft.com/office/drawing/2014/main" id="{9ADBEA51-282E-6519-65E3-E0750D4992B1}"/>
              </a:ext>
            </a:extLst>
          </p:cNvPr>
          <p:cNvSpPr txBox="1"/>
          <p:nvPr/>
        </p:nvSpPr>
        <p:spPr>
          <a:xfrm>
            <a:off x="8279220" y="661472"/>
            <a:ext cx="1931581" cy="369332"/>
          </a:xfrm>
          <a:prstGeom prst="rect">
            <a:avLst/>
          </a:prstGeom>
          <a:noFill/>
        </p:spPr>
        <p:txBody>
          <a:bodyPr wrap="square">
            <a:spAutoFit/>
          </a:bodyPr>
          <a:lstStyle/>
          <a:p>
            <a:pPr algn="ctr"/>
            <a:r>
              <a:rPr lang="es-ES" dirty="0">
                <a:latin typeface="Bookman Old Style" panose="02050604050505020204" pitchFamily="18" charset="0"/>
              </a:rPr>
              <a:t>43</a:t>
            </a:r>
            <a:r>
              <a:rPr lang="es-ES" baseline="30000" dirty="0">
                <a:latin typeface="Bookman Old Style" panose="02050604050505020204" pitchFamily="18" charset="0"/>
              </a:rPr>
              <a:t>rd</a:t>
            </a:r>
            <a:r>
              <a:rPr lang="es-ES" dirty="0">
                <a:latin typeface="Bookman Old Style" panose="02050604050505020204" pitchFamily="18" charset="0"/>
              </a:rPr>
              <a:t> – 95</a:t>
            </a:r>
            <a:r>
              <a:rPr lang="es-ES" baseline="30000" dirty="0">
                <a:latin typeface="Bookman Old Style" panose="02050604050505020204" pitchFamily="18" charset="0"/>
              </a:rPr>
              <a:t>th</a:t>
            </a:r>
            <a:r>
              <a:rPr lang="es-ES" dirty="0">
                <a:latin typeface="Bookman Old Style" panose="02050604050505020204" pitchFamily="18" charset="0"/>
              </a:rPr>
              <a:t> </a:t>
            </a:r>
            <a:endParaRPr lang="en-ES" dirty="0">
              <a:latin typeface="Bookman Old Style" panose="02050604050505020204" pitchFamily="18" charset="0"/>
            </a:endParaRPr>
          </a:p>
        </p:txBody>
      </p:sp>
    </p:spTree>
    <p:extLst>
      <p:ext uri="{BB962C8B-B14F-4D97-AF65-F5344CB8AC3E}">
        <p14:creationId xmlns:p14="http://schemas.microsoft.com/office/powerpoint/2010/main" val="1391480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5CB2C-D8D5-6AD8-4497-FBB8744BB6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AF99CD-6D6E-1D77-0494-6F6ED09C00FC}"/>
              </a:ext>
            </a:extLst>
          </p:cNvPr>
          <p:cNvSpPr>
            <a:spLocks noGrp="1"/>
          </p:cNvSpPr>
          <p:nvPr>
            <p:ph type="title"/>
          </p:nvPr>
        </p:nvSpPr>
        <p:spPr/>
        <p:txBody>
          <a:bodyPr/>
          <a:lstStyle/>
          <a:p>
            <a:endParaRPr lang="en-ES" dirty="0"/>
          </a:p>
        </p:txBody>
      </p:sp>
      <p:sp>
        <p:nvSpPr>
          <p:cNvPr id="6" name="TextBox 5">
            <a:extLst>
              <a:ext uri="{FF2B5EF4-FFF2-40B4-BE49-F238E27FC236}">
                <a16:creationId xmlns:a16="http://schemas.microsoft.com/office/drawing/2014/main" id="{5C12DFF3-E708-739B-8E56-C11CEF1F0D53}"/>
              </a:ext>
            </a:extLst>
          </p:cNvPr>
          <p:cNvSpPr txBox="1"/>
          <p:nvPr/>
        </p:nvSpPr>
        <p:spPr>
          <a:xfrm>
            <a:off x="3408699" y="6015474"/>
            <a:ext cx="6530086" cy="369332"/>
          </a:xfrm>
          <a:prstGeom prst="rect">
            <a:avLst/>
          </a:prstGeom>
          <a:noFill/>
        </p:spPr>
        <p:txBody>
          <a:bodyPr wrap="square">
            <a:spAutoFit/>
          </a:bodyPr>
          <a:lstStyle/>
          <a:p>
            <a:r>
              <a:rPr lang="en-GB" i="1" dirty="0">
                <a:latin typeface="Bookman Old Style" panose="02050604050505020204" pitchFamily="18" charset="0"/>
              </a:rPr>
              <a:t>p</a:t>
            </a:r>
            <a:r>
              <a:rPr lang="en-ES" i="1" dirty="0">
                <a:latin typeface="Bookman Old Style" panose="02050604050505020204" pitchFamily="18" charset="0"/>
              </a:rPr>
              <a:t>osition = a * step + b * original + </a:t>
            </a:r>
            <a:r>
              <a:rPr lang="en-ES" b="1" i="1" dirty="0">
                <a:latin typeface="Bookman Old Style" panose="02050604050505020204" pitchFamily="18" charset="0"/>
              </a:rPr>
              <a:t>c * step * original</a:t>
            </a:r>
          </a:p>
        </p:txBody>
      </p:sp>
      <p:sp>
        <p:nvSpPr>
          <p:cNvPr id="8" name="Rectangle 7">
            <a:extLst>
              <a:ext uri="{FF2B5EF4-FFF2-40B4-BE49-F238E27FC236}">
                <a16:creationId xmlns:a16="http://schemas.microsoft.com/office/drawing/2014/main" id="{6E40D502-66F9-5E9A-86D7-7AAEEAE91A66}"/>
              </a:ext>
            </a:extLst>
          </p:cNvPr>
          <p:cNvSpPr/>
          <p:nvPr/>
        </p:nvSpPr>
        <p:spPr>
          <a:xfrm>
            <a:off x="9521196" y="747078"/>
            <a:ext cx="1189736" cy="74339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p>
        </p:txBody>
      </p:sp>
      <p:pic>
        <p:nvPicPr>
          <p:cNvPr id="3" name="Picture 2">
            <a:extLst>
              <a:ext uri="{FF2B5EF4-FFF2-40B4-BE49-F238E27FC236}">
                <a16:creationId xmlns:a16="http://schemas.microsoft.com/office/drawing/2014/main" id="{776FA5E1-5DBA-9E81-8400-B124A49DFA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161925"/>
            <a:ext cx="9144000" cy="653415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E64456A1-A293-6CB6-81F2-96134A294F01}"/>
              </a:ext>
            </a:extLst>
          </p:cNvPr>
          <p:cNvSpPr txBox="1"/>
          <p:nvPr/>
        </p:nvSpPr>
        <p:spPr>
          <a:xfrm>
            <a:off x="4288241" y="661472"/>
            <a:ext cx="1931581" cy="369332"/>
          </a:xfrm>
          <a:prstGeom prst="rect">
            <a:avLst/>
          </a:prstGeom>
          <a:noFill/>
        </p:spPr>
        <p:txBody>
          <a:bodyPr wrap="square">
            <a:spAutoFit/>
          </a:bodyPr>
          <a:lstStyle/>
          <a:p>
            <a:pPr algn="ctr"/>
            <a:r>
              <a:rPr lang="es-ES" dirty="0">
                <a:latin typeface="Bookman Old Style" panose="02050604050505020204" pitchFamily="18" charset="0"/>
              </a:rPr>
              <a:t>52</a:t>
            </a:r>
            <a:r>
              <a:rPr lang="es-ES" baseline="30000" dirty="0">
                <a:latin typeface="Bookman Old Style" panose="02050604050505020204" pitchFamily="18" charset="0"/>
              </a:rPr>
              <a:t>nd</a:t>
            </a:r>
            <a:r>
              <a:rPr lang="es-ES" dirty="0">
                <a:latin typeface="Bookman Old Style" panose="02050604050505020204" pitchFamily="18" charset="0"/>
              </a:rPr>
              <a:t> – 95</a:t>
            </a:r>
            <a:r>
              <a:rPr lang="es-ES" baseline="30000" dirty="0">
                <a:latin typeface="Bookman Old Style" panose="02050604050505020204" pitchFamily="18" charset="0"/>
              </a:rPr>
              <a:t>th</a:t>
            </a:r>
            <a:r>
              <a:rPr lang="es-ES" dirty="0">
                <a:latin typeface="Bookman Old Style" panose="02050604050505020204" pitchFamily="18" charset="0"/>
              </a:rPr>
              <a:t> </a:t>
            </a:r>
            <a:endParaRPr lang="en-ES" dirty="0">
              <a:latin typeface="Bookman Old Style" panose="02050604050505020204" pitchFamily="18" charset="0"/>
            </a:endParaRPr>
          </a:p>
        </p:txBody>
      </p:sp>
      <p:sp>
        <p:nvSpPr>
          <p:cNvPr id="4" name="TextBox 3">
            <a:extLst>
              <a:ext uri="{FF2B5EF4-FFF2-40B4-BE49-F238E27FC236}">
                <a16:creationId xmlns:a16="http://schemas.microsoft.com/office/drawing/2014/main" id="{542F8C42-2FC5-3E07-8A66-F42BEC6C25E1}"/>
              </a:ext>
            </a:extLst>
          </p:cNvPr>
          <p:cNvSpPr txBox="1"/>
          <p:nvPr/>
        </p:nvSpPr>
        <p:spPr>
          <a:xfrm>
            <a:off x="8279220" y="661472"/>
            <a:ext cx="1931581" cy="369332"/>
          </a:xfrm>
          <a:prstGeom prst="rect">
            <a:avLst/>
          </a:prstGeom>
          <a:noFill/>
        </p:spPr>
        <p:txBody>
          <a:bodyPr wrap="square">
            <a:spAutoFit/>
          </a:bodyPr>
          <a:lstStyle/>
          <a:p>
            <a:pPr algn="ctr"/>
            <a:r>
              <a:rPr lang="es-ES" dirty="0">
                <a:latin typeface="Bookman Old Style" panose="02050604050505020204" pitchFamily="18" charset="0"/>
              </a:rPr>
              <a:t>43</a:t>
            </a:r>
            <a:r>
              <a:rPr lang="es-ES" baseline="30000" dirty="0">
                <a:latin typeface="Bookman Old Style" panose="02050604050505020204" pitchFamily="18" charset="0"/>
              </a:rPr>
              <a:t>rd</a:t>
            </a:r>
            <a:r>
              <a:rPr lang="es-ES" dirty="0">
                <a:latin typeface="Bookman Old Style" panose="02050604050505020204" pitchFamily="18" charset="0"/>
              </a:rPr>
              <a:t> – 95</a:t>
            </a:r>
            <a:r>
              <a:rPr lang="es-ES" baseline="30000" dirty="0">
                <a:latin typeface="Bookman Old Style" panose="02050604050505020204" pitchFamily="18" charset="0"/>
              </a:rPr>
              <a:t>th</a:t>
            </a:r>
            <a:r>
              <a:rPr lang="es-ES" dirty="0">
                <a:latin typeface="Bookman Old Style" panose="02050604050505020204" pitchFamily="18" charset="0"/>
              </a:rPr>
              <a:t> </a:t>
            </a:r>
            <a:endParaRPr lang="en-ES" dirty="0">
              <a:latin typeface="Bookman Old Style" panose="02050604050505020204" pitchFamily="18" charset="0"/>
            </a:endParaRPr>
          </a:p>
        </p:txBody>
      </p:sp>
    </p:spTree>
    <p:extLst>
      <p:ext uri="{BB962C8B-B14F-4D97-AF65-F5344CB8AC3E}">
        <p14:creationId xmlns:p14="http://schemas.microsoft.com/office/powerpoint/2010/main" val="344615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AC913-9FF3-361D-4008-AEB7E4C5701A}"/>
            </a:ext>
          </a:extLst>
        </p:cNvPr>
        <p:cNvGrpSpPr/>
        <p:nvPr/>
      </p:nvGrpSpPr>
      <p:grpSpPr>
        <a:xfrm>
          <a:off x="0" y="0"/>
          <a:ext cx="0" cy="0"/>
          <a:chOff x="0" y="0"/>
          <a:chExt cx="0" cy="0"/>
        </a:xfrm>
      </p:grpSpPr>
      <p:pic>
        <p:nvPicPr>
          <p:cNvPr id="47" name="Picture 46">
            <a:extLst>
              <a:ext uri="{FF2B5EF4-FFF2-40B4-BE49-F238E27FC236}">
                <a16:creationId xmlns:a16="http://schemas.microsoft.com/office/drawing/2014/main" id="{D1C59B69-B725-F01A-5C6D-CB2BFAA45A5F}"/>
              </a:ext>
            </a:extLst>
          </p:cNvPr>
          <p:cNvPicPr>
            <a:picLocks noChangeAspect="1"/>
          </p:cNvPicPr>
          <p:nvPr/>
        </p:nvPicPr>
        <p:blipFill>
          <a:blip r:embed="rId2"/>
          <a:srcRect l="48307"/>
          <a:stretch>
            <a:fillRect/>
          </a:stretch>
        </p:blipFill>
        <p:spPr>
          <a:xfrm>
            <a:off x="7187784" y="2231238"/>
            <a:ext cx="4653821" cy="4163815"/>
          </a:xfrm>
          <a:prstGeom prst="rect">
            <a:avLst/>
          </a:prstGeom>
        </p:spPr>
      </p:pic>
      <p:pic>
        <p:nvPicPr>
          <p:cNvPr id="46" name="Picture 45">
            <a:extLst>
              <a:ext uri="{FF2B5EF4-FFF2-40B4-BE49-F238E27FC236}">
                <a16:creationId xmlns:a16="http://schemas.microsoft.com/office/drawing/2014/main" id="{3FEF84FC-9F6F-B7BB-E125-7BBE100E6701}"/>
              </a:ext>
            </a:extLst>
          </p:cNvPr>
          <p:cNvPicPr>
            <a:picLocks noChangeAspect="1"/>
          </p:cNvPicPr>
          <p:nvPr/>
        </p:nvPicPr>
        <p:blipFill>
          <a:blip r:embed="rId2"/>
          <a:srcRect r="50000"/>
          <a:stretch>
            <a:fillRect/>
          </a:stretch>
        </p:blipFill>
        <p:spPr>
          <a:xfrm>
            <a:off x="350395" y="2231239"/>
            <a:ext cx="4501422" cy="4163815"/>
          </a:xfrm>
          <a:prstGeom prst="rect">
            <a:avLst/>
          </a:prstGeom>
        </p:spPr>
      </p:pic>
      <p:sp>
        <p:nvSpPr>
          <p:cNvPr id="12" name="Rectangle 11">
            <a:extLst>
              <a:ext uri="{FF2B5EF4-FFF2-40B4-BE49-F238E27FC236}">
                <a16:creationId xmlns:a16="http://schemas.microsoft.com/office/drawing/2014/main" id="{DC37755B-E4EE-6C05-4BDB-C023D46AB305}"/>
              </a:ext>
            </a:extLst>
          </p:cNvPr>
          <p:cNvSpPr/>
          <p:nvPr/>
        </p:nvSpPr>
        <p:spPr>
          <a:xfrm>
            <a:off x="0" y="0"/>
            <a:ext cx="12192000" cy="6858000"/>
          </a:xfrm>
          <a:prstGeom prst="rect">
            <a:avLst/>
          </a:prstGeom>
          <a:solidFill>
            <a:schemeClr val="bg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dirty="0"/>
          </a:p>
        </p:txBody>
      </p:sp>
      <p:sp>
        <p:nvSpPr>
          <p:cNvPr id="22" name="Rounded Rectangle 21">
            <a:extLst>
              <a:ext uri="{FF2B5EF4-FFF2-40B4-BE49-F238E27FC236}">
                <a16:creationId xmlns:a16="http://schemas.microsoft.com/office/drawing/2014/main" id="{E6060ED2-8535-43F4-0A41-0D81314CFFBD}"/>
              </a:ext>
            </a:extLst>
          </p:cNvPr>
          <p:cNvSpPr/>
          <p:nvPr/>
        </p:nvSpPr>
        <p:spPr>
          <a:xfrm>
            <a:off x="3098800" y="368300"/>
            <a:ext cx="5626100" cy="3924300"/>
          </a:xfrm>
          <a:prstGeom prst="roundRect">
            <a:avLst>
              <a:gd name="adj" fmla="val 6635"/>
            </a:avLst>
          </a:prstGeom>
          <a:solidFill>
            <a:srgbClr val="EAEA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pic>
        <p:nvPicPr>
          <p:cNvPr id="21" name="Picture 20">
            <a:extLst>
              <a:ext uri="{FF2B5EF4-FFF2-40B4-BE49-F238E27FC236}">
                <a16:creationId xmlns:a16="http://schemas.microsoft.com/office/drawing/2014/main" id="{12D33473-8FA7-54CA-CD89-D6770E01655A}"/>
              </a:ext>
            </a:extLst>
          </p:cNvPr>
          <p:cNvPicPr>
            <a:picLocks noChangeAspect="1"/>
          </p:cNvPicPr>
          <p:nvPr/>
        </p:nvPicPr>
        <p:blipFill>
          <a:blip r:embed="rId3"/>
          <a:stretch>
            <a:fillRect/>
          </a:stretch>
        </p:blipFill>
        <p:spPr>
          <a:xfrm>
            <a:off x="3556102" y="741490"/>
            <a:ext cx="5079795" cy="2979495"/>
          </a:xfrm>
          <a:prstGeom prst="rect">
            <a:avLst/>
          </a:prstGeom>
        </p:spPr>
      </p:pic>
    </p:spTree>
    <p:extLst>
      <p:ext uri="{BB962C8B-B14F-4D97-AF65-F5344CB8AC3E}">
        <p14:creationId xmlns:p14="http://schemas.microsoft.com/office/powerpoint/2010/main" val="21909994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0E44F04-7702-4EC6-A45C-26DB8DAD9EFC}"/>
              </a:ext>
            </a:extLst>
          </p:cNvPr>
          <p:cNvSpPr>
            <a:spLocks noGrp="1"/>
          </p:cNvSpPr>
          <p:nvPr>
            <p:ph type="title"/>
          </p:nvPr>
        </p:nvSpPr>
        <p:spPr/>
        <p:txBody>
          <a:bodyPr/>
          <a:lstStyle/>
          <a:p>
            <a:pPr algn="r"/>
            <a:r>
              <a:rPr lang="en-US" dirty="0">
                <a:latin typeface="Bookman Old Style" panose="02050604050505020204" pitchFamily="18" charset="0"/>
              </a:rPr>
              <a:t>Core results</a:t>
            </a:r>
          </a:p>
        </p:txBody>
      </p:sp>
      <p:sp>
        <p:nvSpPr>
          <p:cNvPr id="4" name="Content Placeholder 3">
            <a:extLst>
              <a:ext uri="{FF2B5EF4-FFF2-40B4-BE49-F238E27FC236}">
                <a16:creationId xmlns:a16="http://schemas.microsoft.com/office/drawing/2014/main" id="{35DA71A2-C7AD-402A-137B-64514EB153A9}"/>
              </a:ext>
            </a:extLst>
          </p:cNvPr>
          <p:cNvSpPr>
            <a:spLocks noGrp="1"/>
          </p:cNvSpPr>
          <p:nvPr>
            <p:ph idx="1"/>
          </p:nvPr>
        </p:nvSpPr>
        <p:spPr>
          <a:xfrm>
            <a:off x="4394200" y="1690688"/>
            <a:ext cx="7162800" cy="4802187"/>
          </a:xfrm>
        </p:spPr>
        <p:txBody>
          <a:bodyPr>
            <a:normAutofit fontScale="92500"/>
          </a:bodyPr>
          <a:lstStyle/>
          <a:p>
            <a:pPr>
              <a:spcAft>
                <a:spcPts val="2400"/>
              </a:spcAft>
            </a:pPr>
            <a:endParaRPr lang="en-US" dirty="0">
              <a:latin typeface="Bookman Old Style" panose="02050604050505020204" pitchFamily="18" charset="0"/>
            </a:endParaRPr>
          </a:p>
          <a:p>
            <a:pPr>
              <a:spcAft>
                <a:spcPts val="2400"/>
              </a:spcAft>
            </a:pPr>
            <a:r>
              <a:rPr lang="en-US" dirty="0">
                <a:latin typeface="Bookman Old Style" panose="02050604050505020204" pitchFamily="18" charset="0"/>
              </a:rPr>
              <a:t>Substantial disagreement about which answer people think are correct.</a:t>
            </a:r>
          </a:p>
          <a:p>
            <a:pPr>
              <a:spcAft>
                <a:spcPts val="2400"/>
              </a:spcAft>
            </a:pPr>
            <a:r>
              <a:rPr lang="en-US" dirty="0">
                <a:latin typeface="Bookman Old Style" panose="02050604050505020204" pitchFamily="18" charset="0"/>
              </a:rPr>
              <a:t>These disagreements are </a:t>
            </a:r>
            <a:r>
              <a:rPr lang="en-US" i="1" dirty="0">
                <a:latin typeface="Bookman Old Style" panose="02050604050505020204" pitchFamily="18" charset="0"/>
              </a:rPr>
              <a:t>not</a:t>
            </a:r>
            <a:r>
              <a:rPr lang="en-US" dirty="0">
                <a:latin typeface="Bookman Old Style" panose="02050604050505020204" pitchFamily="18" charset="0"/>
              </a:rPr>
              <a:t> primarily a matter of people not having shared intuitions.</a:t>
            </a:r>
          </a:p>
          <a:p>
            <a:pPr>
              <a:spcAft>
                <a:spcPts val="2400"/>
              </a:spcAft>
            </a:pPr>
            <a:r>
              <a:rPr lang="en-US" dirty="0">
                <a:latin typeface="Bookman Old Style" panose="02050604050505020204" pitchFamily="18" charset="0"/>
              </a:rPr>
              <a:t>For each thought experiment, there is one intuition that is widely shared, even among those who believe it is incorrect.</a:t>
            </a:r>
            <a:endParaRPr lang="en-US" sz="3600" i="1" dirty="0">
              <a:latin typeface="Bookman Old Style" panose="02050604050505020204" pitchFamily="18" charset="0"/>
            </a:endParaRPr>
          </a:p>
        </p:txBody>
      </p:sp>
      <p:pic>
        <p:nvPicPr>
          <p:cNvPr id="6" name="Picture 5">
            <a:extLst>
              <a:ext uri="{FF2B5EF4-FFF2-40B4-BE49-F238E27FC236}">
                <a16:creationId xmlns:a16="http://schemas.microsoft.com/office/drawing/2014/main" id="{6B71B962-4B5D-0772-D90D-44E4D6B73BA3}"/>
              </a:ext>
            </a:extLst>
          </p:cNvPr>
          <p:cNvPicPr>
            <a:picLocks noChangeAspect="1"/>
          </p:cNvPicPr>
          <p:nvPr/>
        </p:nvPicPr>
        <p:blipFill>
          <a:blip r:embed="rId2"/>
          <a:stretch>
            <a:fillRect/>
          </a:stretch>
        </p:blipFill>
        <p:spPr>
          <a:xfrm>
            <a:off x="298450" y="225425"/>
            <a:ext cx="3765550" cy="2626535"/>
          </a:xfrm>
          <a:prstGeom prst="rect">
            <a:avLst/>
          </a:prstGeom>
        </p:spPr>
      </p:pic>
    </p:spTree>
    <p:extLst>
      <p:ext uri="{BB962C8B-B14F-4D97-AF65-F5344CB8AC3E}">
        <p14:creationId xmlns:p14="http://schemas.microsoft.com/office/powerpoint/2010/main" val="33638578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CAF6B-6675-A2BE-6868-23F1A65C1BD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8AE89E-118B-DF83-0ABF-4DB09FB96F08}"/>
              </a:ext>
            </a:extLst>
          </p:cNvPr>
          <p:cNvSpPr txBox="1">
            <a:spLocks/>
          </p:cNvSpPr>
          <p:nvPr/>
        </p:nvSpPr>
        <p:spPr>
          <a:xfrm>
            <a:off x="410220" y="1855597"/>
            <a:ext cx="8441172" cy="3594227"/>
          </a:xfrm>
          <a:prstGeom prst="rect">
            <a:avLst/>
          </a:prstGeom>
        </p:spPr>
        <p:txBody>
          <a:bodyPr/>
          <a:lstStyle>
            <a:lvl1pPr marL="342900" indent="-342900" algn="l" defTabSz="457200"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defTabSz="457200"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defTabSz="457200"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defTabSz="457200"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defTabSz="457200"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spcAft>
                <a:spcPts val="1800"/>
              </a:spcAft>
              <a:buNone/>
            </a:pPr>
            <a:r>
              <a:rPr lang="en-US" sz="2800" dirty="0">
                <a:latin typeface="Bookman Old Style" panose="02050604050505020204" pitchFamily="18" charset="0"/>
              </a:rPr>
              <a:t>Reason for split responses is: Different people have different intuitions.</a:t>
            </a:r>
          </a:p>
          <a:p>
            <a:pPr marL="0" indent="0">
              <a:spcAft>
                <a:spcPts val="1800"/>
              </a:spcAft>
              <a:buNone/>
            </a:pPr>
            <a:r>
              <a:rPr lang="en-US" sz="2800" dirty="0">
                <a:latin typeface="Bookman Old Style" panose="02050604050505020204" pitchFamily="18" charset="0"/>
              </a:rPr>
              <a:t>The intuitions you have are just idiosyncratic facts about </a:t>
            </a:r>
            <a:r>
              <a:rPr lang="en-US" sz="2800" u="sng" dirty="0">
                <a:latin typeface="Bookman Old Style" panose="02050604050505020204" pitchFamily="18" charset="0"/>
              </a:rPr>
              <a:t>you</a:t>
            </a:r>
            <a:r>
              <a:rPr lang="en-US" sz="2800" dirty="0">
                <a:latin typeface="Bookman Old Style" panose="02050604050505020204" pitchFamily="18" charset="0"/>
              </a:rPr>
              <a:t>.</a:t>
            </a:r>
          </a:p>
          <a:p>
            <a:pPr marL="0" indent="0">
              <a:spcAft>
                <a:spcPts val="1800"/>
              </a:spcAft>
              <a:buNone/>
            </a:pPr>
            <a:r>
              <a:rPr lang="en-US" sz="2800" dirty="0">
                <a:latin typeface="Bookman Old Style" panose="02050604050505020204" pitchFamily="18" charset="0"/>
              </a:rPr>
              <a:t>Thus, no philosophical pay-off in thinking deeply about those intuitions.</a:t>
            </a:r>
          </a:p>
        </p:txBody>
      </p:sp>
      <p:sp>
        <p:nvSpPr>
          <p:cNvPr id="6" name="Title 5">
            <a:extLst>
              <a:ext uri="{FF2B5EF4-FFF2-40B4-BE49-F238E27FC236}">
                <a16:creationId xmlns:a16="http://schemas.microsoft.com/office/drawing/2014/main" id="{C85D3125-E58A-191A-0279-BF76BB3124CA}"/>
              </a:ext>
            </a:extLst>
          </p:cNvPr>
          <p:cNvSpPr>
            <a:spLocks noGrp="1"/>
          </p:cNvSpPr>
          <p:nvPr>
            <p:ph type="title"/>
          </p:nvPr>
        </p:nvSpPr>
        <p:spPr>
          <a:xfrm>
            <a:off x="410220" y="82613"/>
            <a:ext cx="8010144" cy="1325563"/>
          </a:xfrm>
        </p:spPr>
        <p:txBody>
          <a:bodyPr/>
          <a:lstStyle/>
          <a:p>
            <a:r>
              <a:rPr lang="en-US" dirty="0">
                <a:latin typeface="Bookman Old Style" panose="02050604050505020204" pitchFamily="18" charset="0"/>
              </a:rPr>
              <a:t>Extreme negative view</a:t>
            </a:r>
          </a:p>
        </p:txBody>
      </p:sp>
      <p:pic>
        <p:nvPicPr>
          <p:cNvPr id="2" name="Picture 1" descr="https://upload.wikimedia.org/wikipedia/commons/thumb/9/96/The_Garden_of_earthly_delights.jpg/960px-The_Garden_of_earthly_delights.jpg?utm_source=en.wikipedia.org&amp;utm_campaign=parser&amp;utm_content=thumbnail">
            <a:extLst>
              <a:ext uri="{FF2B5EF4-FFF2-40B4-BE49-F238E27FC236}">
                <a16:creationId xmlns:a16="http://schemas.microsoft.com/office/drawing/2014/main" id="{E3313F16-4AD1-C285-C8B3-1D1E596B0090}"/>
              </a:ext>
            </a:extLst>
          </p:cNvPr>
          <p:cNvPicPr>
            <a:picLocks noChangeAspect="1"/>
          </p:cNvPicPr>
          <p:nvPr/>
        </p:nvPicPr>
        <p:blipFill>
          <a:blip r:embed="rId2"/>
          <a:srcRect l="76258"/>
          <a:stretch>
            <a:fillRect/>
          </a:stretch>
        </p:blipFill>
        <p:spPr>
          <a:xfrm>
            <a:off x="9315704" y="-12701"/>
            <a:ext cx="2886696" cy="6915267"/>
          </a:xfrm>
          <a:prstGeom prst="rect">
            <a:avLst/>
          </a:prstGeom>
        </p:spPr>
      </p:pic>
    </p:spTree>
    <p:extLst>
      <p:ext uri="{BB962C8B-B14F-4D97-AF65-F5344CB8AC3E}">
        <p14:creationId xmlns:p14="http://schemas.microsoft.com/office/powerpoint/2010/main" val="1851512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07B4F-1555-94D4-D211-788766026C28}"/>
            </a:ext>
          </a:extLst>
        </p:cNvPr>
        <p:cNvGrpSpPr/>
        <p:nvPr/>
      </p:nvGrpSpPr>
      <p:grpSpPr>
        <a:xfrm>
          <a:off x="0" y="0"/>
          <a:ext cx="0" cy="0"/>
          <a:chOff x="0" y="0"/>
          <a:chExt cx="0" cy="0"/>
        </a:xfrm>
      </p:grpSpPr>
      <p:pic>
        <p:nvPicPr>
          <p:cNvPr id="5" name="Picture 4" descr="https://upload.wikimedia.org/wikipedia/commons/thumb/9/96/The_Garden_of_earthly_delights.jpg/960px-The_Garden_of_earthly_delights.jpg?utm_source=en.wikipedia.org&amp;utm_campaign=parser&amp;utm_content=thumbnail">
            <a:extLst>
              <a:ext uri="{FF2B5EF4-FFF2-40B4-BE49-F238E27FC236}">
                <a16:creationId xmlns:a16="http://schemas.microsoft.com/office/drawing/2014/main" id="{7618E366-3F74-6A6F-16E3-FF4786483BB3}"/>
              </a:ext>
            </a:extLst>
          </p:cNvPr>
          <p:cNvPicPr>
            <a:picLocks noChangeAspect="1"/>
          </p:cNvPicPr>
          <p:nvPr/>
        </p:nvPicPr>
        <p:blipFill>
          <a:blip r:embed="rId2"/>
          <a:srcRect l="120" r="75937"/>
          <a:stretch>
            <a:fillRect/>
          </a:stretch>
        </p:blipFill>
        <p:spPr>
          <a:xfrm>
            <a:off x="-17512" y="-12701"/>
            <a:ext cx="2911080" cy="6915267"/>
          </a:xfrm>
          <a:prstGeom prst="rect">
            <a:avLst/>
          </a:prstGeom>
        </p:spPr>
      </p:pic>
      <p:sp>
        <p:nvSpPr>
          <p:cNvPr id="7" name="Title 5">
            <a:extLst>
              <a:ext uri="{FF2B5EF4-FFF2-40B4-BE49-F238E27FC236}">
                <a16:creationId xmlns:a16="http://schemas.microsoft.com/office/drawing/2014/main" id="{1A962946-5789-534C-13C9-85DB4037C944}"/>
              </a:ext>
            </a:extLst>
          </p:cNvPr>
          <p:cNvSpPr txBox="1">
            <a:spLocks/>
          </p:cNvSpPr>
          <p:nvPr/>
        </p:nvSpPr>
        <p:spPr>
          <a:xfrm>
            <a:off x="2889504" y="36570"/>
            <a:ext cx="801014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latin typeface="Bookman Old Style" panose="02050604050505020204" pitchFamily="18" charset="0"/>
              </a:rPr>
              <a:t>Extreme positive view</a:t>
            </a:r>
          </a:p>
        </p:txBody>
      </p:sp>
      <p:sp>
        <p:nvSpPr>
          <p:cNvPr id="11" name="TextBox 10">
            <a:extLst>
              <a:ext uri="{FF2B5EF4-FFF2-40B4-BE49-F238E27FC236}">
                <a16:creationId xmlns:a16="http://schemas.microsoft.com/office/drawing/2014/main" id="{630B16F2-5D93-9E07-A8B8-90DA90D18A20}"/>
              </a:ext>
            </a:extLst>
          </p:cNvPr>
          <p:cNvSpPr txBox="1"/>
          <p:nvPr/>
        </p:nvSpPr>
        <p:spPr>
          <a:xfrm>
            <a:off x="3840226" y="1859339"/>
            <a:ext cx="7551674" cy="2708434"/>
          </a:xfrm>
          <a:prstGeom prst="rect">
            <a:avLst/>
          </a:prstGeom>
          <a:noFill/>
        </p:spPr>
        <p:txBody>
          <a:bodyPr wrap="square">
            <a:spAutoFit/>
          </a:bodyPr>
          <a:lstStyle/>
          <a:p>
            <a:pPr marL="0" indent="0" algn="just">
              <a:spcAft>
                <a:spcPts val="1800"/>
              </a:spcAft>
              <a:buNone/>
            </a:pPr>
            <a:r>
              <a:rPr lang="en-US" sz="2800" dirty="0">
                <a:latin typeface="Bookman Old Style" panose="02050604050505020204" pitchFamily="18" charset="0"/>
              </a:rPr>
              <a:t>We have intuitions favoring both sides.</a:t>
            </a:r>
          </a:p>
          <a:p>
            <a:pPr marL="0" indent="0" algn="just">
              <a:spcAft>
                <a:spcPts val="1800"/>
              </a:spcAft>
              <a:buNone/>
            </a:pPr>
            <a:endParaRPr lang="en-US" sz="2800" dirty="0">
              <a:latin typeface="Bookman Old Style" panose="02050604050505020204" pitchFamily="18" charset="0"/>
            </a:endParaRPr>
          </a:p>
          <a:p>
            <a:pPr marL="0" indent="0" algn="just">
              <a:spcAft>
                <a:spcPts val="1800"/>
              </a:spcAft>
              <a:buNone/>
            </a:pPr>
            <a:r>
              <a:rPr lang="en-US" sz="2800" dirty="0">
                <a:latin typeface="Bookman Old Style" panose="02050604050505020204" pitchFamily="18" charset="0"/>
              </a:rPr>
              <a:t>These intuitions are not just idiosyncratic; they are fundamental and widely shared.</a:t>
            </a:r>
          </a:p>
        </p:txBody>
      </p:sp>
    </p:spTree>
    <p:extLst>
      <p:ext uri="{BB962C8B-B14F-4D97-AF65-F5344CB8AC3E}">
        <p14:creationId xmlns:p14="http://schemas.microsoft.com/office/powerpoint/2010/main" val="110024823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8DCCF-E17D-FED7-2A2F-78DB93F12D54}"/>
            </a:ext>
          </a:extLst>
        </p:cNvPr>
        <p:cNvGrpSpPr/>
        <p:nvPr/>
      </p:nvGrpSpPr>
      <p:grpSpPr>
        <a:xfrm>
          <a:off x="0" y="0"/>
          <a:ext cx="0" cy="0"/>
          <a:chOff x="0" y="0"/>
          <a:chExt cx="0" cy="0"/>
        </a:xfrm>
      </p:grpSpPr>
      <p:pic>
        <p:nvPicPr>
          <p:cNvPr id="5" name="Picture 4" descr="https://upload.wikimedia.org/wikipedia/commons/thumb/9/96/The_Garden_of_earthly_delights.jpg/960px-The_Garden_of_earthly_delights.jpg?utm_source=en.wikipedia.org&amp;utm_campaign=parser&amp;utm_content=thumbnail">
            <a:extLst>
              <a:ext uri="{FF2B5EF4-FFF2-40B4-BE49-F238E27FC236}">
                <a16:creationId xmlns:a16="http://schemas.microsoft.com/office/drawing/2014/main" id="{B17181B1-2136-94E9-4A38-E46DDD06E34A}"/>
              </a:ext>
            </a:extLst>
          </p:cNvPr>
          <p:cNvPicPr>
            <a:picLocks noChangeAspect="1"/>
          </p:cNvPicPr>
          <p:nvPr/>
        </p:nvPicPr>
        <p:blipFill>
          <a:blip r:embed="rId2"/>
          <a:srcRect l="120" r="75937"/>
          <a:stretch>
            <a:fillRect/>
          </a:stretch>
        </p:blipFill>
        <p:spPr>
          <a:xfrm>
            <a:off x="-17512" y="-12701"/>
            <a:ext cx="2911080" cy="6915267"/>
          </a:xfrm>
          <a:prstGeom prst="rect">
            <a:avLst/>
          </a:prstGeom>
        </p:spPr>
      </p:pic>
      <p:sp>
        <p:nvSpPr>
          <p:cNvPr id="7" name="Title 5">
            <a:extLst>
              <a:ext uri="{FF2B5EF4-FFF2-40B4-BE49-F238E27FC236}">
                <a16:creationId xmlns:a16="http://schemas.microsoft.com/office/drawing/2014/main" id="{F8899E86-4D0F-EBC5-B981-D7FEE8DD1752}"/>
              </a:ext>
            </a:extLst>
          </p:cNvPr>
          <p:cNvSpPr txBox="1">
            <a:spLocks/>
          </p:cNvSpPr>
          <p:nvPr/>
        </p:nvSpPr>
        <p:spPr>
          <a:xfrm>
            <a:off x="2889504" y="36570"/>
            <a:ext cx="801014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a:latin typeface="Bookman Old Style" panose="02050604050505020204" pitchFamily="18" charset="0"/>
              </a:rPr>
              <a:t>Plausible positive view</a:t>
            </a:r>
            <a:endParaRPr lang="en-US" dirty="0">
              <a:latin typeface="Bookman Old Style" panose="02050604050505020204" pitchFamily="18" charset="0"/>
            </a:endParaRPr>
          </a:p>
        </p:txBody>
      </p:sp>
      <p:sp>
        <p:nvSpPr>
          <p:cNvPr id="11" name="TextBox 10">
            <a:extLst>
              <a:ext uri="{FF2B5EF4-FFF2-40B4-BE49-F238E27FC236}">
                <a16:creationId xmlns:a16="http://schemas.microsoft.com/office/drawing/2014/main" id="{F8AC096D-1BD7-16D9-0E9D-968D88DEA007}"/>
              </a:ext>
            </a:extLst>
          </p:cNvPr>
          <p:cNvSpPr txBox="1"/>
          <p:nvPr/>
        </p:nvSpPr>
        <p:spPr>
          <a:xfrm>
            <a:off x="3840226" y="1859339"/>
            <a:ext cx="7551674" cy="3139321"/>
          </a:xfrm>
          <a:prstGeom prst="rect">
            <a:avLst/>
          </a:prstGeom>
          <a:noFill/>
        </p:spPr>
        <p:txBody>
          <a:bodyPr wrap="square">
            <a:spAutoFit/>
          </a:bodyPr>
          <a:lstStyle/>
          <a:p>
            <a:pPr marL="0" indent="0" algn="just">
              <a:spcAft>
                <a:spcPts val="1800"/>
              </a:spcAft>
              <a:buNone/>
            </a:pPr>
            <a:r>
              <a:rPr lang="en-US" sz="2800" dirty="0">
                <a:latin typeface="Bookman Old Style" panose="02050604050505020204" pitchFamily="18" charset="0"/>
              </a:rPr>
              <a:t>We have intuitions favoring both sides.</a:t>
            </a:r>
          </a:p>
          <a:p>
            <a:pPr marL="0" indent="0" algn="just">
              <a:spcAft>
                <a:spcPts val="1800"/>
              </a:spcAft>
              <a:buNone/>
            </a:pPr>
            <a:endParaRPr lang="en-US" sz="2800" dirty="0">
              <a:latin typeface="Bookman Old Style" panose="02050604050505020204" pitchFamily="18" charset="0"/>
            </a:endParaRPr>
          </a:p>
          <a:p>
            <a:pPr algn="just">
              <a:spcAft>
                <a:spcPts val="1800"/>
              </a:spcAft>
            </a:pPr>
            <a:r>
              <a:rPr lang="en-US" sz="2800" dirty="0">
                <a:latin typeface="Bookman Old Style" panose="02050604050505020204" pitchFamily="18" charset="0"/>
              </a:rPr>
              <a:t>These intuitions are not just idiosyncratic; they are fundamental and widely shared, even among people who believe those intuitions are not correct.</a:t>
            </a:r>
          </a:p>
        </p:txBody>
      </p:sp>
      <p:grpSp>
        <p:nvGrpSpPr>
          <p:cNvPr id="10" name="Group 9">
            <a:extLst>
              <a:ext uri="{FF2B5EF4-FFF2-40B4-BE49-F238E27FC236}">
                <a16:creationId xmlns:a16="http://schemas.microsoft.com/office/drawing/2014/main" id="{87A58BC3-ED99-8949-FFB1-F441CCD3F961}"/>
              </a:ext>
            </a:extLst>
          </p:cNvPr>
          <p:cNvGrpSpPr/>
          <p:nvPr/>
        </p:nvGrpSpPr>
        <p:grpSpPr>
          <a:xfrm>
            <a:off x="8927940" y="1825620"/>
            <a:ext cx="1785240" cy="513720"/>
            <a:chOff x="8927940" y="1825620"/>
            <a:chExt cx="1785240" cy="513720"/>
          </a:xfrm>
        </p:grpSpPr>
        <mc:AlternateContent xmlns:mc="http://schemas.openxmlformats.org/markup-compatibility/2006">
          <mc:Choice xmlns:p14="http://schemas.microsoft.com/office/powerpoint/2010/main" Requires="p14">
            <p:contentPart p14:bwMode="auto" r:id="rId3">
              <p14:nvContentPartPr>
                <p14:cNvPr id="6" name="Ink 5">
                  <a:extLst>
                    <a:ext uri="{FF2B5EF4-FFF2-40B4-BE49-F238E27FC236}">
                      <a16:creationId xmlns:a16="http://schemas.microsoft.com/office/drawing/2014/main" id="{9E7D0811-7E7F-78CB-01AE-14F14D7CC811}"/>
                    </a:ext>
                  </a:extLst>
                </p14:cNvPr>
                <p14:cNvContentPartPr/>
                <p14:nvPr/>
              </p14:nvContentPartPr>
              <p14:xfrm>
                <a:off x="8927940" y="1930020"/>
                <a:ext cx="1592640" cy="313920"/>
              </p14:xfrm>
            </p:contentPart>
          </mc:Choice>
          <mc:Fallback>
            <p:pic>
              <p:nvPicPr>
                <p:cNvPr id="6" name="Ink 5">
                  <a:extLst>
                    <a:ext uri="{FF2B5EF4-FFF2-40B4-BE49-F238E27FC236}">
                      <a16:creationId xmlns:a16="http://schemas.microsoft.com/office/drawing/2014/main" id="{9E7D0811-7E7F-78CB-01AE-14F14D7CC811}"/>
                    </a:ext>
                  </a:extLst>
                </p:cNvPr>
                <p:cNvPicPr/>
                <p:nvPr/>
              </p:nvPicPr>
              <p:blipFill>
                <a:blip r:embed="rId4"/>
                <a:stretch>
                  <a:fillRect/>
                </a:stretch>
              </p:blipFill>
              <p:spPr>
                <a:xfrm>
                  <a:off x="8891948" y="1894020"/>
                  <a:ext cx="1664264" cy="38556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8" name="Ink 7">
                  <a:extLst>
                    <a:ext uri="{FF2B5EF4-FFF2-40B4-BE49-F238E27FC236}">
                      <a16:creationId xmlns:a16="http://schemas.microsoft.com/office/drawing/2014/main" id="{5494CFB9-04E2-B899-01AF-B14C5494344A}"/>
                    </a:ext>
                  </a:extLst>
                </p14:cNvPr>
                <p14:cNvContentPartPr/>
                <p14:nvPr/>
              </p14:nvContentPartPr>
              <p14:xfrm>
                <a:off x="9080220" y="1825620"/>
                <a:ext cx="1632960" cy="513720"/>
              </p14:xfrm>
            </p:contentPart>
          </mc:Choice>
          <mc:Fallback>
            <p:pic>
              <p:nvPicPr>
                <p:cNvPr id="8" name="Ink 7">
                  <a:extLst>
                    <a:ext uri="{FF2B5EF4-FFF2-40B4-BE49-F238E27FC236}">
                      <a16:creationId xmlns:a16="http://schemas.microsoft.com/office/drawing/2014/main" id="{5494CFB9-04E2-B899-01AF-B14C5494344A}"/>
                    </a:ext>
                  </a:extLst>
                </p:cNvPr>
                <p:cNvPicPr/>
                <p:nvPr/>
              </p:nvPicPr>
              <p:blipFill>
                <a:blip r:embed="rId6"/>
                <a:stretch>
                  <a:fillRect/>
                </a:stretch>
              </p:blipFill>
              <p:spPr>
                <a:xfrm>
                  <a:off x="9044220" y="1789620"/>
                  <a:ext cx="1704600" cy="5853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7">
            <p14:nvContentPartPr>
              <p14:cNvPr id="3" name="Ink 2">
                <a:extLst>
                  <a:ext uri="{FF2B5EF4-FFF2-40B4-BE49-F238E27FC236}">
                    <a16:creationId xmlns:a16="http://schemas.microsoft.com/office/drawing/2014/main" id="{BA0A009D-EED4-61F8-5340-D27667F9B97D}"/>
                  </a:ext>
                </a:extLst>
              </p14:cNvPr>
              <p14:cNvContentPartPr/>
              <p14:nvPr/>
            </p14:nvContentPartPr>
            <p14:xfrm>
              <a:off x="9352740" y="3355620"/>
              <a:ext cx="1851120" cy="139680"/>
            </p14:xfrm>
          </p:contentPart>
        </mc:Choice>
        <mc:Fallback>
          <p:pic>
            <p:nvPicPr>
              <p:cNvPr id="3" name="Ink 2">
                <a:extLst>
                  <a:ext uri="{FF2B5EF4-FFF2-40B4-BE49-F238E27FC236}">
                    <a16:creationId xmlns:a16="http://schemas.microsoft.com/office/drawing/2014/main" id="{BA0A009D-EED4-61F8-5340-D27667F9B97D}"/>
                  </a:ext>
                </a:extLst>
              </p:cNvPr>
              <p:cNvPicPr/>
              <p:nvPr/>
            </p:nvPicPr>
            <p:blipFill>
              <a:blip r:embed="rId8"/>
              <a:stretch>
                <a:fillRect/>
              </a:stretch>
            </p:blipFill>
            <p:spPr>
              <a:xfrm>
                <a:off x="9316740" y="3319980"/>
                <a:ext cx="1922760" cy="21132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4" name="Ink 3">
                <a:extLst>
                  <a:ext uri="{FF2B5EF4-FFF2-40B4-BE49-F238E27FC236}">
                    <a16:creationId xmlns:a16="http://schemas.microsoft.com/office/drawing/2014/main" id="{6DB56A07-D46A-6BA7-A48A-4095089669F0}"/>
                  </a:ext>
                </a:extLst>
              </p14:cNvPr>
              <p14:cNvContentPartPr/>
              <p14:nvPr/>
            </p14:nvContentPartPr>
            <p14:xfrm>
              <a:off x="3905940" y="3850260"/>
              <a:ext cx="7295040" cy="81360"/>
            </p14:xfrm>
          </p:contentPart>
        </mc:Choice>
        <mc:Fallback>
          <p:pic>
            <p:nvPicPr>
              <p:cNvPr id="4" name="Ink 3">
                <a:extLst>
                  <a:ext uri="{FF2B5EF4-FFF2-40B4-BE49-F238E27FC236}">
                    <a16:creationId xmlns:a16="http://schemas.microsoft.com/office/drawing/2014/main" id="{6DB56A07-D46A-6BA7-A48A-4095089669F0}"/>
                  </a:ext>
                </a:extLst>
              </p:cNvPr>
              <p:cNvPicPr/>
              <p:nvPr/>
            </p:nvPicPr>
            <p:blipFill>
              <a:blip r:embed="rId10"/>
              <a:stretch>
                <a:fillRect/>
              </a:stretch>
            </p:blipFill>
            <p:spPr>
              <a:xfrm>
                <a:off x="3869940" y="3814260"/>
                <a:ext cx="7366680" cy="153000"/>
              </a:xfrm>
              <a:prstGeom prst="rect">
                <a:avLst/>
              </a:prstGeom>
            </p:spPr>
          </p:pic>
        </mc:Fallback>
      </mc:AlternateContent>
    </p:spTree>
    <p:extLst>
      <p:ext uri="{BB962C8B-B14F-4D97-AF65-F5344CB8AC3E}">
        <p14:creationId xmlns:p14="http://schemas.microsoft.com/office/powerpoint/2010/main" val="4671466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909D6-8C8B-6EBF-8C23-CD1234FA6DCA}"/>
            </a:ext>
          </a:extLst>
        </p:cNvPr>
        <p:cNvGrpSpPr/>
        <p:nvPr/>
      </p:nvGrpSpPr>
      <p:grpSpPr>
        <a:xfrm>
          <a:off x="0" y="0"/>
          <a:ext cx="0" cy="0"/>
          <a:chOff x="0" y="0"/>
          <a:chExt cx="0" cy="0"/>
        </a:xfrm>
      </p:grpSpPr>
      <p:pic>
        <p:nvPicPr>
          <p:cNvPr id="18" name="Picture 17">
            <a:extLst>
              <a:ext uri="{FF2B5EF4-FFF2-40B4-BE49-F238E27FC236}">
                <a16:creationId xmlns:a16="http://schemas.microsoft.com/office/drawing/2014/main" id="{459AC54C-DB35-E0BA-E0C1-AA84B4ACAA74}"/>
              </a:ext>
            </a:extLst>
          </p:cNvPr>
          <p:cNvPicPr>
            <a:picLocks noChangeAspect="1"/>
          </p:cNvPicPr>
          <p:nvPr/>
        </p:nvPicPr>
        <p:blipFill>
          <a:blip r:embed="rId2"/>
          <a:stretch>
            <a:fillRect/>
          </a:stretch>
        </p:blipFill>
        <p:spPr>
          <a:xfrm>
            <a:off x="1236904" y="2854702"/>
            <a:ext cx="3676597" cy="3600000"/>
          </a:xfrm>
          <a:prstGeom prst="rect">
            <a:avLst/>
          </a:prstGeom>
        </p:spPr>
      </p:pic>
      <p:sp>
        <p:nvSpPr>
          <p:cNvPr id="31" name="TextBox 30">
            <a:extLst>
              <a:ext uri="{FF2B5EF4-FFF2-40B4-BE49-F238E27FC236}">
                <a16:creationId xmlns:a16="http://schemas.microsoft.com/office/drawing/2014/main" id="{99375F17-7D9E-FF68-B77C-58F116AE9CE8}"/>
              </a:ext>
            </a:extLst>
          </p:cNvPr>
          <p:cNvSpPr txBox="1"/>
          <p:nvPr/>
        </p:nvSpPr>
        <p:spPr>
          <a:xfrm>
            <a:off x="1" y="2116509"/>
            <a:ext cx="6096000" cy="461665"/>
          </a:xfrm>
          <a:prstGeom prst="rect">
            <a:avLst/>
          </a:prstGeom>
          <a:noFill/>
        </p:spPr>
        <p:txBody>
          <a:bodyPr wrap="square">
            <a:spAutoFit/>
          </a:bodyPr>
          <a:lstStyle/>
          <a:p>
            <a:pPr algn="ctr"/>
            <a:r>
              <a:rPr lang="en-US" sz="2400" dirty="0">
                <a:latin typeface="Bookman Old Style" panose="02050604050505020204" pitchFamily="18" charset="0"/>
              </a:rPr>
              <a:t>repeatedly sampling intuitions?</a:t>
            </a:r>
            <a:endParaRPr lang="en-ES" sz="2400" dirty="0"/>
          </a:p>
        </p:txBody>
      </p:sp>
      <p:sp>
        <p:nvSpPr>
          <p:cNvPr id="33" name="Title 5">
            <a:extLst>
              <a:ext uri="{FF2B5EF4-FFF2-40B4-BE49-F238E27FC236}">
                <a16:creationId xmlns:a16="http://schemas.microsoft.com/office/drawing/2014/main" id="{C0836AF2-C402-0BA7-0AC3-B8D1059E80D6}"/>
              </a:ext>
            </a:extLst>
          </p:cNvPr>
          <p:cNvSpPr txBox="1">
            <a:spLocks/>
          </p:cNvSpPr>
          <p:nvPr/>
        </p:nvSpPr>
        <p:spPr>
          <a:xfrm>
            <a:off x="0" y="403298"/>
            <a:ext cx="12192000" cy="106749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4000" dirty="0">
                <a:latin typeface="Bookman Old Style" panose="02050604050505020204" pitchFamily="18" charset="0"/>
              </a:rPr>
              <a:t>Future research</a:t>
            </a:r>
          </a:p>
        </p:txBody>
      </p:sp>
    </p:spTree>
    <p:extLst>
      <p:ext uri="{BB962C8B-B14F-4D97-AF65-F5344CB8AC3E}">
        <p14:creationId xmlns:p14="http://schemas.microsoft.com/office/powerpoint/2010/main" val="10049496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50F257B-2B42-2950-F149-508C3D8E6AA7}"/>
              </a:ext>
            </a:extLst>
          </p:cNvPr>
          <p:cNvPicPr>
            <a:picLocks noChangeAspect="1"/>
          </p:cNvPicPr>
          <p:nvPr/>
        </p:nvPicPr>
        <p:blipFill>
          <a:blip r:embed="rId2"/>
          <a:stretch>
            <a:fillRect/>
          </a:stretch>
        </p:blipFill>
        <p:spPr>
          <a:xfrm>
            <a:off x="1236904" y="2854702"/>
            <a:ext cx="3676597" cy="3600000"/>
          </a:xfrm>
          <a:prstGeom prst="rect">
            <a:avLst/>
          </a:prstGeom>
        </p:spPr>
      </p:pic>
      <p:pic>
        <p:nvPicPr>
          <p:cNvPr id="30" name="Picture 29">
            <a:extLst>
              <a:ext uri="{FF2B5EF4-FFF2-40B4-BE49-F238E27FC236}">
                <a16:creationId xmlns:a16="http://schemas.microsoft.com/office/drawing/2014/main" id="{682F0C43-3C11-6B95-BE65-44339D823C85}"/>
              </a:ext>
            </a:extLst>
          </p:cNvPr>
          <p:cNvPicPr>
            <a:picLocks noChangeAspect="1"/>
          </p:cNvPicPr>
          <p:nvPr/>
        </p:nvPicPr>
        <p:blipFill>
          <a:blip r:embed="rId3"/>
          <a:stretch>
            <a:fillRect/>
          </a:stretch>
        </p:blipFill>
        <p:spPr>
          <a:xfrm>
            <a:off x="7564985" y="3214702"/>
            <a:ext cx="3390111" cy="2880000"/>
          </a:xfrm>
          <a:prstGeom prst="rect">
            <a:avLst/>
          </a:prstGeom>
        </p:spPr>
      </p:pic>
      <p:sp>
        <p:nvSpPr>
          <p:cNvPr id="31" name="TextBox 30">
            <a:extLst>
              <a:ext uri="{FF2B5EF4-FFF2-40B4-BE49-F238E27FC236}">
                <a16:creationId xmlns:a16="http://schemas.microsoft.com/office/drawing/2014/main" id="{F744DBF5-B7D8-77B6-ACE3-DBD776F5A9BA}"/>
              </a:ext>
            </a:extLst>
          </p:cNvPr>
          <p:cNvSpPr txBox="1"/>
          <p:nvPr/>
        </p:nvSpPr>
        <p:spPr>
          <a:xfrm>
            <a:off x="1" y="2116509"/>
            <a:ext cx="6096000" cy="461665"/>
          </a:xfrm>
          <a:prstGeom prst="rect">
            <a:avLst/>
          </a:prstGeom>
          <a:noFill/>
        </p:spPr>
        <p:txBody>
          <a:bodyPr wrap="square">
            <a:spAutoFit/>
          </a:bodyPr>
          <a:lstStyle/>
          <a:p>
            <a:pPr algn="ctr"/>
            <a:r>
              <a:rPr lang="en-US" sz="2400" dirty="0">
                <a:latin typeface="Bookman Old Style" panose="02050604050505020204" pitchFamily="18" charset="0"/>
              </a:rPr>
              <a:t>repeatedly sampling intuitions?</a:t>
            </a:r>
            <a:endParaRPr lang="en-ES" sz="2400" dirty="0"/>
          </a:p>
        </p:txBody>
      </p:sp>
      <p:sp>
        <p:nvSpPr>
          <p:cNvPr id="32" name="TextBox 31">
            <a:extLst>
              <a:ext uri="{FF2B5EF4-FFF2-40B4-BE49-F238E27FC236}">
                <a16:creationId xmlns:a16="http://schemas.microsoft.com/office/drawing/2014/main" id="{6E96DA08-287D-C0B3-EA1B-33BD1BCECA84}"/>
              </a:ext>
            </a:extLst>
          </p:cNvPr>
          <p:cNvSpPr txBox="1"/>
          <p:nvPr/>
        </p:nvSpPr>
        <p:spPr>
          <a:xfrm>
            <a:off x="6096000" y="2116509"/>
            <a:ext cx="6212040" cy="461665"/>
          </a:xfrm>
          <a:prstGeom prst="rect">
            <a:avLst/>
          </a:prstGeom>
          <a:noFill/>
        </p:spPr>
        <p:txBody>
          <a:bodyPr wrap="square">
            <a:spAutoFit/>
          </a:bodyPr>
          <a:lstStyle/>
          <a:p>
            <a:pPr algn="ctr"/>
            <a:r>
              <a:rPr lang="en-US" sz="2400" dirty="0">
                <a:latin typeface="Bookman Old Style" panose="02050604050505020204" pitchFamily="18" charset="0"/>
              </a:rPr>
              <a:t>separate cognitive process?</a:t>
            </a:r>
            <a:endParaRPr lang="en-ES" sz="2400" dirty="0"/>
          </a:p>
        </p:txBody>
      </p:sp>
      <p:sp>
        <p:nvSpPr>
          <p:cNvPr id="33" name="Title 5">
            <a:extLst>
              <a:ext uri="{FF2B5EF4-FFF2-40B4-BE49-F238E27FC236}">
                <a16:creationId xmlns:a16="http://schemas.microsoft.com/office/drawing/2014/main" id="{8A16DB36-C84F-B321-CEA7-9E92C0D9D2FA}"/>
              </a:ext>
            </a:extLst>
          </p:cNvPr>
          <p:cNvSpPr txBox="1">
            <a:spLocks/>
          </p:cNvSpPr>
          <p:nvPr/>
        </p:nvSpPr>
        <p:spPr>
          <a:xfrm>
            <a:off x="0" y="403298"/>
            <a:ext cx="12192000" cy="106749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4000" dirty="0">
                <a:latin typeface="Bookman Old Style" panose="02050604050505020204" pitchFamily="18" charset="0"/>
              </a:rPr>
              <a:t>Future research</a:t>
            </a:r>
          </a:p>
        </p:txBody>
      </p:sp>
      <p:pic>
        <p:nvPicPr>
          <p:cNvPr id="35" name="Graphic 34" descr="Tick with solid fill">
            <a:extLst>
              <a:ext uri="{FF2B5EF4-FFF2-40B4-BE49-F238E27FC236}">
                <a16:creationId xmlns:a16="http://schemas.microsoft.com/office/drawing/2014/main" id="{61A99316-7EBE-30CD-429E-F5AACCAD29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35598" y="3022217"/>
            <a:ext cx="504000" cy="504000"/>
          </a:xfrm>
          <a:prstGeom prst="rect">
            <a:avLst/>
          </a:prstGeom>
        </p:spPr>
      </p:pic>
      <p:pic>
        <p:nvPicPr>
          <p:cNvPr id="36" name="Graphic 35" descr="Tick with solid fill">
            <a:extLst>
              <a:ext uri="{FF2B5EF4-FFF2-40B4-BE49-F238E27FC236}">
                <a16:creationId xmlns:a16="http://schemas.microsoft.com/office/drawing/2014/main" id="{A4175246-A6AB-C39D-7213-FAF3431F03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98971" y="2978687"/>
            <a:ext cx="504000" cy="504000"/>
          </a:xfrm>
          <a:prstGeom prst="rect">
            <a:avLst/>
          </a:prstGeom>
        </p:spPr>
      </p:pic>
    </p:spTree>
    <p:extLst>
      <p:ext uri="{BB962C8B-B14F-4D97-AF65-F5344CB8AC3E}">
        <p14:creationId xmlns:p14="http://schemas.microsoft.com/office/powerpoint/2010/main" val="5176043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BFB17-FFAF-07DC-E8EB-7C40955668B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F3F5E9A2-1777-51DF-099F-E6636D5F41C8}"/>
              </a:ext>
            </a:extLst>
          </p:cNvPr>
          <p:cNvSpPr txBox="1"/>
          <p:nvPr/>
        </p:nvSpPr>
        <p:spPr>
          <a:xfrm>
            <a:off x="881269" y="1030288"/>
            <a:ext cx="10429461" cy="477054"/>
          </a:xfrm>
          <a:prstGeom prst="rect">
            <a:avLst/>
          </a:prstGeom>
          <a:noFill/>
        </p:spPr>
        <p:txBody>
          <a:bodyPr wrap="square" rtlCol="0">
            <a:spAutoFit/>
          </a:bodyPr>
          <a:lstStyle/>
          <a:p>
            <a:pPr algn="ctr"/>
            <a:r>
              <a:rPr lang="en-ES" sz="2500" b="1" dirty="0">
                <a:latin typeface="Bookman Old Style" panose="02050604050505020204" pitchFamily="18" charset="0"/>
                <a:ea typeface="Helvetica Neue" panose="02000503000000020004" pitchFamily="2" charset="0"/>
                <a:cs typeface="Helvetica Neue" panose="02000503000000020004" pitchFamily="2" charset="0"/>
              </a:rPr>
              <a:t>Thank you!</a:t>
            </a:r>
            <a:endParaRPr lang="en-ES" sz="2200" b="1" dirty="0">
              <a:latin typeface="Bookman Old Style" panose="02050604050505020204" pitchFamily="18" charset="0"/>
              <a:ea typeface="Helvetica Neue" panose="02000503000000020004" pitchFamily="2" charset="0"/>
              <a:cs typeface="Helvetica Neue" panose="02000503000000020004" pitchFamily="2" charset="0"/>
            </a:endParaRPr>
          </a:p>
        </p:txBody>
      </p:sp>
      <p:pic>
        <p:nvPicPr>
          <p:cNvPr id="12" name="Picture 11" descr="https://moralsciencelab.com/assets/img/workshop/knobe.jpg">
            <a:extLst>
              <a:ext uri="{FF2B5EF4-FFF2-40B4-BE49-F238E27FC236}">
                <a16:creationId xmlns:a16="http://schemas.microsoft.com/office/drawing/2014/main" id="{0FDB2DA2-8DAB-A93E-741D-C6B372B00F2D}"/>
              </a:ext>
            </a:extLst>
          </p:cNvPr>
          <p:cNvPicPr>
            <a:picLocks noChangeAspect="1"/>
          </p:cNvPicPr>
          <p:nvPr/>
        </p:nvPicPr>
        <p:blipFill>
          <a:blip r:embed="rId2"/>
          <a:stretch>
            <a:fillRect/>
          </a:stretch>
        </p:blipFill>
        <p:spPr>
          <a:xfrm>
            <a:off x="4654124" y="2349000"/>
            <a:ext cx="2883750" cy="2160000"/>
          </a:xfrm>
          <a:prstGeom prst="rect">
            <a:avLst/>
          </a:prstGeom>
        </p:spPr>
      </p:pic>
      <p:sp>
        <p:nvSpPr>
          <p:cNvPr id="14" name="TextBox 13">
            <a:extLst>
              <a:ext uri="{FF2B5EF4-FFF2-40B4-BE49-F238E27FC236}">
                <a16:creationId xmlns:a16="http://schemas.microsoft.com/office/drawing/2014/main" id="{06BA52DF-0B88-FE46-9271-419BFDBCB5C2}"/>
              </a:ext>
            </a:extLst>
          </p:cNvPr>
          <p:cNvSpPr txBox="1"/>
          <p:nvPr/>
        </p:nvSpPr>
        <p:spPr>
          <a:xfrm>
            <a:off x="4654123" y="4626900"/>
            <a:ext cx="2883751" cy="477054"/>
          </a:xfrm>
          <a:prstGeom prst="rect">
            <a:avLst/>
          </a:prstGeom>
          <a:noFill/>
        </p:spPr>
        <p:txBody>
          <a:bodyPr wrap="square">
            <a:spAutoFit/>
          </a:bodyPr>
          <a:lstStyle/>
          <a:p>
            <a:pPr algn="ctr"/>
            <a:r>
              <a:rPr lang="en-ES" sz="2500" dirty="0">
                <a:latin typeface="Bookman Old Style" panose="02050604050505020204" pitchFamily="18" charset="0"/>
                <a:ea typeface="Helvetica Neue" panose="02000503000000020004" pitchFamily="2" charset="0"/>
                <a:cs typeface="Helvetica Neue" panose="02000503000000020004" pitchFamily="2" charset="0"/>
              </a:rPr>
              <a:t>Joshua Knobe</a:t>
            </a:r>
            <a:endParaRPr lang="en-ES" sz="2200" dirty="0">
              <a:latin typeface="Bookman Old Style" panose="02050604050505020204" pitchFamily="18"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9461006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3AC41-6ADA-8392-3AD1-01B7B0F077AE}"/>
            </a:ext>
          </a:extLst>
        </p:cNvPr>
        <p:cNvGrpSpPr/>
        <p:nvPr/>
      </p:nvGrpSpPr>
      <p:grpSpPr>
        <a:xfrm>
          <a:off x="0" y="0"/>
          <a:ext cx="0" cy="0"/>
          <a:chOff x="0" y="0"/>
          <a:chExt cx="0" cy="0"/>
        </a:xfrm>
      </p:grpSpPr>
      <p:pic>
        <p:nvPicPr>
          <p:cNvPr id="7" name="Picture 6" descr="https://cdn.sanity.io/images/nxpteyfv/goguides/8fcc7aed7ed3b5d0ecb04916ee3adfa76e2cd9e2-1600x1066.jpg">
            <a:extLst>
              <a:ext uri="{FF2B5EF4-FFF2-40B4-BE49-F238E27FC236}">
                <a16:creationId xmlns:a16="http://schemas.microsoft.com/office/drawing/2014/main" id="{67B8BCD0-C151-4E09-125D-ABE63D886152}"/>
              </a:ext>
            </a:extLst>
          </p:cNvPr>
          <p:cNvPicPr>
            <a:picLocks noChangeAspect="1"/>
          </p:cNvPicPr>
          <p:nvPr/>
        </p:nvPicPr>
        <p:blipFill>
          <a:blip r:embed="rId2">
            <a:alphaModFix amt="68000"/>
            <a:extLst>
              <a:ext uri="{BEBA8EAE-BF5A-486C-A8C5-ECC9F3942E4B}">
                <a14:imgProps xmlns:a14="http://schemas.microsoft.com/office/drawing/2010/main">
                  <a14:imgLayer r:embed="rId3">
                    <a14:imgEffect>
                      <a14:artisticBlur radius="30"/>
                    </a14:imgEffect>
                    <a14:imgEffect>
                      <a14:colorTemperature colorTemp="4984"/>
                    </a14:imgEffect>
                    <a14:imgEffect>
                      <a14:brightnessContrast bright="-34000" contrast="1000"/>
                    </a14:imgEffect>
                  </a14:imgLayer>
                </a14:imgProps>
              </a:ext>
            </a:extLst>
          </a:blip>
          <a:srcRect l="3125" t="10953" r="5583" b="10834"/>
          <a:stretch>
            <a:fillRect/>
          </a:stretch>
        </p:blipFill>
        <p:spPr>
          <a:xfrm>
            <a:off x="0" y="-45315"/>
            <a:ext cx="12192000" cy="6959262"/>
          </a:xfrm>
          <a:prstGeom prst="rect">
            <a:avLst/>
          </a:prstGeom>
        </p:spPr>
      </p:pic>
      <p:sp>
        <p:nvSpPr>
          <p:cNvPr id="2" name="Title 1">
            <a:extLst>
              <a:ext uri="{FF2B5EF4-FFF2-40B4-BE49-F238E27FC236}">
                <a16:creationId xmlns:a16="http://schemas.microsoft.com/office/drawing/2014/main" id="{EB66FAC8-3BCD-A745-C7B7-F7466D5EC5CE}"/>
              </a:ext>
            </a:extLst>
          </p:cNvPr>
          <p:cNvSpPr>
            <a:spLocks noGrp="1"/>
          </p:cNvSpPr>
          <p:nvPr>
            <p:ph type="ctrTitle"/>
          </p:nvPr>
        </p:nvSpPr>
        <p:spPr/>
        <p:txBody>
          <a:bodyPr/>
          <a:lstStyle/>
          <a:p>
            <a:endParaRPr lang="en-ES"/>
          </a:p>
        </p:txBody>
      </p:sp>
      <p:sp>
        <p:nvSpPr>
          <p:cNvPr id="3" name="Subtitle 2">
            <a:extLst>
              <a:ext uri="{FF2B5EF4-FFF2-40B4-BE49-F238E27FC236}">
                <a16:creationId xmlns:a16="http://schemas.microsoft.com/office/drawing/2014/main" id="{0E96AC11-C640-E9BF-87E1-6D45BF81F95B}"/>
              </a:ext>
            </a:extLst>
          </p:cNvPr>
          <p:cNvSpPr>
            <a:spLocks noGrp="1"/>
          </p:cNvSpPr>
          <p:nvPr>
            <p:ph type="subTitle" idx="1"/>
          </p:nvPr>
        </p:nvSpPr>
        <p:spPr/>
        <p:txBody>
          <a:bodyPr/>
          <a:lstStyle/>
          <a:p>
            <a:endParaRPr lang="en-ES"/>
          </a:p>
        </p:txBody>
      </p:sp>
      <p:pic>
        <p:nvPicPr>
          <p:cNvPr id="6" name="Picture 5" descr="https://cdn.sanity.io/images/nxpteyfv/goguides/8fcc7aed7ed3b5d0ecb04916ee3adfa76e2cd9e2-1600x1066.jpg">
            <a:extLst>
              <a:ext uri="{FF2B5EF4-FFF2-40B4-BE49-F238E27FC236}">
                <a16:creationId xmlns:a16="http://schemas.microsoft.com/office/drawing/2014/main" id="{596F0860-D4D5-6C4B-BF16-F45A4C16C7BF}"/>
              </a:ext>
            </a:extLst>
          </p:cNvPr>
          <p:cNvPicPr>
            <a:picLocks noChangeAspect="1"/>
          </p:cNvPicPr>
          <p:nvPr/>
        </p:nvPicPr>
        <p:blipFill>
          <a:blip r:embed="rId4"/>
          <a:stretch>
            <a:fillRect/>
          </a:stretch>
        </p:blipFill>
        <p:spPr>
          <a:xfrm>
            <a:off x="881269" y="-45315"/>
            <a:ext cx="10429461" cy="6948629"/>
          </a:xfrm>
          <a:prstGeom prst="rect">
            <a:avLst/>
          </a:prstGeom>
        </p:spPr>
      </p:pic>
      <p:sp>
        <p:nvSpPr>
          <p:cNvPr id="8" name="TextBox 7">
            <a:extLst>
              <a:ext uri="{FF2B5EF4-FFF2-40B4-BE49-F238E27FC236}">
                <a16:creationId xmlns:a16="http://schemas.microsoft.com/office/drawing/2014/main" id="{F3753BBA-6454-557F-7649-C80EF621EF47}"/>
              </a:ext>
            </a:extLst>
          </p:cNvPr>
          <p:cNvSpPr txBox="1"/>
          <p:nvPr/>
        </p:nvSpPr>
        <p:spPr>
          <a:xfrm>
            <a:off x="881269" y="1030288"/>
            <a:ext cx="10429461" cy="477054"/>
          </a:xfrm>
          <a:prstGeom prst="rect">
            <a:avLst/>
          </a:prstGeom>
          <a:noFill/>
        </p:spPr>
        <p:txBody>
          <a:bodyPr wrap="square" rtlCol="0">
            <a:spAutoFit/>
          </a:bodyPr>
          <a:lstStyle/>
          <a:p>
            <a:pPr algn="ctr"/>
            <a:r>
              <a:rPr lang="en-ES" sz="2500" dirty="0">
                <a:latin typeface="Bookman Old Style" panose="02050604050505020204" pitchFamily="18" charset="0"/>
                <a:ea typeface="Helvetica Neue" panose="02000503000000020004" pitchFamily="2" charset="0"/>
                <a:cs typeface="Helvetica Neue" panose="02000503000000020004" pitchFamily="2" charset="0"/>
              </a:rPr>
              <a:t>Thank you!</a:t>
            </a:r>
            <a:endParaRPr lang="en-ES" sz="2200" dirty="0">
              <a:latin typeface="Bookman Old Style" panose="02050604050505020204" pitchFamily="18" charset="0"/>
              <a:ea typeface="Helvetica Neue" panose="02000503000000020004" pitchFamily="2" charset="0"/>
              <a:cs typeface="Helvetica Neue" panose="02000503000000020004" pitchFamily="2" charset="0"/>
            </a:endParaRPr>
          </a:p>
        </p:txBody>
      </p:sp>
      <p:sp>
        <p:nvSpPr>
          <p:cNvPr id="4" name="Rectangle 3">
            <a:extLst>
              <a:ext uri="{FF2B5EF4-FFF2-40B4-BE49-F238E27FC236}">
                <a16:creationId xmlns:a16="http://schemas.microsoft.com/office/drawing/2014/main" id="{759E3CED-CBE1-C2BB-0B32-18291CD81EF8}"/>
              </a:ext>
            </a:extLst>
          </p:cNvPr>
          <p:cNvSpPr/>
          <p:nvPr/>
        </p:nvSpPr>
        <p:spPr>
          <a:xfrm>
            <a:off x="881269" y="6092455"/>
            <a:ext cx="10429461" cy="789593"/>
          </a:xfrm>
          <a:prstGeom prst="rect">
            <a:avLst/>
          </a:prstGeom>
          <a:solidFill>
            <a:srgbClr val="9DA7DE">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Bookman Old Style" panose="02050604050505020204" pitchFamily="18" charset="0"/>
              </a:rPr>
              <a:t>6th European Experimental Philosophy Conference </a:t>
            </a:r>
          </a:p>
          <a:p>
            <a:r>
              <a:rPr lang="en-ES" sz="1600" dirty="0">
                <a:solidFill>
                  <a:schemeClr val="tx1"/>
                </a:solidFill>
                <a:latin typeface="Bookman Old Style" panose="02050604050505020204" pitchFamily="18" charset="0"/>
              </a:rPr>
              <a:t>University of Cagliari, </a:t>
            </a:r>
          </a:p>
          <a:p>
            <a:r>
              <a:rPr lang="en-GB" sz="1600" dirty="0">
                <a:solidFill>
                  <a:schemeClr val="tx1"/>
                </a:solidFill>
                <a:latin typeface="Bookman Old Style" panose="02050604050505020204" pitchFamily="18" charset="0"/>
              </a:rPr>
              <a:t>September 8–11, 2026</a:t>
            </a:r>
            <a:endParaRPr lang="en-ES" sz="1600" dirty="0">
              <a:solidFill>
                <a:schemeClr val="tx1"/>
              </a:solidFill>
              <a:latin typeface="Bookman Old Style" panose="02050604050505020204" pitchFamily="18" charset="0"/>
            </a:endParaRPr>
          </a:p>
        </p:txBody>
      </p:sp>
      <p:sp>
        <p:nvSpPr>
          <p:cNvPr id="10" name="Rectangle 9">
            <a:extLst>
              <a:ext uri="{FF2B5EF4-FFF2-40B4-BE49-F238E27FC236}">
                <a16:creationId xmlns:a16="http://schemas.microsoft.com/office/drawing/2014/main" id="{F1DC09C4-70F8-F66F-B241-D9CFDA40D0E9}"/>
              </a:ext>
            </a:extLst>
          </p:cNvPr>
          <p:cNvSpPr/>
          <p:nvPr/>
        </p:nvSpPr>
        <p:spPr>
          <a:xfrm>
            <a:off x="6522180" y="6092456"/>
            <a:ext cx="4788549" cy="82149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pic>
        <p:nvPicPr>
          <p:cNvPr id="9" name="Picture 8" descr="Convocatoria 2024 de becas Leonardo a Investigadores y Creadores Culturales">
            <a:extLst>
              <a:ext uri="{FF2B5EF4-FFF2-40B4-BE49-F238E27FC236}">
                <a16:creationId xmlns:a16="http://schemas.microsoft.com/office/drawing/2014/main" id="{0E6DDBA2-3DA4-1A96-DDD2-F5AD1DA54390}"/>
              </a:ext>
            </a:extLst>
          </p:cNvPr>
          <p:cNvPicPr>
            <a:picLocks noChangeAspect="1"/>
          </p:cNvPicPr>
          <p:nvPr/>
        </p:nvPicPr>
        <p:blipFill>
          <a:blip r:embed="rId5"/>
          <a:stretch>
            <a:fillRect/>
          </a:stretch>
        </p:blipFill>
        <p:spPr>
          <a:xfrm>
            <a:off x="6993782" y="6135462"/>
            <a:ext cx="2225158" cy="704054"/>
          </a:xfrm>
          <a:prstGeom prst="rect">
            <a:avLst/>
          </a:prstGeom>
        </p:spPr>
      </p:pic>
      <p:pic>
        <p:nvPicPr>
          <p:cNvPr id="5" name="Picture 4" descr="https://encrypted-tbn0.gstatic.com/images?q=tbn:ANd9GcQzhU5-nMKqO5ICUtJ4clwKMECMH77j5h_CAH__j7Z6kyVJeSpiIYcUmcc&amp;s=10">
            <a:extLst>
              <a:ext uri="{FF2B5EF4-FFF2-40B4-BE49-F238E27FC236}">
                <a16:creationId xmlns:a16="http://schemas.microsoft.com/office/drawing/2014/main" id="{C29B6637-4700-B7C9-806F-96757896D0D1}"/>
              </a:ext>
            </a:extLst>
          </p:cNvPr>
          <p:cNvPicPr>
            <a:picLocks noChangeAspect="1"/>
          </p:cNvPicPr>
          <p:nvPr/>
        </p:nvPicPr>
        <p:blipFill>
          <a:blip r:embed="rId6"/>
          <a:srcRect t="5882"/>
          <a:stretch>
            <a:fillRect/>
          </a:stretch>
        </p:blipFill>
        <p:spPr>
          <a:xfrm>
            <a:off x="9500592" y="6087139"/>
            <a:ext cx="1540050" cy="821492"/>
          </a:xfrm>
          <a:prstGeom prst="rect">
            <a:avLst/>
          </a:prstGeom>
        </p:spPr>
      </p:pic>
    </p:spTree>
    <p:extLst>
      <p:ext uri="{BB962C8B-B14F-4D97-AF65-F5344CB8AC3E}">
        <p14:creationId xmlns:p14="http://schemas.microsoft.com/office/powerpoint/2010/main" val="42758099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492F4C2-0B29-884A-0736-6B445ED12E95}"/>
              </a:ext>
            </a:extLst>
          </p:cNvPr>
          <p:cNvPicPr>
            <a:picLocks noChangeAspect="1"/>
          </p:cNvPicPr>
          <p:nvPr/>
        </p:nvPicPr>
        <p:blipFill>
          <a:blip r:embed="rId2"/>
          <a:stretch>
            <a:fillRect/>
          </a:stretch>
        </p:blipFill>
        <p:spPr>
          <a:xfrm>
            <a:off x="2320206" y="410923"/>
            <a:ext cx="7551587" cy="6036153"/>
          </a:xfrm>
          <a:prstGeom prst="rect">
            <a:avLst/>
          </a:prstGeom>
        </p:spPr>
      </p:pic>
    </p:spTree>
    <p:extLst>
      <p:ext uri="{BB962C8B-B14F-4D97-AF65-F5344CB8AC3E}">
        <p14:creationId xmlns:p14="http://schemas.microsoft.com/office/powerpoint/2010/main" val="22681259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48DC7C7-CAF7-E3AE-2577-3645EA69E540}"/>
              </a:ext>
            </a:extLst>
          </p:cNvPr>
          <p:cNvPicPr>
            <a:picLocks noChangeAspect="1"/>
          </p:cNvPicPr>
          <p:nvPr/>
        </p:nvPicPr>
        <p:blipFill>
          <a:blip r:embed="rId2"/>
          <a:stretch>
            <a:fillRect/>
          </a:stretch>
        </p:blipFill>
        <p:spPr>
          <a:xfrm>
            <a:off x="2501921" y="344031"/>
            <a:ext cx="7188158" cy="5990131"/>
          </a:xfrm>
          <a:prstGeom prst="rect">
            <a:avLst/>
          </a:prstGeom>
        </p:spPr>
      </p:pic>
    </p:spTree>
    <p:extLst>
      <p:ext uri="{BB962C8B-B14F-4D97-AF65-F5344CB8AC3E}">
        <p14:creationId xmlns:p14="http://schemas.microsoft.com/office/powerpoint/2010/main" val="901261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3171C-C3B9-EB90-D1DD-AE14F1A432D8}"/>
              </a:ext>
            </a:extLst>
          </p:cNvPr>
          <p:cNvSpPr>
            <a:spLocks noGrp="1"/>
          </p:cNvSpPr>
          <p:nvPr>
            <p:ph type="title"/>
          </p:nvPr>
        </p:nvSpPr>
        <p:spPr/>
        <p:txBody>
          <a:bodyPr/>
          <a:lstStyle/>
          <a:p>
            <a:r>
              <a:rPr lang="en-ES" dirty="0"/>
              <a:t>Trial-Level Analyses</a:t>
            </a:r>
          </a:p>
        </p:txBody>
      </p:sp>
      <p:sp>
        <p:nvSpPr>
          <p:cNvPr id="4" name="TextBox 3">
            <a:extLst>
              <a:ext uri="{FF2B5EF4-FFF2-40B4-BE49-F238E27FC236}">
                <a16:creationId xmlns:a16="http://schemas.microsoft.com/office/drawing/2014/main" id="{93F84A0B-F37B-4876-0EEA-F1100B52EF11}"/>
              </a:ext>
            </a:extLst>
          </p:cNvPr>
          <p:cNvSpPr txBox="1"/>
          <p:nvPr/>
        </p:nvSpPr>
        <p:spPr>
          <a:xfrm>
            <a:off x="8259252" y="2276231"/>
            <a:ext cx="2069301" cy="369332"/>
          </a:xfrm>
          <a:prstGeom prst="rect">
            <a:avLst/>
          </a:prstGeom>
          <a:noFill/>
        </p:spPr>
        <p:txBody>
          <a:bodyPr wrap="square">
            <a:spAutoFit/>
          </a:bodyPr>
          <a:lstStyle/>
          <a:p>
            <a:pPr marL="342900" indent="-342900">
              <a:buAutoNum type="arabicParenR"/>
            </a:pPr>
            <a:r>
              <a:rPr lang="en-ES" dirty="0"/>
              <a:t>Reaction time</a:t>
            </a:r>
          </a:p>
        </p:txBody>
      </p:sp>
      <p:pic>
        <p:nvPicPr>
          <p:cNvPr id="5" name="Picture 4">
            <a:extLst>
              <a:ext uri="{FF2B5EF4-FFF2-40B4-BE49-F238E27FC236}">
                <a16:creationId xmlns:a16="http://schemas.microsoft.com/office/drawing/2014/main" id="{83F65745-07DF-D854-28BF-8313CD99621B}"/>
              </a:ext>
            </a:extLst>
          </p:cNvPr>
          <p:cNvPicPr>
            <a:picLocks noChangeAspect="1"/>
          </p:cNvPicPr>
          <p:nvPr/>
        </p:nvPicPr>
        <p:blipFill>
          <a:blip r:embed="rId2"/>
          <a:stretch>
            <a:fillRect/>
          </a:stretch>
        </p:blipFill>
        <p:spPr>
          <a:xfrm>
            <a:off x="3723771" y="1284559"/>
            <a:ext cx="4445000" cy="4445000"/>
          </a:xfrm>
          <a:prstGeom prst="rect">
            <a:avLst/>
          </a:prstGeom>
        </p:spPr>
      </p:pic>
      <p:sp>
        <p:nvSpPr>
          <p:cNvPr id="19" name="Rectangle 18">
            <a:extLst>
              <a:ext uri="{FF2B5EF4-FFF2-40B4-BE49-F238E27FC236}">
                <a16:creationId xmlns:a16="http://schemas.microsoft.com/office/drawing/2014/main" id="{C0216988-9C6C-DD10-8EF9-FED5D8203D78}"/>
              </a:ext>
            </a:extLst>
          </p:cNvPr>
          <p:cNvSpPr/>
          <p:nvPr/>
        </p:nvSpPr>
        <p:spPr>
          <a:xfrm>
            <a:off x="4346263" y="5277480"/>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sp>
        <p:nvSpPr>
          <p:cNvPr id="20" name="Rectangle 19">
            <a:extLst>
              <a:ext uri="{FF2B5EF4-FFF2-40B4-BE49-F238E27FC236}">
                <a16:creationId xmlns:a16="http://schemas.microsoft.com/office/drawing/2014/main" id="{4AC873CC-B3A4-A80A-8A73-9634B0905A74}"/>
              </a:ext>
            </a:extLst>
          </p:cNvPr>
          <p:cNvSpPr/>
          <p:nvPr/>
        </p:nvSpPr>
        <p:spPr>
          <a:xfrm>
            <a:off x="5141933" y="5282617"/>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sp>
        <p:nvSpPr>
          <p:cNvPr id="21" name="Rectangle 20">
            <a:extLst>
              <a:ext uri="{FF2B5EF4-FFF2-40B4-BE49-F238E27FC236}">
                <a16:creationId xmlns:a16="http://schemas.microsoft.com/office/drawing/2014/main" id="{05A14F63-CABF-49EE-0D24-26868BDD2E42}"/>
              </a:ext>
            </a:extLst>
          </p:cNvPr>
          <p:cNvSpPr/>
          <p:nvPr/>
        </p:nvSpPr>
        <p:spPr>
          <a:xfrm>
            <a:off x="5926971" y="5277480"/>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sp>
        <p:nvSpPr>
          <p:cNvPr id="22" name="Rectangle 21">
            <a:extLst>
              <a:ext uri="{FF2B5EF4-FFF2-40B4-BE49-F238E27FC236}">
                <a16:creationId xmlns:a16="http://schemas.microsoft.com/office/drawing/2014/main" id="{7C66B30E-5FA5-D84E-D7A7-AFE63381424E}"/>
              </a:ext>
            </a:extLst>
          </p:cNvPr>
          <p:cNvSpPr/>
          <p:nvPr/>
        </p:nvSpPr>
        <p:spPr>
          <a:xfrm>
            <a:off x="6717871" y="5281219"/>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spTree>
    <p:extLst>
      <p:ext uri="{BB962C8B-B14F-4D97-AF65-F5344CB8AC3E}">
        <p14:creationId xmlns:p14="http://schemas.microsoft.com/office/powerpoint/2010/main" val="11934827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6F240-D58C-6D0F-167A-568CC0F1EF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46B543-C0AA-5192-0384-2D834510A8C4}"/>
              </a:ext>
            </a:extLst>
          </p:cNvPr>
          <p:cNvSpPr>
            <a:spLocks noGrp="1"/>
          </p:cNvSpPr>
          <p:nvPr>
            <p:ph type="title"/>
          </p:nvPr>
        </p:nvSpPr>
        <p:spPr/>
        <p:txBody>
          <a:bodyPr/>
          <a:lstStyle/>
          <a:p>
            <a:r>
              <a:rPr lang="en-ES" dirty="0"/>
              <a:t>Trial-Level Analyses</a:t>
            </a:r>
          </a:p>
        </p:txBody>
      </p:sp>
      <p:sp>
        <p:nvSpPr>
          <p:cNvPr id="4" name="TextBox 3">
            <a:extLst>
              <a:ext uri="{FF2B5EF4-FFF2-40B4-BE49-F238E27FC236}">
                <a16:creationId xmlns:a16="http://schemas.microsoft.com/office/drawing/2014/main" id="{4BAD9338-52E3-7EC9-2C88-718E6CEE2842}"/>
              </a:ext>
            </a:extLst>
          </p:cNvPr>
          <p:cNvSpPr txBox="1"/>
          <p:nvPr/>
        </p:nvSpPr>
        <p:spPr>
          <a:xfrm>
            <a:off x="8259252" y="2276232"/>
            <a:ext cx="2069301" cy="2031325"/>
          </a:xfrm>
          <a:prstGeom prst="rect">
            <a:avLst/>
          </a:prstGeom>
          <a:noFill/>
        </p:spPr>
        <p:txBody>
          <a:bodyPr wrap="square">
            <a:spAutoFit/>
          </a:bodyPr>
          <a:lstStyle/>
          <a:p>
            <a:pPr marL="342900" indent="-342900">
              <a:buAutoNum type="arabicParenR"/>
            </a:pPr>
            <a:r>
              <a:rPr lang="en-ES" dirty="0"/>
              <a:t>Reaction time</a:t>
            </a:r>
          </a:p>
          <a:p>
            <a:pPr marL="342900" indent="-342900">
              <a:buAutoNum type="arabicParenR"/>
            </a:pPr>
            <a:endParaRPr lang="en-ES" dirty="0"/>
          </a:p>
          <a:p>
            <a:pPr marL="342900" indent="-342900">
              <a:buAutoNum type="arabicParenR"/>
            </a:pPr>
            <a:r>
              <a:rPr lang="en-ES" dirty="0"/>
              <a:t>Maximum absolute deviation (MAD)</a:t>
            </a:r>
          </a:p>
          <a:p>
            <a:pPr marL="342900" indent="-342900">
              <a:buAutoNum type="arabicParenR"/>
            </a:pPr>
            <a:endParaRPr lang="en-ES" dirty="0"/>
          </a:p>
        </p:txBody>
      </p:sp>
      <p:pic>
        <p:nvPicPr>
          <p:cNvPr id="5" name="Picture 4">
            <a:extLst>
              <a:ext uri="{FF2B5EF4-FFF2-40B4-BE49-F238E27FC236}">
                <a16:creationId xmlns:a16="http://schemas.microsoft.com/office/drawing/2014/main" id="{93451D16-E353-4CCF-3F12-5C9F625043D6}"/>
              </a:ext>
            </a:extLst>
          </p:cNvPr>
          <p:cNvPicPr>
            <a:picLocks noChangeAspect="1"/>
          </p:cNvPicPr>
          <p:nvPr/>
        </p:nvPicPr>
        <p:blipFill>
          <a:blip r:embed="rId2"/>
          <a:stretch>
            <a:fillRect/>
          </a:stretch>
        </p:blipFill>
        <p:spPr>
          <a:xfrm>
            <a:off x="3723771" y="1284559"/>
            <a:ext cx="4445000" cy="4445000"/>
          </a:xfrm>
          <a:prstGeom prst="rect">
            <a:avLst/>
          </a:prstGeom>
        </p:spPr>
      </p:pic>
      <p:sp>
        <p:nvSpPr>
          <p:cNvPr id="19" name="Rectangle 18">
            <a:extLst>
              <a:ext uri="{FF2B5EF4-FFF2-40B4-BE49-F238E27FC236}">
                <a16:creationId xmlns:a16="http://schemas.microsoft.com/office/drawing/2014/main" id="{A3130287-2E0E-B515-773A-B4F0213661CC}"/>
              </a:ext>
            </a:extLst>
          </p:cNvPr>
          <p:cNvSpPr/>
          <p:nvPr/>
        </p:nvSpPr>
        <p:spPr>
          <a:xfrm>
            <a:off x="4346263" y="5277480"/>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sp>
        <p:nvSpPr>
          <p:cNvPr id="20" name="Rectangle 19">
            <a:extLst>
              <a:ext uri="{FF2B5EF4-FFF2-40B4-BE49-F238E27FC236}">
                <a16:creationId xmlns:a16="http://schemas.microsoft.com/office/drawing/2014/main" id="{69497C15-517E-D806-AC15-5FCCE2F7282D}"/>
              </a:ext>
            </a:extLst>
          </p:cNvPr>
          <p:cNvSpPr/>
          <p:nvPr/>
        </p:nvSpPr>
        <p:spPr>
          <a:xfrm>
            <a:off x="5141933" y="5282617"/>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sp>
        <p:nvSpPr>
          <p:cNvPr id="21" name="Rectangle 20">
            <a:extLst>
              <a:ext uri="{FF2B5EF4-FFF2-40B4-BE49-F238E27FC236}">
                <a16:creationId xmlns:a16="http://schemas.microsoft.com/office/drawing/2014/main" id="{6D679618-5712-7B33-563F-2348919AF584}"/>
              </a:ext>
            </a:extLst>
          </p:cNvPr>
          <p:cNvSpPr/>
          <p:nvPr/>
        </p:nvSpPr>
        <p:spPr>
          <a:xfrm>
            <a:off x="5926971" y="5277480"/>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sp>
        <p:nvSpPr>
          <p:cNvPr id="22" name="Rectangle 21">
            <a:extLst>
              <a:ext uri="{FF2B5EF4-FFF2-40B4-BE49-F238E27FC236}">
                <a16:creationId xmlns:a16="http://schemas.microsoft.com/office/drawing/2014/main" id="{A1A4CCF9-69FB-FFA3-213F-C50C2CAEB4E7}"/>
              </a:ext>
            </a:extLst>
          </p:cNvPr>
          <p:cNvSpPr/>
          <p:nvPr/>
        </p:nvSpPr>
        <p:spPr>
          <a:xfrm>
            <a:off x="6717871" y="5281219"/>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cxnSp>
        <p:nvCxnSpPr>
          <p:cNvPr id="42" name="Straight Connector 41">
            <a:extLst>
              <a:ext uri="{FF2B5EF4-FFF2-40B4-BE49-F238E27FC236}">
                <a16:creationId xmlns:a16="http://schemas.microsoft.com/office/drawing/2014/main" id="{9E8FB43F-21E4-AC00-4252-F03DB9C67DA5}"/>
              </a:ext>
            </a:extLst>
          </p:cNvPr>
          <p:cNvCxnSpPr>
            <a:cxnSpLocks/>
          </p:cNvCxnSpPr>
          <p:nvPr/>
        </p:nvCxnSpPr>
        <p:spPr>
          <a:xfrm flipH="1" flipV="1">
            <a:off x="4448269" y="1846907"/>
            <a:ext cx="3358836" cy="3313568"/>
          </a:xfrm>
          <a:prstGeom prst="line">
            <a:avLst/>
          </a:prstGeom>
          <a:ln>
            <a:solidFill>
              <a:schemeClr val="accent2">
                <a:lumMod val="7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060E05C1-37C4-894F-6106-6ED631472AEA}"/>
              </a:ext>
            </a:extLst>
          </p:cNvPr>
          <p:cNvCxnSpPr>
            <a:cxnSpLocks/>
          </p:cNvCxnSpPr>
          <p:nvPr/>
        </p:nvCxnSpPr>
        <p:spPr>
          <a:xfrm flipV="1">
            <a:off x="6462890" y="2957689"/>
            <a:ext cx="874889" cy="841022"/>
          </a:xfrm>
          <a:prstGeom prst="straightConnector1">
            <a:avLst/>
          </a:prstGeom>
          <a:ln w="6350">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5648334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104AB9-DACA-77E3-8D78-5AC541484F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53697A-3012-BDAA-E146-8A6C64F48D31}"/>
              </a:ext>
            </a:extLst>
          </p:cNvPr>
          <p:cNvSpPr>
            <a:spLocks noGrp="1"/>
          </p:cNvSpPr>
          <p:nvPr>
            <p:ph type="title"/>
          </p:nvPr>
        </p:nvSpPr>
        <p:spPr/>
        <p:txBody>
          <a:bodyPr/>
          <a:lstStyle/>
          <a:p>
            <a:r>
              <a:rPr lang="en-ES" dirty="0"/>
              <a:t>Trial-Level Analyses</a:t>
            </a:r>
          </a:p>
        </p:txBody>
      </p:sp>
      <p:sp>
        <p:nvSpPr>
          <p:cNvPr id="4" name="TextBox 3">
            <a:extLst>
              <a:ext uri="{FF2B5EF4-FFF2-40B4-BE49-F238E27FC236}">
                <a16:creationId xmlns:a16="http://schemas.microsoft.com/office/drawing/2014/main" id="{9AE4471E-61E0-B5A1-51E5-0C911D9F2930}"/>
              </a:ext>
            </a:extLst>
          </p:cNvPr>
          <p:cNvSpPr txBox="1"/>
          <p:nvPr/>
        </p:nvSpPr>
        <p:spPr>
          <a:xfrm>
            <a:off x="8259252" y="2276232"/>
            <a:ext cx="2069301" cy="2585323"/>
          </a:xfrm>
          <a:prstGeom prst="rect">
            <a:avLst/>
          </a:prstGeom>
          <a:noFill/>
        </p:spPr>
        <p:txBody>
          <a:bodyPr wrap="square">
            <a:spAutoFit/>
          </a:bodyPr>
          <a:lstStyle/>
          <a:p>
            <a:pPr marL="342900" indent="-342900">
              <a:buAutoNum type="arabicParenR"/>
            </a:pPr>
            <a:r>
              <a:rPr lang="en-ES" dirty="0"/>
              <a:t>Reaction time</a:t>
            </a:r>
          </a:p>
          <a:p>
            <a:pPr marL="342900" indent="-342900">
              <a:buAutoNum type="arabicParenR"/>
            </a:pPr>
            <a:endParaRPr lang="en-ES" dirty="0"/>
          </a:p>
          <a:p>
            <a:pPr marL="342900" indent="-342900">
              <a:buAutoNum type="arabicParenR"/>
            </a:pPr>
            <a:r>
              <a:rPr lang="en-ES" dirty="0"/>
              <a:t>Maximum absolute deviation (MAD)</a:t>
            </a:r>
          </a:p>
          <a:p>
            <a:pPr marL="342900" indent="-342900">
              <a:buAutoNum type="arabicParenR"/>
            </a:pPr>
            <a:endParaRPr lang="en-ES" dirty="0"/>
          </a:p>
          <a:p>
            <a:pPr marL="342900" indent="-342900">
              <a:buAutoNum type="arabicParenR"/>
            </a:pPr>
            <a:r>
              <a:rPr lang="en-ES" dirty="0"/>
              <a:t>Area under the curve (AUC)</a:t>
            </a:r>
          </a:p>
        </p:txBody>
      </p:sp>
      <p:pic>
        <p:nvPicPr>
          <p:cNvPr id="5" name="Picture 4">
            <a:extLst>
              <a:ext uri="{FF2B5EF4-FFF2-40B4-BE49-F238E27FC236}">
                <a16:creationId xmlns:a16="http://schemas.microsoft.com/office/drawing/2014/main" id="{944B955B-31D6-EEF1-C649-DC68AC3DC1CE}"/>
              </a:ext>
            </a:extLst>
          </p:cNvPr>
          <p:cNvPicPr>
            <a:picLocks noChangeAspect="1"/>
          </p:cNvPicPr>
          <p:nvPr/>
        </p:nvPicPr>
        <p:blipFill>
          <a:blip r:embed="rId2"/>
          <a:stretch>
            <a:fillRect/>
          </a:stretch>
        </p:blipFill>
        <p:spPr>
          <a:xfrm>
            <a:off x="3723771" y="1284559"/>
            <a:ext cx="4445000" cy="4445000"/>
          </a:xfrm>
          <a:prstGeom prst="rect">
            <a:avLst/>
          </a:prstGeom>
        </p:spPr>
      </p:pic>
      <p:sp>
        <p:nvSpPr>
          <p:cNvPr id="19" name="Rectangle 18">
            <a:extLst>
              <a:ext uri="{FF2B5EF4-FFF2-40B4-BE49-F238E27FC236}">
                <a16:creationId xmlns:a16="http://schemas.microsoft.com/office/drawing/2014/main" id="{22D4AE19-8550-917E-1A84-B877EA18D43F}"/>
              </a:ext>
            </a:extLst>
          </p:cNvPr>
          <p:cNvSpPr/>
          <p:nvPr/>
        </p:nvSpPr>
        <p:spPr>
          <a:xfrm>
            <a:off x="4346263" y="5277480"/>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sp>
        <p:nvSpPr>
          <p:cNvPr id="20" name="Rectangle 19">
            <a:extLst>
              <a:ext uri="{FF2B5EF4-FFF2-40B4-BE49-F238E27FC236}">
                <a16:creationId xmlns:a16="http://schemas.microsoft.com/office/drawing/2014/main" id="{891FC5E6-FADF-A103-9215-0AD4D455E733}"/>
              </a:ext>
            </a:extLst>
          </p:cNvPr>
          <p:cNvSpPr/>
          <p:nvPr/>
        </p:nvSpPr>
        <p:spPr>
          <a:xfrm>
            <a:off x="5141933" y="5282617"/>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sp>
        <p:nvSpPr>
          <p:cNvPr id="21" name="Rectangle 20">
            <a:extLst>
              <a:ext uri="{FF2B5EF4-FFF2-40B4-BE49-F238E27FC236}">
                <a16:creationId xmlns:a16="http://schemas.microsoft.com/office/drawing/2014/main" id="{9F688892-BD65-1C3A-8766-45BE3521AFA6}"/>
              </a:ext>
            </a:extLst>
          </p:cNvPr>
          <p:cNvSpPr/>
          <p:nvPr/>
        </p:nvSpPr>
        <p:spPr>
          <a:xfrm>
            <a:off x="5926971" y="5277480"/>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sp>
        <p:nvSpPr>
          <p:cNvPr id="22" name="Rectangle 21">
            <a:extLst>
              <a:ext uri="{FF2B5EF4-FFF2-40B4-BE49-F238E27FC236}">
                <a16:creationId xmlns:a16="http://schemas.microsoft.com/office/drawing/2014/main" id="{F88EE11A-8253-5549-3859-BDEF6A98F5EC}"/>
              </a:ext>
            </a:extLst>
          </p:cNvPr>
          <p:cNvSpPr/>
          <p:nvPr/>
        </p:nvSpPr>
        <p:spPr>
          <a:xfrm>
            <a:off x="6717871" y="5281219"/>
            <a:ext cx="240323" cy="9692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dirty="0"/>
          </a:p>
        </p:txBody>
      </p:sp>
      <p:cxnSp>
        <p:nvCxnSpPr>
          <p:cNvPr id="42" name="Straight Connector 41">
            <a:extLst>
              <a:ext uri="{FF2B5EF4-FFF2-40B4-BE49-F238E27FC236}">
                <a16:creationId xmlns:a16="http://schemas.microsoft.com/office/drawing/2014/main" id="{600162FA-BB38-DB13-0060-6E5C789AD5B4}"/>
              </a:ext>
            </a:extLst>
          </p:cNvPr>
          <p:cNvCxnSpPr>
            <a:cxnSpLocks/>
          </p:cNvCxnSpPr>
          <p:nvPr/>
        </p:nvCxnSpPr>
        <p:spPr>
          <a:xfrm flipH="1" flipV="1">
            <a:off x="4448269" y="1846907"/>
            <a:ext cx="3358836" cy="3313568"/>
          </a:xfrm>
          <a:prstGeom prst="line">
            <a:avLst/>
          </a:prstGeom>
          <a:ln>
            <a:solidFill>
              <a:schemeClr val="accent2">
                <a:lumMod val="75000"/>
              </a:schemeClr>
            </a:solidFill>
            <a:prstDash val="dash"/>
          </a:ln>
        </p:spPr>
        <p:style>
          <a:lnRef idx="2">
            <a:schemeClr val="accent1"/>
          </a:lnRef>
          <a:fillRef idx="0">
            <a:schemeClr val="accent1"/>
          </a:fillRef>
          <a:effectRef idx="1">
            <a:schemeClr val="accent1"/>
          </a:effectRef>
          <a:fontRef idx="minor">
            <a:schemeClr val="tx1"/>
          </a:fontRef>
        </p:style>
      </p:cxnSp>
      <p:sp>
        <p:nvSpPr>
          <p:cNvPr id="3" name="Freeform 2">
            <a:extLst>
              <a:ext uri="{FF2B5EF4-FFF2-40B4-BE49-F238E27FC236}">
                <a16:creationId xmlns:a16="http://schemas.microsoft.com/office/drawing/2014/main" id="{B846F30D-C306-8F01-297D-9557000E9C19}"/>
              </a:ext>
            </a:extLst>
          </p:cNvPr>
          <p:cNvSpPr/>
          <p:nvPr/>
        </p:nvSpPr>
        <p:spPr>
          <a:xfrm>
            <a:off x="4476045" y="1840091"/>
            <a:ext cx="3341511" cy="3313289"/>
          </a:xfrm>
          <a:custGeom>
            <a:avLst/>
            <a:gdLst>
              <a:gd name="csX0" fmla="*/ 0 w 3341511"/>
              <a:gd name="csY0" fmla="*/ 0 h 3313289"/>
              <a:gd name="csX1" fmla="*/ 3341511 w 3341511"/>
              <a:gd name="csY1" fmla="*/ 3313289 h 3313289"/>
              <a:gd name="csX2" fmla="*/ 3335867 w 3341511"/>
              <a:gd name="csY2" fmla="*/ 3268133 h 3313289"/>
              <a:gd name="csX3" fmla="*/ 3330222 w 3341511"/>
              <a:gd name="csY3" fmla="*/ 3160889 h 3313289"/>
              <a:gd name="csX4" fmla="*/ 3324578 w 3341511"/>
              <a:gd name="csY4" fmla="*/ 3132666 h 3313289"/>
              <a:gd name="csX5" fmla="*/ 3318933 w 3341511"/>
              <a:gd name="csY5" fmla="*/ 3093155 h 3313289"/>
              <a:gd name="csX6" fmla="*/ 3307644 w 3341511"/>
              <a:gd name="csY6" fmla="*/ 3002844 h 3313289"/>
              <a:gd name="csX7" fmla="*/ 3296356 w 3341511"/>
              <a:gd name="csY7" fmla="*/ 2946400 h 3313289"/>
              <a:gd name="csX8" fmla="*/ 3290711 w 3341511"/>
              <a:gd name="csY8" fmla="*/ 2918178 h 3313289"/>
              <a:gd name="csX9" fmla="*/ 3279422 w 3341511"/>
              <a:gd name="csY9" fmla="*/ 2810933 h 3313289"/>
              <a:gd name="csX10" fmla="*/ 3273778 w 3341511"/>
              <a:gd name="csY10" fmla="*/ 2681111 h 3313289"/>
              <a:gd name="csX11" fmla="*/ 3268133 w 3341511"/>
              <a:gd name="csY11" fmla="*/ 2647244 h 3313289"/>
              <a:gd name="csX12" fmla="*/ 3262489 w 3341511"/>
              <a:gd name="csY12" fmla="*/ 2596444 h 3313289"/>
              <a:gd name="csX13" fmla="*/ 3256844 w 3341511"/>
              <a:gd name="csY13" fmla="*/ 2568222 h 3313289"/>
              <a:gd name="csX14" fmla="*/ 3251200 w 3341511"/>
              <a:gd name="csY14" fmla="*/ 2528711 h 3313289"/>
              <a:gd name="csX15" fmla="*/ 3256844 w 3341511"/>
              <a:gd name="csY15" fmla="*/ 2466622 h 3313289"/>
              <a:gd name="csX16" fmla="*/ 3239911 w 3341511"/>
              <a:gd name="csY16" fmla="*/ 2404533 h 3313289"/>
              <a:gd name="csX17" fmla="*/ 3228622 w 3341511"/>
              <a:gd name="csY17" fmla="*/ 2218266 h 3313289"/>
              <a:gd name="csX18" fmla="*/ 3217333 w 3341511"/>
              <a:gd name="csY18" fmla="*/ 2173111 h 3313289"/>
              <a:gd name="csX19" fmla="*/ 3194756 w 3341511"/>
              <a:gd name="csY19" fmla="*/ 2043289 h 3313289"/>
              <a:gd name="csX20" fmla="*/ 3189111 w 3341511"/>
              <a:gd name="csY20" fmla="*/ 1958622 h 3313289"/>
              <a:gd name="csX21" fmla="*/ 3177822 w 3341511"/>
              <a:gd name="csY21" fmla="*/ 1936044 h 3313289"/>
              <a:gd name="csX22" fmla="*/ 3172178 w 3341511"/>
              <a:gd name="csY22" fmla="*/ 1913466 h 3313289"/>
              <a:gd name="csX23" fmla="*/ 3166533 w 3341511"/>
              <a:gd name="csY23" fmla="*/ 1896533 h 3313289"/>
              <a:gd name="csX24" fmla="*/ 3155244 w 3341511"/>
              <a:gd name="csY24" fmla="*/ 1845733 h 3313289"/>
              <a:gd name="csX25" fmla="*/ 3149600 w 3341511"/>
              <a:gd name="csY25" fmla="*/ 1823155 h 3313289"/>
              <a:gd name="csX26" fmla="*/ 3143956 w 3341511"/>
              <a:gd name="csY26" fmla="*/ 1761066 h 3313289"/>
              <a:gd name="csX27" fmla="*/ 3132667 w 3341511"/>
              <a:gd name="csY27" fmla="*/ 1727200 h 3313289"/>
              <a:gd name="csX28" fmla="*/ 3121378 w 3341511"/>
              <a:gd name="csY28" fmla="*/ 1693333 h 3313289"/>
              <a:gd name="csX29" fmla="*/ 3115733 w 3341511"/>
              <a:gd name="csY29" fmla="*/ 1670755 h 3313289"/>
              <a:gd name="csX30" fmla="*/ 3110089 w 3341511"/>
              <a:gd name="csY30" fmla="*/ 1653822 h 3313289"/>
              <a:gd name="csX31" fmla="*/ 3098800 w 3341511"/>
              <a:gd name="csY31" fmla="*/ 1569155 h 3313289"/>
              <a:gd name="csX32" fmla="*/ 3087511 w 3341511"/>
              <a:gd name="csY32" fmla="*/ 1535289 h 3313289"/>
              <a:gd name="csX33" fmla="*/ 3081867 w 3341511"/>
              <a:gd name="csY33" fmla="*/ 1518355 h 3313289"/>
              <a:gd name="csX34" fmla="*/ 3076222 w 3341511"/>
              <a:gd name="csY34" fmla="*/ 1501422 h 3313289"/>
              <a:gd name="csX35" fmla="*/ 3064933 w 3341511"/>
              <a:gd name="csY35" fmla="*/ 1461911 h 3313289"/>
              <a:gd name="csX36" fmla="*/ 3036711 w 3341511"/>
              <a:gd name="csY36" fmla="*/ 1382889 h 3313289"/>
              <a:gd name="csX37" fmla="*/ 3025422 w 3341511"/>
              <a:gd name="csY37" fmla="*/ 1365955 h 3313289"/>
              <a:gd name="csX38" fmla="*/ 3014133 w 3341511"/>
              <a:gd name="csY38" fmla="*/ 1349022 h 3313289"/>
              <a:gd name="csX39" fmla="*/ 3002844 w 3341511"/>
              <a:gd name="csY39" fmla="*/ 1315155 h 3313289"/>
              <a:gd name="csX40" fmla="*/ 2997200 w 3341511"/>
              <a:gd name="csY40" fmla="*/ 1298222 h 3313289"/>
              <a:gd name="csX41" fmla="*/ 2985911 w 3341511"/>
              <a:gd name="csY41" fmla="*/ 1281289 h 3313289"/>
              <a:gd name="csX42" fmla="*/ 2974622 w 3341511"/>
              <a:gd name="csY42" fmla="*/ 1247422 h 3313289"/>
              <a:gd name="csX43" fmla="*/ 2935111 w 3341511"/>
              <a:gd name="csY43" fmla="*/ 1196622 h 3313289"/>
              <a:gd name="csX44" fmla="*/ 2923822 w 3341511"/>
              <a:gd name="csY44" fmla="*/ 1179689 h 3313289"/>
              <a:gd name="csX45" fmla="*/ 2889956 w 3341511"/>
              <a:gd name="csY45" fmla="*/ 1157111 h 3313289"/>
              <a:gd name="csX46" fmla="*/ 2873022 w 3341511"/>
              <a:gd name="csY46" fmla="*/ 1145822 h 3313289"/>
              <a:gd name="csX47" fmla="*/ 2844800 w 3341511"/>
              <a:gd name="csY47" fmla="*/ 1117600 h 3313289"/>
              <a:gd name="csX48" fmla="*/ 2810933 w 3341511"/>
              <a:gd name="csY48" fmla="*/ 1083733 h 3313289"/>
              <a:gd name="csX49" fmla="*/ 2794000 w 3341511"/>
              <a:gd name="csY49" fmla="*/ 1066800 h 3313289"/>
              <a:gd name="csX50" fmla="*/ 2760133 w 3341511"/>
              <a:gd name="csY50" fmla="*/ 1044222 h 3313289"/>
              <a:gd name="csX51" fmla="*/ 2703689 w 3341511"/>
              <a:gd name="csY51" fmla="*/ 1010355 h 3313289"/>
              <a:gd name="csX52" fmla="*/ 2686756 w 3341511"/>
              <a:gd name="csY52" fmla="*/ 993422 h 3313289"/>
              <a:gd name="csX53" fmla="*/ 2641600 w 3341511"/>
              <a:gd name="csY53" fmla="*/ 953911 h 3313289"/>
              <a:gd name="csX54" fmla="*/ 2590800 w 3341511"/>
              <a:gd name="csY54" fmla="*/ 936978 h 3313289"/>
              <a:gd name="csX55" fmla="*/ 2573867 w 3341511"/>
              <a:gd name="csY55" fmla="*/ 931333 h 3313289"/>
              <a:gd name="csX56" fmla="*/ 2517422 w 3341511"/>
              <a:gd name="csY56" fmla="*/ 903111 h 3313289"/>
              <a:gd name="csX57" fmla="*/ 2483556 w 3341511"/>
              <a:gd name="csY57" fmla="*/ 874889 h 3313289"/>
              <a:gd name="csX58" fmla="*/ 2449689 w 3341511"/>
              <a:gd name="csY58" fmla="*/ 852311 h 3313289"/>
              <a:gd name="csX59" fmla="*/ 2415822 w 3341511"/>
              <a:gd name="csY59" fmla="*/ 829733 h 3313289"/>
              <a:gd name="csX60" fmla="*/ 2365022 w 3341511"/>
              <a:gd name="csY60" fmla="*/ 807155 h 3313289"/>
              <a:gd name="csX61" fmla="*/ 2348089 w 3341511"/>
              <a:gd name="csY61" fmla="*/ 801511 h 3313289"/>
              <a:gd name="csX62" fmla="*/ 2291644 w 3341511"/>
              <a:gd name="csY62" fmla="*/ 790222 h 3313289"/>
              <a:gd name="csX63" fmla="*/ 2240844 w 3341511"/>
              <a:gd name="csY63" fmla="*/ 773289 h 3313289"/>
              <a:gd name="csX64" fmla="*/ 2223911 w 3341511"/>
              <a:gd name="csY64" fmla="*/ 767644 h 3313289"/>
              <a:gd name="csX65" fmla="*/ 2206978 w 3341511"/>
              <a:gd name="csY65" fmla="*/ 756355 h 3313289"/>
              <a:gd name="csX66" fmla="*/ 2173111 w 3341511"/>
              <a:gd name="csY66" fmla="*/ 745066 h 3313289"/>
              <a:gd name="csX67" fmla="*/ 2156178 w 3341511"/>
              <a:gd name="csY67" fmla="*/ 739422 h 3313289"/>
              <a:gd name="csX68" fmla="*/ 2105378 w 3341511"/>
              <a:gd name="csY68" fmla="*/ 705555 h 3313289"/>
              <a:gd name="csX69" fmla="*/ 2088444 w 3341511"/>
              <a:gd name="csY69" fmla="*/ 694266 h 3313289"/>
              <a:gd name="csX70" fmla="*/ 2037644 w 3341511"/>
              <a:gd name="csY70" fmla="*/ 677333 h 3313289"/>
              <a:gd name="csX71" fmla="*/ 2020711 w 3341511"/>
              <a:gd name="csY71" fmla="*/ 671689 h 3313289"/>
              <a:gd name="csX72" fmla="*/ 1975556 w 3341511"/>
              <a:gd name="csY72" fmla="*/ 666044 h 3313289"/>
              <a:gd name="csX73" fmla="*/ 1958622 w 3341511"/>
              <a:gd name="csY73" fmla="*/ 654755 h 3313289"/>
              <a:gd name="csX74" fmla="*/ 1919111 w 3341511"/>
              <a:gd name="csY74" fmla="*/ 643466 h 3313289"/>
              <a:gd name="csX75" fmla="*/ 1902178 w 3341511"/>
              <a:gd name="csY75" fmla="*/ 632178 h 3313289"/>
              <a:gd name="csX76" fmla="*/ 1868311 w 3341511"/>
              <a:gd name="csY76" fmla="*/ 620889 h 3313289"/>
              <a:gd name="csX77" fmla="*/ 1834444 w 3341511"/>
              <a:gd name="csY77" fmla="*/ 609600 h 3313289"/>
              <a:gd name="csX78" fmla="*/ 1783644 w 3341511"/>
              <a:gd name="csY78" fmla="*/ 592666 h 3313289"/>
              <a:gd name="csX79" fmla="*/ 1766711 w 3341511"/>
              <a:gd name="csY79" fmla="*/ 587022 h 3313289"/>
              <a:gd name="csX80" fmla="*/ 1749778 w 3341511"/>
              <a:gd name="csY80" fmla="*/ 581378 h 3313289"/>
              <a:gd name="csX81" fmla="*/ 1710267 w 3341511"/>
              <a:gd name="csY81" fmla="*/ 575733 h 3313289"/>
              <a:gd name="csX82" fmla="*/ 1659467 w 3341511"/>
              <a:gd name="csY82" fmla="*/ 541866 h 3313289"/>
              <a:gd name="csX83" fmla="*/ 1642533 w 3341511"/>
              <a:gd name="csY83" fmla="*/ 530578 h 3313289"/>
              <a:gd name="csX84" fmla="*/ 1625600 w 3341511"/>
              <a:gd name="csY84" fmla="*/ 524933 h 3313289"/>
              <a:gd name="csX85" fmla="*/ 1591733 w 3341511"/>
              <a:gd name="csY85" fmla="*/ 508000 h 3313289"/>
              <a:gd name="csX86" fmla="*/ 1574800 w 3341511"/>
              <a:gd name="csY86" fmla="*/ 496711 h 3313289"/>
              <a:gd name="csX87" fmla="*/ 1512711 w 3341511"/>
              <a:gd name="csY87" fmla="*/ 485422 h 3313289"/>
              <a:gd name="csX88" fmla="*/ 1478844 w 3341511"/>
              <a:gd name="csY88" fmla="*/ 468489 h 3313289"/>
              <a:gd name="csX89" fmla="*/ 1461911 w 3341511"/>
              <a:gd name="csY89" fmla="*/ 462844 h 3313289"/>
              <a:gd name="csX90" fmla="*/ 1444978 w 3341511"/>
              <a:gd name="csY90" fmla="*/ 451555 h 3313289"/>
              <a:gd name="csX91" fmla="*/ 1411111 w 3341511"/>
              <a:gd name="csY91" fmla="*/ 440266 h 3313289"/>
              <a:gd name="csX92" fmla="*/ 1394178 w 3341511"/>
              <a:gd name="csY92" fmla="*/ 434622 h 3313289"/>
              <a:gd name="csX93" fmla="*/ 1377244 w 3341511"/>
              <a:gd name="csY93" fmla="*/ 428978 h 3313289"/>
              <a:gd name="csX94" fmla="*/ 1360311 w 3341511"/>
              <a:gd name="csY94" fmla="*/ 417689 h 3313289"/>
              <a:gd name="csX95" fmla="*/ 1326444 w 3341511"/>
              <a:gd name="csY95" fmla="*/ 406400 h 3313289"/>
              <a:gd name="csX96" fmla="*/ 1309511 w 3341511"/>
              <a:gd name="csY96" fmla="*/ 400755 h 3313289"/>
              <a:gd name="csX97" fmla="*/ 1292578 w 3341511"/>
              <a:gd name="csY97" fmla="*/ 395111 h 3313289"/>
              <a:gd name="csX98" fmla="*/ 1275644 w 3341511"/>
              <a:gd name="csY98" fmla="*/ 389466 h 3313289"/>
              <a:gd name="csX99" fmla="*/ 1241778 w 3341511"/>
              <a:gd name="csY99" fmla="*/ 366889 h 3313289"/>
              <a:gd name="csX100" fmla="*/ 1196622 w 3341511"/>
              <a:gd name="csY100" fmla="*/ 333022 h 3313289"/>
              <a:gd name="csX101" fmla="*/ 1157111 w 3341511"/>
              <a:gd name="csY101" fmla="*/ 310444 h 3313289"/>
              <a:gd name="csX102" fmla="*/ 1140178 w 3341511"/>
              <a:gd name="csY102" fmla="*/ 299155 h 3313289"/>
              <a:gd name="csX103" fmla="*/ 1106311 w 3341511"/>
              <a:gd name="csY103" fmla="*/ 287866 h 3313289"/>
              <a:gd name="csX104" fmla="*/ 1072444 w 3341511"/>
              <a:gd name="csY104" fmla="*/ 276578 h 3313289"/>
              <a:gd name="csX105" fmla="*/ 1055511 w 3341511"/>
              <a:gd name="csY105" fmla="*/ 270933 h 3313289"/>
              <a:gd name="csX106" fmla="*/ 999067 w 3341511"/>
              <a:gd name="csY106" fmla="*/ 265289 h 3313289"/>
              <a:gd name="csX107" fmla="*/ 801511 w 3341511"/>
              <a:gd name="csY107" fmla="*/ 254000 h 3313289"/>
              <a:gd name="csX108" fmla="*/ 778933 w 3341511"/>
              <a:gd name="csY108" fmla="*/ 248355 h 3313289"/>
              <a:gd name="csX109" fmla="*/ 745067 w 3341511"/>
              <a:gd name="csY109" fmla="*/ 237066 h 3313289"/>
              <a:gd name="csX110" fmla="*/ 682978 w 3341511"/>
              <a:gd name="csY110" fmla="*/ 220133 h 3313289"/>
              <a:gd name="csX111" fmla="*/ 649111 w 3341511"/>
              <a:gd name="csY111" fmla="*/ 208844 h 3313289"/>
              <a:gd name="csX112" fmla="*/ 598311 w 3341511"/>
              <a:gd name="csY112" fmla="*/ 186266 h 3313289"/>
              <a:gd name="csX113" fmla="*/ 581378 w 3341511"/>
              <a:gd name="csY113" fmla="*/ 180622 h 3313289"/>
              <a:gd name="csX114" fmla="*/ 564444 w 3341511"/>
              <a:gd name="csY114" fmla="*/ 169333 h 3313289"/>
              <a:gd name="csX115" fmla="*/ 536222 w 3341511"/>
              <a:gd name="csY115" fmla="*/ 163689 h 3313289"/>
              <a:gd name="csX116" fmla="*/ 496711 w 3341511"/>
              <a:gd name="csY116" fmla="*/ 152400 h 3313289"/>
              <a:gd name="csX117" fmla="*/ 479778 w 3341511"/>
              <a:gd name="csY117" fmla="*/ 141111 h 3313289"/>
              <a:gd name="csX118" fmla="*/ 445911 w 3341511"/>
              <a:gd name="csY118" fmla="*/ 129822 h 3313289"/>
              <a:gd name="csX119" fmla="*/ 428978 w 3341511"/>
              <a:gd name="csY119" fmla="*/ 118533 h 3313289"/>
              <a:gd name="csX120" fmla="*/ 338667 w 3341511"/>
              <a:gd name="csY120" fmla="*/ 107244 h 3313289"/>
              <a:gd name="csX121" fmla="*/ 321733 w 3341511"/>
              <a:gd name="csY121" fmla="*/ 101600 h 3313289"/>
              <a:gd name="csX122" fmla="*/ 299156 w 3341511"/>
              <a:gd name="csY122" fmla="*/ 95955 h 3313289"/>
              <a:gd name="csX123" fmla="*/ 248356 w 3341511"/>
              <a:gd name="csY123" fmla="*/ 73378 h 3313289"/>
              <a:gd name="csX124" fmla="*/ 203200 w 3341511"/>
              <a:gd name="csY124" fmla="*/ 67733 h 3313289"/>
              <a:gd name="csX125" fmla="*/ 169333 w 3341511"/>
              <a:gd name="csY125" fmla="*/ 56444 h 3313289"/>
              <a:gd name="csX126" fmla="*/ 146756 w 3341511"/>
              <a:gd name="csY126" fmla="*/ 50800 h 3313289"/>
              <a:gd name="csX127" fmla="*/ 112889 w 3341511"/>
              <a:gd name="csY127" fmla="*/ 39511 h 3313289"/>
              <a:gd name="csX128" fmla="*/ 95956 w 3341511"/>
              <a:gd name="csY128" fmla="*/ 28222 h 3313289"/>
              <a:gd name="csX129" fmla="*/ 28222 w 3341511"/>
              <a:gd name="csY129" fmla="*/ 16933 h 3313289"/>
              <a:gd name="csX130" fmla="*/ 0 w 3341511"/>
              <a:gd name="csY130" fmla="*/ 0 h 33132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Lst>
            <a:rect l="l" t="t" r="r" b="b"/>
            <a:pathLst>
              <a:path w="3341511" h="3313289">
                <a:moveTo>
                  <a:pt x="0" y="0"/>
                </a:moveTo>
                <a:lnTo>
                  <a:pt x="3341511" y="3313289"/>
                </a:lnTo>
                <a:lnTo>
                  <a:pt x="3335867" y="3268133"/>
                </a:lnTo>
                <a:cubicBezTo>
                  <a:pt x="3333985" y="3232385"/>
                  <a:pt x="3333195" y="3196563"/>
                  <a:pt x="3330222" y="3160889"/>
                </a:cubicBezTo>
                <a:cubicBezTo>
                  <a:pt x="3329425" y="3151328"/>
                  <a:pt x="3326155" y="3142129"/>
                  <a:pt x="3324578" y="3132666"/>
                </a:cubicBezTo>
                <a:cubicBezTo>
                  <a:pt x="3322391" y="3119543"/>
                  <a:pt x="3320583" y="3106356"/>
                  <a:pt x="3318933" y="3093155"/>
                </a:cubicBezTo>
                <a:cubicBezTo>
                  <a:pt x="3314660" y="3058972"/>
                  <a:pt x="3313481" y="3035920"/>
                  <a:pt x="3307644" y="3002844"/>
                </a:cubicBezTo>
                <a:cubicBezTo>
                  <a:pt x="3304310" y="2983949"/>
                  <a:pt x="3300119" y="2965215"/>
                  <a:pt x="3296356" y="2946400"/>
                </a:cubicBezTo>
                <a:cubicBezTo>
                  <a:pt x="3294475" y="2936993"/>
                  <a:pt x="3291770" y="2927713"/>
                  <a:pt x="3290711" y="2918178"/>
                </a:cubicBezTo>
                <a:cubicBezTo>
                  <a:pt x="3282979" y="2848585"/>
                  <a:pt x="3286762" y="2884331"/>
                  <a:pt x="3279422" y="2810933"/>
                </a:cubicBezTo>
                <a:cubicBezTo>
                  <a:pt x="3277541" y="2767659"/>
                  <a:pt x="3276758" y="2724323"/>
                  <a:pt x="3273778" y="2681111"/>
                </a:cubicBezTo>
                <a:cubicBezTo>
                  <a:pt x="3272991" y="2669693"/>
                  <a:pt x="3269646" y="2658588"/>
                  <a:pt x="3268133" y="2647244"/>
                </a:cubicBezTo>
                <a:cubicBezTo>
                  <a:pt x="3265881" y="2630356"/>
                  <a:pt x="3264898" y="2613310"/>
                  <a:pt x="3262489" y="2596444"/>
                </a:cubicBezTo>
                <a:cubicBezTo>
                  <a:pt x="3261132" y="2586947"/>
                  <a:pt x="3258421" y="2577685"/>
                  <a:pt x="3256844" y="2568222"/>
                </a:cubicBezTo>
                <a:cubicBezTo>
                  <a:pt x="3254657" y="2555099"/>
                  <a:pt x="3253081" y="2541881"/>
                  <a:pt x="3251200" y="2528711"/>
                </a:cubicBezTo>
                <a:cubicBezTo>
                  <a:pt x="3253081" y="2508015"/>
                  <a:pt x="3257936" y="2487375"/>
                  <a:pt x="3256844" y="2466622"/>
                </a:cubicBezTo>
                <a:cubicBezTo>
                  <a:pt x="3256048" y="2451494"/>
                  <a:pt x="3245886" y="2422456"/>
                  <a:pt x="3239911" y="2404533"/>
                </a:cubicBezTo>
                <a:cubicBezTo>
                  <a:pt x="3224408" y="2311506"/>
                  <a:pt x="3241365" y="2422153"/>
                  <a:pt x="3228622" y="2218266"/>
                </a:cubicBezTo>
                <a:cubicBezTo>
                  <a:pt x="3226633" y="2186441"/>
                  <a:pt x="3223022" y="2197762"/>
                  <a:pt x="3217333" y="2173111"/>
                </a:cubicBezTo>
                <a:cubicBezTo>
                  <a:pt x="3207432" y="2130208"/>
                  <a:pt x="3200976" y="2086829"/>
                  <a:pt x="3194756" y="2043289"/>
                </a:cubicBezTo>
                <a:cubicBezTo>
                  <a:pt x="3192874" y="2015067"/>
                  <a:pt x="3193523" y="1986561"/>
                  <a:pt x="3189111" y="1958622"/>
                </a:cubicBezTo>
                <a:cubicBezTo>
                  <a:pt x="3187799" y="1950311"/>
                  <a:pt x="3180776" y="1943923"/>
                  <a:pt x="3177822" y="1936044"/>
                </a:cubicBezTo>
                <a:cubicBezTo>
                  <a:pt x="3175098" y="1928780"/>
                  <a:pt x="3174309" y="1920925"/>
                  <a:pt x="3172178" y="1913466"/>
                </a:cubicBezTo>
                <a:cubicBezTo>
                  <a:pt x="3170543" y="1907745"/>
                  <a:pt x="3168168" y="1902254"/>
                  <a:pt x="3166533" y="1896533"/>
                </a:cubicBezTo>
                <a:cubicBezTo>
                  <a:pt x="3159656" y="1872465"/>
                  <a:pt x="3161058" y="1871895"/>
                  <a:pt x="3155244" y="1845733"/>
                </a:cubicBezTo>
                <a:cubicBezTo>
                  <a:pt x="3153561" y="1838160"/>
                  <a:pt x="3151481" y="1830681"/>
                  <a:pt x="3149600" y="1823155"/>
                </a:cubicBezTo>
                <a:cubicBezTo>
                  <a:pt x="3147719" y="1802459"/>
                  <a:pt x="3147568" y="1781531"/>
                  <a:pt x="3143956" y="1761066"/>
                </a:cubicBezTo>
                <a:cubicBezTo>
                  <a:pt x="3141888" y="1749348"/>
                  <a:pt x="3136430" y="1738489"/>
                  <a:pt x="3132667" y="1727200"/>
                </a:cubicBezTo>
                <a:cubicBezTo>
                  <a:pt x="3132664" y="1727190"/>
                  <a:pt x="3121381" y="1693344"/>
                  <a:pt x="3121378" y="1693333"/>
                </a:cubicBezTo>
                <a:cubicBezTo>
                  <a:pt x="3119496" y="1685807"/>
                  <a:pt x="3117864" y="1678214"/>
                  <a:pt x="3115733" y="1670755"/>
                </a:cubicBezTo>
                <a:cubicBezTo>
                  <a:pt x="3114098" y="1665034"/>
                  <a:pt x="3111380" y="1659630"/>
                  <a:pt x="3110089" y="1653822"/>
                </a:cubicBezTo>
                <a:cubicBezTo>
                  <a:pt x="3089848" y="1562738"/>
                  <a:pt x="3123267" y="1691489"/>
                  <a:pt x="3098800" y="1569155"/>
                </a:cubicBezTo>
                <a:cubicBezTo>
                  <a:pt x="3096466" y="1557487"/>
                  <a:pt x="3091274" y="1546578"/>
                  <a:pt x="3087511" y="1535289"/>
                </a:cubicBezTo>
                <a:lnTo>
                  <a:pt x="3081867" y="1518355"/>
                </a:lnTo>
                <a:cubicBezTo>
                  <a:pt x="3079986" y="1512711"/>
                  <a:pt x="3077665" y="1507194"/>
                  <a:pt x="3076222" y="1501422"/>
                </a:cubicBezTo>
                <a:cubicBezTo>
                  <a:pt x="3069135" y="1473072"/>
                  <a:pt x="3073031" y="1486203"/>
                  <a:pt x="3064933" y="1461911"/>
                </a:cubicBezTo>
                <a:cubicBezTo>
                  <a:pt x="3057606" y="1403291"/>
                  <a:pt x="3067704" y="1429377"/>
                  <a:pt x="3036711" y="1382889"/>
                </a:cubicBezTo>
                <a:lnTo>
                  <a:pt x="3025422" y="1365955"/>
                </a:lnTo>
                <a:lnTo>
                  <a:pt x="3014133" y="1349022"/>
                </a:lnTo>
                <a:lnTo>
                  <a:pt x="3002844" y="1315155"/>
                </a:lnTo>
                <a:cubicBezTo>
                  <a:pt x="3000963" y="1309511"/>
                  <a:pt x="3000500" y="1303172"/>
                  <a:pt x="2997200" y="1298222"/>
                </a:cubicBezTo>
                <a:lnTo>
                  <a:pt x="2985911" y="1281289"/>
                </a:lnTo>
                <a:cubicBezTo>
                  <a:pt x="2982148" y="1270000"/>
                  <a:pt x="2981223" y="1257323"/>
                  <a:pt x="2974622" y="1247422"/>
                </a:cubicBezTo>
                <a:cubicBezTo>
                  <a:pt x="2917561" y="1161830"/>
                  <a:pt x="2979320" y="1249672"/>
                  <a:pt x="2935111" y="1196622"/>
                </a:cubicBezTo>
                <a:cubicBezTo>
                  <a:pt x="2930768" y="1191411"/>
                  <a:pt x="2928927" y="1184156"/>
                  <a:pt x="2923822" y="1179689"/>
                </a:cubicBezTo>
                <a:cubicBezTo>
                  <a:pt x="2913612" y="1170755"/>
                  <a:pt x="2901245" y="1164637"/>
                  <a:pt x="2889956" y="1157111"/>
                </a:cubicBezTo>
                <a:lnTo>
                  <a:pt x="2873022" y="1145822"/>
                </a:lnTo>
                <a:cubicBezTo>
                  <a:pt x="2849760" y="1110930"/>
                  <a:pt x="2875588" y="1144967"/>
                  <a:pt x="2844800" y="1117600"/>
                </a:cubicBezTo>
                <a:cubicBezTo>
                  <a:pt x="2832868" y="1106993"/>
                  <a:pt x="2822222" y="1095022"/>
                  <a:pt x="2810933" y="1083733"/>
                </a:cubicBezTo>
                <a:cubicBezTo>
                  <a:pt x="2805289" y="1078089"/>
                  <a:pt x="2800642" y="1071228"/>
                  <a:pt x="2794000" y="1066800"/>
                </a:cubicBezTo>
                <a:cubicBezTo>
                  <a:pt x="2782711" y="1059274"/>
                  <a:pt x="2772268" y="1050290"/>
                  <a:pt x="2760133" y="1044222"/>
                </a:cubicBezTo>
                <a:cubicBezTo>
                  <a:pt x="2742318" y="1035314"/>
                  <a:pt x="2717310" y="1023976"/>
                  <a:pt x="2703689" y="1010355"/>
                </a:cubicBezTo>
                <a:cubicBezTo>
                  <a:pt x="2698045" y="1004711"/>
                  <a:pt x="2691866" y="999554"/>
                  <a:pt x="2686756" y="993422"/>
                </a:cubicBezTo>
                <a:cubicBezTo>
                  <a:pt x="2669027" y="972147"/>
                  <a:pt x="2678939" y="966357"/>
                  <a:pt x="2641600" y="953911"/>
                </a:cubicBezTo>
                <a:lnTo>
                  <a:pt x="2590800" y="936978"/>
                </a:lnTo>
                <a:cubicBezTo>
                  <a:pt x="2585156" y="935096"/>
                  <a:pt x="2578817" y="934633"/>
                  <a:pt x="2573867" y="931333"/>
                </a:cubicBezTo>
                <a:cubicBezTo>
                  <a:pt x="2533545" y="904452"/>
                  <a:pt x="2553163" y="912045"/>
                  <a:pt x="2517422" y="903111"/>
                </a:cubicBezTo>
                <a:cubicBezTo>
                  <a:pt x="2456906" y="862766"/>
                  <a:pt x="2548754" y="925599"/>
                  <a:pt x="2483556" y="874889"/>
                </a:cubicBezTo>
                <a:cubicBezTo>
                  <a:pt x="2472846" y="866559"/>
                  <a:pt x="2460978" y="859837"/>
                  <a:pt x="2449689" y="852311"/>
                </a:cubicBezTo>
                <a:lnTo>
                  <a:pt x="2415822" y="829733"/>
                </a:lnTo>
                <a:cubicBezTo>
                  <a:pt x="2328445" y="800607"/>
                  <a:pt x="2418695" y="833991"/>
                  <a:pt x="2365022" y="807155"/>
                </a:cubicBezTo>
                <a:cubicBezTo>
                  <a:pt x="2359700" y="804494"/>
                  <a:pt x="2353810" y="803146"/>
                  <a:pt x="2348089" y="801511"/>
                </a:cubicBezTo>
                <a:cubicBezTo>
                  <a:pt x="2324506" y="794773"/>
                  <a:pt x="2318267" y="794659"/>
                  <a:pt x="2291644" y="790222"/>
                </a:cubicBezTo>
                <a:lnTo>
                  <a:pt x="2240844" y="773289"/>
                </a:lnTo>
                <a:cubicBezTo>
                  <a:pt x="2235200" y="771408"/>
                  <a:pt x="2228861" y="770944"/>
                  <a:pt x="2223911" y="767644"/>
                </a:cubicBezTo>
                <a:cubicBezTo>
                  <a:pt x="2218267" y="763881"/>
                  <a:pt x="2213177" y="759110"/>
                  <a:pt x="2206978" y="756355"/>
                </a:cubicBezTo>
                <a:cubicBezTo>
                  <a:pt x="2196104" y="751522"/>
                  <a:pt x="2184400" y="748829"/>
                  <a:pt x="2173111" y="745066"/>
                </a:cubicBezTo>
                <a:lnTo>
                  <a:pt x="2156178" y="739422"/>
                </a:lnTo>
                <a:lnTo>
                  <a:pt x="2105378" y="705555"/>
                </a:lnTo>
                <a:cubicBezTo>
                  <a:pt x="2099733" y="701792"/>
                  <a:pt x="2094880" y="696411"/>
                  <a:pt x="2088444" y="694266"/>
                </a:cubicBezTo>
                <a:lnTo>
                  <a:pt x="2037644" y="677333"/>
                </a:lnTo>
                <a:cubicBezTo>
                  <a:pt x="2032000" y="675452"/>
                  <a:pt x="2026615" y="672427"/>
                  <a:pt x="2020711" y="671689"/>
                </a:cubicBezTo>
                <a:lnTo>
                  <a:pt x="1975556" y="666044"/>
                </a:lnTo>
                <a:cubicBezTo>
                  <a:pt x="1969911" y="662281"/>
                  <a:pt x="1964690" y="657789"/>
                  <a:pt x="1958622" y="654755"/>
                </a:cubicBezTo>
                <a:cubicBezTo>
                  <a:pt x="1950527" y="650708"/>
                  <a:pt x="1926341" y="645274"/>
                  <a:pt x="1919111" y="643466"/>
                </a:cubicBezTo>
                <a:cubicBezTo>
                  <a:pt x="1913467" y="639703"/>
                  <a:pt x="1908377" y="634933"/>
                  <a:pt x="1902178" y="632178"/>
                </a:cubicBezTo>
                <a:cubicBezTo>
                  <a:pt x="1891304" y="627345"/>
                  <a:pt x="1879600" y="624652"/>
                  <a:pt x="1868311" y="620889"/>
                </a:cubicBezTo>
                <a:lnTo>
                  <a:pt x="1834444" y="609600"/>
                </a:lnTo>
                <a:lnTo>
                  <a:pt x="1783644" y="592666"/>
                </a:lnTo>
                <a:lnTo>
                  <a:pt x="1766711" y="587022"/>
                </a:lnTo>
                <a:cubicBezTo>
                  <a:pt x="1761067" y="585141"/>
                  <a:pt x="1755668" y="582219"/>
                  <a:pt x="1749778" y="581378"/>
                </a:cubicBezTo>
                <a:lnTo>
                  <a:pt x="1710267" y="575733"/>
                </a:lnTo>
                <a:lnTo>
                  <a:pt x="1659467" y="541866"/>
                </a:lnTo>
                <a:cubicBezTo>
                  <a:pt x="1653822" y="538103"/>
                  <a:pt x="1648969" y="532723"/>
                  <a:pt x="1642533" y="530578"/>
                </a:cubicBezTo>
                <a:cubicBezTo>
                  <a:pt x="1636889" y="528696"/>
                  <a:pt x="1630922" y="527594"/>
                  <a:pt x="1625600" y="524933"/>
                </a:cubicBezTo>
                <a:cubicBezTo>
                  <a:pt x="1581843" y="503053"/>
                  <a:pt x="1634288" y="522183"/>
                  <a:pt x="1591733" y="508000"/>
                </a:cubicBezTo>
                <a:cubicBezTo>
                  <a:pt x="1586089" y="504237"/>
                  <a:pt x="1580867" y="499745"/>
                  <a:pt x="1574800" y="496711"/>
                </a:cubicBezTo>
                <a:cubicBezTo>
                  <a:pt x="1557396" y="488008"/>
                  <a:pt x="1528283" y="487368"/>
                  <a:pt x="1512711" y="485422"/>
                </a:cubicBezTo>
                <a:cubicBezTo>
                  <a:pt x="1470157" y="471238"/>
                  <a:pt x="1522604" y="490370"/>
                  <a:pt x="1478844" y="468489"/>
                </a:cubicBezTo>
                <a:cubicBezTo>
                  <a:pt x="1473522" y="465828"/>
                  <a:pt x="1467233" y="465505"/>
                  <a:pt x="1461911" y="462844"/>
                </a:cubicBezTo>
                <a:cubicBezTo>
                  <a:pt x="1455844" y="459810"/>
                  <a:pt x="1451177" y="454310"/>
                  <a:pt x="1444978" y="451555"/>
                </a:cubicBezTo>
                <a:cubicBezTo>
                  <a:pt x="1434104" y="446722"/>
                  <a:pt x="1422400" y="444029"/>
                  <a:pt x="1411111" y="440266"/>
                </a:cubicBezTo>
                <a:lnTo>
                  <a:pt x="1394178" y="434622"/>
                </a:lnTo>
                <a:lnTo>
                  <a:pt x="1377244" y="428978"/>
                </a:lnTo>
                <a:cubicBezTo>
                  <a:pt x="1371600" y="425215"/>
                  <a:pt x="1366510" y="420444"/>
                  <a:pt x="1360311" y="417689"/>
                </a:cubicBezTo>
                <a:cubicBezTo>
                  <a:pt x="1349437" y="412856"/>
                  <a:pt x="1337733" y="410163"/>
                  <a:pt x="1326444" y="406400"/>
                </a:cubicBezTo>
                <a:lnTo>
                  <a:pt x="1309511" y="400755"/>
                </a:lnTo>
                <a:lnTo>
                  <a:pt x="1292578" y="395111"/>
                </a:lnTo>
                <a:lnTo>
                  <a:pt x="1275644" y="389466"/>
                </a:lnTo>
                <a:cubicBezTo>
                  <a:pt x="1227104" y="340926"/>
                  <a:pt x="1286706" y="395479"/>
                  <a:pt x="1241778" y="366889"/>
                </a:cubicBezTo>
                <a:cubicBezTo>
                  <a:pt x="1225904" y="356788"/>
                  <a:pt x="1212277" y="343459"/>
                  <a:pt x="1196622" y="333022"/>
                </a:cubicBezTo>
                <a:cubicBezTo>
                  <a:pt x="1155368" y="305518"/>
                  <a:pt x="1207240" y="339090"/>
                  <a:pt x="1157111" y="310444"/>
                </a:cubicBezTo>
                <a:cubicBezTo>
                  <a:pt x="1151221" y="307078"/>
                  <a:pt x="1146377" y="301910"/>
                  <a:pt x="1140178" y="299155"/>
                </a:cubicBezTo>
                <a:cubicBezTo>
                  <a:pt x="1129304" y="294322"/>
                  <a:pt x="1117600" y="291629"/>
                  <a:pt x="1106311" y="287866"/>
                </a:cubicBezTo>
                <a:lnTo>
                  <a:pt x="1072444" y="276578"/>
                </a:lnTo>
                <a:cubicBezTo>
                  <a:pt x="1066800" y="274697"/>
                  <a:pt x="1061431" y="271525"/>
                  <a:pt x="1055511" y="270933"/>
                </a:cubicBezTo>
                <a:cubicBezTo>
                  <a:pt x="1036696" y="269052"/>
                  <a:pt x="1017934" y="266547"/>
                  <a:pt x="999067" y="265289"/>
                </a:cubicBezTo>
                <a:lnTo>
                  <a:pt x="801511" y="254000"/>
                </a:lnTo>
                <a:cubicBezTo>
                  <a:pt x="793985" y="252118"/>
                  <a:pt x="786363" y="250584"/>
                  <a:pt x="778933" y="248355"/>
                </a:cubicBezTo>
                <a:cubicBezTo>
                  <a:pt x="767536" y="244936"/>
                  <a:pt x="756735" y="239399"/>
                  <a:pt x="745067" y="237066"/>
                </a:cubicBezTo>
                <a:cubicBezTo>
                  <a:pt x="705171" y="229088"/>
                  <a:pt x="725951" y="234457"/>
                  <a:pt x="682978" y="220133"/>
                </a:cubicBezTo>
                <a:cubicBezTo>
                  <a:pt x="682973" y="220131"/>
                  <a:pt x="649116" y="208848"/>
                  <a:pt x="649111" y="208844"/>
                </a:cubicBezTo>
                <a:cubicBezTo>
                  <a:pt x="622277" y="190954"/>
                  <a:pt x="638613" y="199700"/>
                  <a:pt x="598311" y="186266"/>
                </a:cubicBezTo>
                <a:lnTo>
                  <a:pt x="581378" y="180622"/>
                </a:lnTo>
                <a:cubicBezTo>
                  <a:pt x="575733" y="176859"/>
                  <a:pt x="570796" y="171715"/>
                  <a:pt x="564444" y="169333"/>
                </a:cubicBezTo>
                <a:cubicBezTo>
                  <a:pt x="555461" y="165965"/>
                  <a:pt x="545587" y="165770"/>
                  <a:pt x="536222" y="163689"/>
                </a:cubicBezTo>
                <a:cubicBezTo>
                  <a:pt x="514966" y="158965"/>
                  <a:pt x="515563" y="158684"/>
                  <a:pt x="496711" y="152400"/>
                </a:cubicBezTo>
                <a:cubicBezTo>
                  <a:pt x="491067" y="148637"/>
                  <a:pt x="485977" y="143866"/>
                  <a:pt x="479778" y="141111"/>
                </a:cubicBezTo>
                <a:cubicBezTo>
                  <a:pt x="468904" y="136278"/>
                  <a:pt x="445911" y="129822"/>
                  <a:pt x="445911" y="129822"/>
                </a:cubicBezTo>
                <a:cubicBezTo>
                  <a:pt x="440267" y="126059"/>
                  <a:pt x="435046" y="121567"/>
                  <a:pt x="428978" y="118533"/>
                </a:cubicBezTo>
                <a:cubicBezTo>
                  <a:pt x="404614" y="106351"/>
                  <a:pt x="352660" y="108320"/>
                  <a:pt x="338667" y="107244"/>
                </a:cubicBezTo>
                <a:cubicBezTo>
                  <a:pt x="333022" y="105363"/>
                  <a:pt x="327454" y="103235"/>
                  <a:pt x="321733" y="101600"/>
                </a:cubicBezTo>
                <a:cubicBezTo>
                  <a:pt x="314274" y="99469"/>
                  <a:pt x="306286" y="99011"/>
                  <a:pt x="299156" y="95955"/>
                </a:cubicBezTo>
                <a:cubicBezTo>
                  <a:pt x="267044" y="82192"/>
                  <a:pt x="297914" y="79573"/>
                  <a:pt x="248356" y="73378"/>
                </a:cubicBezTo>
                <a:lnTo>
                  <a:pt x="203200" y="67733"/>
                </a:lnTo>
                <a:cubicBezTo>
                  <a:pt x="191911" y="63970"/>
                  <a:pt x="180877" y="59330"/>
                  <a:pt x="169333" y="56444"/>
                </a:cubicBezTo>
                <a:cubicBezTo>
                  <a:pt x="161807" y="54563"/>
                  <a:pt x="154186" y="53029"/>
                  <a:pt x="146756" y="50800"/>
                </a:cubicBezTo>
                <a:cubicBezTo>
                  <a:pt x="135358" y="47381"/>
                  <a:pt x="112889" y="39511"/>
                  <a:pt x="112889" y="39511"/>
                </a:cubicBezTo>
                <a:cubicBezTo>
                  <a:pt x="107245" y="35748"/>
                  <a:pt x="102191" y="30894"/>
                  <a:pt x="95956" y="28222"/>
                </a:cubicBezTo>
                <a:cubicBezTo>
                  <a:pt x="80603" y="21642"/>
                  <a:pt x="38172" y="18177"/>
                  <a:pt x="28222" y="16933"/>
                </a:cubicBezTo>
                <a:lnTo>
                  <a:pt x="0" y="0"/>
                </a:lnTo>
                <a:close/>
              </a:path>
            </a:pathLst>
          </a:custGeom>
          <a:solidFill>
            <a:schemeClr val="accent2">
              <a:lumMod val="60000"/>
              <a:lumOff val="40000"/>
              <a:alpha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ES"/>
          </a:p>
        </p:txBody>
      </p:sp>
    </p:spTree>
    <p:extLst>
      <p:ext uri="{BB962C8B-B14F-4D97-AF65-F5344CB8AC3E}">
        <p14:creationId xmlns:p14="http://schemas.microsoft.com/office/powerpoint/2010/main" val="35000093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598701F6-9088-0EC4-8FC4-D87CF207BCD6}"/>
              </a:ext>
            </a:extLst>
          </p:cNvPr>
          <p:cNvSpPr/>
          <p:nvPr/>
        </p:nvSpPr>
        <p:spPr>
          <a:xfrm>
            <a:off x="3159164" y="1071519"/>
            <a:ext cx="5837352" cy="4714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cxnSp>
        <p:nvCxnSpPr>
          <p:cNvPr id="26" name="Straight Connector 25">
            <a:extLst>
              <a:ext uri="{FF2B5EF4-FFF2-40B4-BE49-F238E27FC236}">
                <a16:creationId xmlns:a16="http://schemas.microsoft.com/office/drawing/2014/main" id="{DEEAFBA3-44AF-4D91-FF33-206A0E8073F6}"/>
              </a:ext>
            </a:extLst>
          </p:cNvPr>
          <p:cNvCxnSpPr/>
          <p:nvPr/>
        </p:nvCxnSpPr>
        <p:spPr>
          <a:xfrm flipV="1">
            <a:off x="3813875" y="1236821"/>
            <a:ext cx="4651250" cy="3903218"/>
          </a:xfrm>
          <a:prstGeom prst="line">
            <a:avLst/>
          </a:prstGeom>
          <a:ln w="38100">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0242CEC2-E7E7-1B37-C133-2AE86AB28B19}"/>
              </a:ext>
            </a:extLst>
          </p:cNvPr>
          <p:cNvCxnSpPr/>
          <p:nvPr/>
        </p:nvCxnSpPr>
        <p:spPr>
          <a:xfrm>
            <a:off x="3462728" y="1184222"/>
            <a:ext cx="0" cy="4320000"/>
          </a:xfrm>
          <a:prstGeom prst="line">
            <a:avLst/>
          </a:prstGeom>
          <a:ln w="50800">
            <a:solidFill>
              <a:schemeClr val="tx1"/>
            </a:solidFill>
            <a:headEnd type="triangle"/>
            <a:tailEnd type="none"/>
          </a:ln>
        </p:spPr>
        <p:style>
          <a:lnRef idx="3">
            <a:schemeClr val="accent3"/>
          </a:lnRef>
          <a:fillRef idx="0">
            <a:schemeClr val="accent3"/>
          </a:fillRef>
          <a:effectRef idx="2">
            <a:schemeClr val="accent3"/>
          </a:effectRef>
          <a:fontRef idx="minor">
            <a:schemeClr val="tx1"/>
          </a:fontRef>
        </p:style>
      </p:cxnSp>
      <p:cxnSp>
        <p:nvCxnSpPr>
          <p:cNvPr id="6" name="Straight Connector 5">
            <a:extLst>
              <a:ext uri="{FF2B5EF4-FFF2-40B4-BE49-F238E27FC236}">
                <a16:creationId xmlns:a16="http://schemas.microsoft.com/office/drawing/2014/main" id="{970433C3-1CAE-6B0F-5464-12414C0988C1}"/>
              </a:ext>
            </a:extLst>
          </p:cNvPr>
          <p:cNvCxnSpPr>
            <a:cxnSpLocks/>
          </p:cNvCxnSpPr>
          <p:nvPr/>
        </p:nvCxnSpPr>
        <p:spPr>
          <a:xfrm rot="5400000">
            <a:off x="6150202" y="2776798"/>
            <a:ext cx="0" cy="5400000"/>
          </a:xfrm>
          <a:prstGeom prst="line">
            <a:avLst/>
          </a:prstGeom>
          <a:ln w="50800">
            <a:solidFill>
              <a:schemeClr val="tx1"/>
            </a:solidFill>
            <a:headEnd type="triangle"/>
          </a:ln>
        </p:spPr>
        <p:style>
          <a:lnRef idx="3">
            <a:schemeClr val="accent3"/>
          </a:lnRef>
          <a:fillRef idx="0">
            <a:schemeClr val="accent3"/>
          </a:fillRef>
          <a:effectRef idx="2">
            <a:schemeClr val="accent3"/>
          </a:effectRef>
          <a:fontRef idx="minor">
            <a:schemeClr val="tx1"/>
          </a:fontRef>
        </p:style>
      </p:cxnSp>
      <p:sp>
        <p:nvSpPr>
          <p:cNvPr id="9" name="Oval 8">
            <a:extLst>
              <a:ext uri="{FF2B5EF4-FFF2-40B4-BE49-F238E27FC236}">
                <a16:creationId xmlns:a16="http://schemas.microsoft.com/office/drawing/2014/main" id="{0AD62C31-5FC3-A745-CF36-073708D3BDA7}"/>
              </a:ext>
            </a:extLst>
          </p:cNvPr>
          <p:cNvSpPr/>
          <p:nvPr/>
        </p:nvSpPr>
        <p:spPr>
          <a:xfrm>
            <a:off x="6719362" y="1637127"/>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10" name="Oval 9">
            <a:extLst>
              <a:ext uri="{FF2B5EF4-FFF2-40B4-BE49-F238E27FC236}">
                <a16:creationId xmlns:a16="http://schemas.microsoft.com/office/drawing/2014/main" id="{B2373AC6-205A-339B-1D35-CF71857D2C8E}"/>
              </a:ext>
            </a:extLst>
          </p:cNvPr>
          <p:cNvSpPr/>
          <p:nvPr/>
        </p:nvSpPr>
        <p:spPr>
          <a:xfrm>
            <a:off x="6096000" y="3108278"/>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11" name="Oval 10">
            <a:extLst>
              <a:ext uri="{FF2B5EF4-FFF2-40B4-BE49-F238E27FC236}">
                <a16:creationId xmlns:a16="http://schemas.microsoft.com/office/drawing/2014/main" id="{81B4C507-B1BF-7950-8161-6600C383FC9C}"/>
              </a:ext>
            </a:extLst>
          </p:cNvPr>
          <p:cNvSpPr/>
          <p:nvPr/>
        </p:nvSpPr>
        <p:spPr>
          <a:xfrm>
            <a:off x="5189289" y="3329958"/>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12" name="Oval 11">
            <a:extLst>
              <a:ext uri="{FF2B5EF4-FFF2-40B4-BE49-F238E27FC236}">
                <a16:creationId xmlns:a16="http://schemas.microsoft.com/office/drawing/2014/main" id="{86B799B7-F271-835A-1C6F-BC029349707D}"/>
              </a:ext>
            </a:extLst>
          </p:cNvPr>
          <p:cNvSpPr/>
          <p:nvPr/>
        </p:nvSpPr>
        <p:spPr>
          <a:xfrm>
            <a:off x="5007821" y="4447316"/>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13" name="Oval 12">
            <a:extLst>
              <a:ext uri="{FF2B5EF4-FFF2-40B4-BE49-F238E27FC236}">
                <a16:creationId xmlns:a16="http://schemas.microsoft.com/office/drawing/2014/main" id="{59C1E3A9-9F7E-525C-A367-8D27AF1B8347}"/>
              </a:ext>
            </a:extLst>
          </p:cNvPr>
          <p:cNvSpPr/>
          <p:nvPr/>
        </p:nvSpPr>
        <p:spPr>
          <a:xfrm>
            <a:off x="4101110" y="4447316"/>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14" name="Oval 13">
            <a:extLst>
              <a:ext uri="{FF2B5EF4-FFF2-40B4-BE49-F238E27FC236}">
                <a16:creationId xmlns:a16="http://schemas.microsoft.com/office/drawing/2014/main" id="{79501382-D516-E2FA-4B2B-BF22AE36CD10}"/>
              </a:ext>
            </a:extLst>
          </p:cNvPr>
          <p:cNvSpPr/>
          <p:nvPr/>
        </p:nvSpPr>
        <p:spPr>
          <a:xfrm>
            <a:off x="6871854" y="2541731"/>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15" name="Oval 14">
            <a:extLst>
              <a:ext uri="{FF2B5EF4-FFF2-40B4-BE49-F238E27FC236}">
                <a16:creationId xmlns:a16="http://schemas.microsoft.com/office/drawing/2014/main" id="{2A1E4F80-68DA-ED17-6B71-532DCEA6AF33}"/>
              </a:ext>
            </a:extLst>
          </p:cNvPr>
          <p:cNvSpPr/>
          <p:nvPr/>
        </p:nvSpPr>
        <p:spPr>
          <a:xfrm>
            <a:off x="6043297" y="2393255"/>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16" name="Oval 15">
            <a:extLst>
              <a:ext uri="{FF2B5EF4-FFF2-40B4-BE49-F238E27FC236}">
                <a16:creationId xmlns:a16="http://schemas.microsoft.com/office/drawing/2014/main" id="{69A81F79-C366-22A4-5085-B92721DE66FA}"/>
              </a:ext>
            </a:extLst>
          </p:cNvPr>
          <p:cNvSpPr/>
          <p:nvPr/>
        </p:nvSpPr>
        <p:spPr>
          <a:xfrm>
            <a:off x="5981473" y="3908477"/>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17" name="Oval 16">
            <a:extLst>
              <a:ext uri="{FF2B5EF4-FFF2-40B4-BE49-F238E27FC236}">
                <a16:creationId xmlns:a16="http://schemas.microsoft.com/office/drawing/2014/main" id="{BA90529B-2D90-8CA9-AB57-F0692969FCB3}"/>
              </a:ext>
            </a:extLst>
          </p:cNvPr>
          <p:cNvSpPr/>
          <p:nvPr/>
        </p:nvSpPr>
        <p:spPr>
          <a:xfrm>
            <a:off x="7833891" y="1516980"/>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18" name="Oval 17">
            <a:extLst>
              <a:ext uri="{FF2B5EF4-FFF2-40B4-BE49-F238E27FC236}">
                <a16:creationId xmlns:a16="http://schemas.microsoft.com/office/drawing/2014/main" id="{94E750A8-70B9-64F4-3E32-E0690EAB954B}"/>
              </a:ext>
            </a:extLst>
          </p:cNvPr>
          <p:cNvSpPr/>
          <p:nvPr/>
        </p:nvSpPr>
        <p:spPr>
          <a:xfrm>
            <a:off x="7707891" y="2142561"/>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19" name="Oval 18">
            <a:extLst>
              <a:ext uri="{FF2B5EF4-FFF2-40B4-BE49-F238E27FC236}">
                <a16:creationId xmlns:a16="http://schemas.microsoft.com/office/drawing/2014/main" id="{831C1741-5A1E-B4B8-730F-A3425F4445F1}"/>
              </a:ext>
            </a:extLst>
          </p:cNvPr>
          <p:cNvSpPr/>
          <p:nvPr/>
        </p:nvSpPr>
        <p:spPr>
          <a:xfrm>
            <a:off x="8210487" y="1744039"/>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20" name="Oval 19">
            <a:extLst>
              <a:ext uri="{FF2B5EF4-FFF2-40B4-BE49-F238E27FC236}">
                <a16:creationId xmlns:a16="http://schemas.microsoft.com/office/drawing/2014/main" id="{5750C263-D714-1115-7F5A-57ACBAF91385}"/>
              </a:ext>
            </a:extLst>
          </p:cNvPr>
          <p:cNvSpPr/>
          <p:nvPr/>
        </p:nvSpPr>
        <p:spPr>
          <a:xfrm>
            <a:off x="3686568" y="3747569"/>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21" name="Oval 20">
            <a:extLst>
              <a:ext uri="{FF2B5EF4-FFF2-40B4-BE49-F238E27FC236}">
                <a16:creationId xmlns:a16="http://schemas.microsoft.com/office/drawing/2014/main" id="{ECE79CFE-541F-C67E-AFBB-712E5DD086C9}"/>
              </a:ext>
            </a:extLst>
          </p:cNvPr>
          <p:cNvSpPr/>
          <p:nvPr/>
        </p:nvSpPr>
        <p:spPr>
          <a:xfrm>
            <a:off x="4660220" y="3430410"/>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22" name="Oval 21">
            <a:extLst>
              <a:ext uri="{FF2B5EF4-FFF2-40B4-BE49-F238E27FC236}">
                <a16:creationId xmlns:a16="http://schemas.microsoft.com/office/drawing/2014/main" id="{832DEE12-9F58-9840-C6A6-FAFC2D4556A8}"/>
              </a:ext>
            </a:extLst>
          </p:cNvPr>
          <p:cNvSpPr/>
          <p:nvPr/>
        </p:nvSpPr>
        <p:spPr>
          <a:xfrm>
            <a:off x="7126472" y="3146392"/>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23" name="Oval 22">
            <a:extLst>
              <a:ext uri="{FF2B5EF4-FFF2-40B4-BE49-F238E27FC236}">
                <a16:creationId xmlns:a16="http://schemas.microsoft.com/office/drawing/2014/main" id="{805AC342-4D77-97F5-127A-7889C9739CEF}"/>
              </a:ext>
            </a:extLst>
          </p:cNvPr>
          <p:cNvSpPr/>
          <p:nvPr/>
        </p:nvSpPr>
        <p:spPr>
          <a:xfrm>
            <a:off x="5334226" y="2667731"/>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
        <p:nvSpPr>
          <p:cNvPr id="24" name="Oval 23">
            <a:extLst>
              <a:ext uri="{FF2B5EF4-FFF2-40B4-BE49-F238E27FC236}">
                <a16:creationId xmlns:a16="http://schemas.microsoft.com/office/drawing/2014/main" id="{D4086BA1-56C7-CA76-F52B-25849BA73A8E}"/>
              </a:ext>
            </a:extLst>
          </p:cNvPr>
          <p:cNvSpPr/>
          <p:nvPr/>
        </p:nvSpPr>
        <p:spPr>
          <a:xfrm>
            <a:off x="7367887" y="1599163"/>
            <a:ext cx="252000" cy="252000"/>
          </a:xfrm>
          <a:prstGeom prst="ellipse">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cxnSp>
        <p:nvCxnSpPr>
          <p:cNvPr id="32" name="Straight Connector 31">
            <a:extLst>
              <a:ext uri="{FF2B5EF4-FFF2-40B4-BE49-F238E27FC236}">
                <a16:creationId xmlns:a16="http://schemas.microsoft.com/office/drawing/2014/main" id="{EC7CD7EC-26D2-5287-E6FF-D89CA6BD7493}"/>
              </a:ext>
            </a:extLst>
          </p:cNvPr>
          <p:cNvCxnSpPr/>
          <p:nvPr/>
        </p:nvCxnSpPr>
        <p:spPr>
          <a:xfrm>
            <a:off x="3460918" y="2917966"/>
            <a:ext cx="0" cy="540000"/>
          </a:xfrm>
          <a:prstGeom prst="line">
            <a:avLst/>
          </a:prstGeom>
          <a:ln w="63500">
            <a:solidFill>
              <a:schemeClr val="bg1"/>
            </a:solidFill>
            <a:headEnd type="none"/>
            <a:tailEnd type="none"/>
          </a:ln>
        </p:spPr>
        <p:style>
          <a:lnRef idx="3">
            <a:schemeClr val="accent3"/>
          </a:lnRef>
          <a:fillRef idx="0">
            <a:schemeClr val="accent3"/>
          </a:fillRef>
          <a:effectRef idx="2">
            <a:schemeClr val="accent3"/>
          </a:effectRef>
          <a:fontRef idx="minor">
            <a:schemeClr val="tx1"/>
          </a:fontRef>
        </p:style>
      </p:cxnSp>
      <p:pic>
        <p:nvPicPr>
          <p:cNvPr id="8" name="Graphic 7" descr="Fork In Road with solid fill">
            <a:extLst>
              <a:ext uri="{FF2B5EF4-FFF2-40B4-BE49-F238E27FC236}">
                <a16:creationId xmlns:a16="http://schemas.microsoft.com/office/drawing/2014/main" id="{A7B404CE-5A08-82E1-32E8-57A491D71E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159164" y="2813318"/>
            <a:ext cx="612000" cy="612000"/>
          </a:xfrm>
          <a:prstGeom prst="rect">
            <a:avLst/>
          </a:prstGeom>
        </p:spPr>
      </p:pic>
      <p:cxnSp>
        <p:nvCxnSpPr>
          <p:cNvPr id="33" name="Straight Connector 32">
            <a:extLst>
              <a:ext uri="{FF2B5EF4-FFF2-40B4-BE49-F238E27FC236}">
                <a16:creationId xmlns:a16="http://schemas.microsoft.com/office/drawing/2014/main" id="{34C47BE5-9332-4D7D-DCA9-4E754FDA0AD8}"/>
              </a:ext>
            </a:extLst>
          </p:cNvPr>
          <p:cNvCxnSpPr>
            <a:cxnSpLocks/>
          </p:cNvCxnSpPr>
          <p:nvPr/>
        </p:nvCxnSpPr>
        <p:spPr>
          <a:xfrm rot="5400000">
            <a:off x="6134050" y="5114913"/>
            <a:ext cx="0" cy="720000"/>
          </a:xfrm>
          <a:prstGeom prst="line">
            <a:avLst/>
          </a:prstGeom>
          <a:ln w="63500">
            <a:solidFill>
              <a:schemeClr val="bg1"/>
            </a:solidFill>
            <a:headEnd type="none"/>
            <a:tailEnd type="none"/>
          </a:ln>
        </p:spPr>
        <p:style>
          <a:lnRef idx="3">
            <a:schemeClr val="accent3"/>
          </a:lnRef>
          <a:fillRef idx="0">
            <a:schemeClr val="accent3"/>
          </a:fillRef>
          <a:effectRef idx="2">
            <a:schemeClr val="accent3"/>
          </a:effectRef>
          <a:fontRef idx="minor">
            <a:schemeClr val="tx1"/>
          </a:fontRef>
        </p:style>
      </p:cxnSp>
      <p:pic>
        <p:nvPicPr>
          <p:cNvPr id="7" name="Graphic 6" descr="Users with solid fill">
            <a:extLst>
              <a:ext uri="{FF2B5EF4-FFF2-40B4-BE49-F238E27FC236}">
                <a16:creationId xmlns:a16="http://schemas.microsoft.com/office/drawing/2014/main" id="{99114EA9-2F00-A980-1841-00B21E3E5CE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97500" y="5102481"/>
            <a:ext cx="684000" cy="684000"/>
          </a:xfrm>
          <a:prstGeom prst="rect">
            <a:avLst/>
          </a:prstGeom>
        </p:spPr>
      </p:pic>
    </p:spTree>
    <p:extLst>
      <p:ext uri="{BB962C8B-B14F-4D97-AF65-F5344CB8AC3E}">
        <p14:creationId xmlns:p14="http://schemas.microsoft.com/office/powerpoint/2010/main" val="2153782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9171</TotalTime>
  <Words>986</Words>
  <Application>Microsoft Macintosh PowerPoint</Application>
  <PresentationFormat>Widescreen</PresentationFormat>
  <Paragraphs>156</Paragraphs>
  <Slides>53</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53</vt:i4>
      </vt:variant>
    </vt:vector>
  </HeadingPairs>
  <TitlesOfParts>
    <vt:vector size="58" baseType="lpstr">
      <vt:lpstr>Aptos</vt:lpstr>
      <vt:lpstr>Aptos Display</vt:lpstr>
      <vt:lpstr>Arial</vt:lpstr>
      <vt:lpstr>Bookman Old Style</vt:lpstr>
      <vt:lpstr>Office Theme</vt:lpstr>
      <vt:lpstr>PowerPoint Presentation</vt:lpstr>
      <vt:lpstr>PowerPoint Presentation</vt:lpstr>
      <vt:lpstr>PowerPoint Presentation</vt:lpstr>
      <vt:lpstr>PowerPoint Presentation</vt:lpstr>
      <vt:lpstr>PowerPoint Presentation</vt:lpstr>
      <vt:lpstr>Split responses among philosophers</vt:lpstr>
      <vt:lpstr>Split responses among non-philosophers</vt:lpstr>
      <vt:lpstr>PowerPoint Presentation</vt:lpstr>
      <vt:lpstr>Split responses among non-philosophers</vt:lpstr>
      <vt:lpstr>Why?</vt:lpstr>
      <vt:lpstr>Why?</vt:lpstr>
      <vt:lpstr>The ‘both’ question</vt:lpstr>
      <vt:lpstr>The ‘both’ question</vt:lpstr>
      <vt:lpstr>How prevalent are conflicting intuitions?</vt:lpstr>
      <vt:lpstr>How prevalent are conflicting intuitions?</vt:lpstr>
      <vt:lpstr>Per-issue analyses</vt:lpstr>
      <vt:lpstr>Per-issue analyses</vt:lpstr>
      <vt:lpstr>PowerPoint Presentation</vt:lpstr>
      <vt:lpstr>PowerPoint Presentation</vt:lpstr>
      <vt:lpstr>PowerPoint Presentation</vt:lpstr>
      <vt:lpstr>PowerPoint Presentation</vt:lpstr>
      <vt:lpstr>PowerPoint Presentation</vt:lpstr>
      <vt:lpstr>PowerPoint Presentation</vt:lpstr>
      <vt:lpstr>Intuitions of Philosophers</vt:lpstr>
      <vt:lpstr>Intuitions of Philosophers</vt:lpstr>
      <vt:lpstr>Intuitions of Philosophers</vt:lpstr>
      <vt:lpstr>Why?</vt:lpstr>
      <vt:lpstr>PowerPoint Presentation</vt:lpstr>
      <vt:lpstr>Beyond self-report</vt:lpstr>
      <vt:lpstr>Curvature as conflict</vt:lpstr>
      <vt:lpstr>Curvature as conflict</vt:lpstr>
      <vt:lpstr>PowerPoint Presentation</vt:lpstr>
      <vt:lpstr>PowerPoint Presentation</vt:lpstr>
      <vt:lpstr>Time-resolved analyses</vt:lpstr>
      <vt:lpstr>PowerPoint Presentation</vt:lpstr>
      <vt:lpstr>PowerPoint Presentation</vt:lpstr>
      <vt:lpstr>PowerPoint Presentation</vt:lpstr>
      <vt:lpstr>PowerPoint Presentation</vt:lpstr>
      <vt:lpstr>PowerPoint Presentation</vt:lpstr>
      <vt:lpstr>Core results</vt:lpstr>
      <vt:lpstr>Extreme negative 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Trial-Level Analyses</vt:lpstr>
      <vt:lpstr>Trial-Level Analyses</vt:lpstr>
      <vt:lpstr>Trial-Level Analyses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IVAR ALLAN RODRIGUEZ HANNIKAINEN</dc:creator>
  <cp:lastModifiedBy>IVAR ALLAN RODRIGUEZ HANNIKAINEN</cp:lastModifiedBy>
  <cp:revision>19</cp:revision>
  <dcterms:created xsi:type="dcterms:W3CDTF">2026-09-02T16:52:21Z</dcterms:created>
  <dcterms:modified xsi:type="dcterms:W3CDTF">2026-09-09T08:32:26Z</dcterms:modified>
</cp:coreProperties>
</file>